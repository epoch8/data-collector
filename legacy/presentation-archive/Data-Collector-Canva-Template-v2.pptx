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41C32"/>
            </a:gs>
          </a:gsLst>
          <a:lin scaled="0" ang="12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685800"/>
            <a:ext cx="6583680" cy="54864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960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4A84B"/>
                </a:solidFill>
              </a:defRPr>
            </a:pPr>
            <a:r>
              <a:t>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E8EAED"/>
                </a:solidFill>
              </a:defRPr>
            </a:pPr>
            <a:r>
              <a:t>Data Collector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514600"/>
            <a:ext cx="219456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9CA3AF"/>
                </a:solidFill>
              </a:defRPr>
            </a:pPr>
            <a:r>
              <a:t>Платформа сбора полевых данных</a:t>
            </a:r>
          </a:p>
          <a:p>
            <a:pPr>
              <a:spcAft>
                <a:spcPts val="1000"/>
              </a:spcAft>
              <a:defRPr sz="1700" b="0">
                <a:solidFill>
                  <a:srgbClr val="9CA3AF"/>
                </a:solidFill>
              </a:defRPr>
            </a:pPr>
            <a:r>
              <a:t>Один бэкенд · мобильное приложение</a:t>
            </a:r>
          </a:p>
          <a:p>
            <a:pPr>
              <a:spcAft>
                <a:spcPts val="1000"/>
              </a:spcAft>
              <a:defRPr sz="1700" b="0">
                <a:solidFill>
                  <a:srgbClr val="9CA3AF"/>
                </a:solidFill>
              </a:defRPr>
            </a:pPr>
            <a:r>
              <a:t>Конфигурируемые сценарии без релиза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434840"/>
            <a:ext cx="1572768" cy="310896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8EAED"/>
                </a:solidFill>
              </a:defRPr>
            </a:pPr>
            <a:r>
              <a:t>Config-driven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4434840"/>
            <a:ext cx="1572768" cy="310896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8EAED"/>
                </a:solidFill>
              </a:defRPr>
            </a:pPr>
            <a:r>
              <a:t>Offline-first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7096" y="4434840"/>
            <a:ext cx="1325880" cy="310896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8EAED"/>
                </a:solidFill>
              </a:defRPr>
            </a:pPr>
            <a:r>
              <a:t>Git-backed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685800"/>
            <a:ext cx="4251960" cy="54864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16368" y="795528"/>
            <a:ext cx="4032504" cy="526694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hero — админка + телефон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480" y="777240"/>
            <a:ext cx="868680" cy="23774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Зачем это нужно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От хаоса в поле — к структурированным данным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56232"/>
            <a:ext cx="54864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78308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Проблема: каждый сценарий сбора = новая форма в коде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54864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441448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Проблема: фото и метаданные теряются в мессенджерах и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72968"/>
            <a:ext cx="54864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099816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Проблема: нет единого места «что собрали» и «что дальше»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41064"/>
            <a:ext cx="54864" cy="60350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2"/>
            <a:ext cx="5852160" cy="749808"/>
          </a:xfrm>
          <a:prstGeom prst="roundRect">
            <a:avLst/>
          </a:prstGeom>
          <a:solidFill>
            <a:srgbClr val="142822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DCC85"/>
                </a:solidFill>
              </a:defRPr>
            </a:pPr>
            <a:r>
              <a:t>Решение: JSON-конфиг → UI в приложении → пакет на сервер → просмотр в админке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960120"/>
            <a:ext cx="470916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1069848"/>
            <a:ext cx="4489704" cy="512978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до/после — хаос vs список пакетов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52760" y="1051560"/>
            <a:ext cx="868680" cy="23774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Из чего состоит 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Одна платформа — N проектов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783080"/>
            <a:ext cx="6035040" cy="105156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984248"/>
            <a:ext cx="502920" cy="50292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8928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4A84B"/>
                </a:solidFill>
              </a:defRPr>
            </a:pPr>
            <a:r>
              <a:t>Staff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1671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Epoch8 / админ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84248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Проекты, конфиги, пользователи, пакеты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944368"/>
            <a:ext cx="6035040" cy="105156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145536"/>
            <a:ext cx="502920" cy="50292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5409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DCC85"/>
                </a:solidFill>
              </a:defRPr>
            </a:pPr>
            <a:r>
              <a:t>Client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284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Заказчик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145536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Просмотр пакетов, визуализации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05656"/>
            <a:ext cx="6035040" cy="105156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306824"/>
            <a:ext cx="502920" cy="50292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1538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B7ED0"/>
                </a:solidFill>
              </a:defRPr>
            </a:pPr>
            <a:r>
              <a:t>Мобильное приложение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Сборщик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306824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Сбор по сценарию, офлайн, загрузка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266944"/>
            <a:ext cx="6035040" cy="105156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468112"/>
            <a:ext cx="502920" cy="50292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766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B8DEF"/>
                </a:solidFill>
              </a:defRPr>
            </a:pPr>
            <a:r>
              <a:t>API + хранилище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650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Платформа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468112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Синк конфигов, приём пакетов, медиа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960120"/>
            <a:ext cx="470916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13448" y="1069848"/>
            <a:ext cx="4489704" cy="512978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схема 11-stack (упрощённая)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52760" y="1051560"/>
            <a:ext cx="868680" cy="23774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89320"/>
            <a:ext cx="6035040" cy="384048"/>
          </a:xfrm>
          <a:prstGeom prst="roundRect">
            <a:avLst/>
          </a:prstGeom>
          <a:solidFill>
            <a:srgbClr val="142822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DCC85"/>
                </a:solidFill>
              </a:defRPr>
            </a:pPr>
            <a:r>
              <a:t>💡  Ключевая идея: новый проект = новый config.json в Git, не новое приложение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04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Путь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От настройки до просмотра за 5 шагов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2145182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800" b="1">
                <a:solidFill>
                  <a:srgbClr val="D4A84B"/>
                </a:solidFill>
              </a:defRPr>
            </a:pPr>
            <a:r>
              <a:t>①</a:t>
            </a:r>
          </a:p>
          <a:p>
            <a:pPr algn="ctr">
              <a:spcBef>
                <a:spcPts val="400"/>
              </a:spcBef>
              <a:defRPr sz="900">
                <a:solidFill>
                  <a:srgbClr val="9CA3AF"/>
                </a:solidFill>
              </a:defRPr>
            </a:pPr>
            <a:r>
              <a:t>Админ</a:t>
            </a:r>
            <a:br/>
            <a:r>
              <a:t>публикует конфиг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57830.4" y="2446020.0"/>
            <a:ext cx="36576.0" cy="0.0"/>
          </a:xfrm>
          <a:prstGeom prst="line">
            <a:avLst/>
          </a:prstGeom>
          <a:ln w="19050">
            <a:solidFill>
              <a:srgbClr val="3A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12694" y="1828800"/>
            <a:ext cx="2145182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800" b="1">
                <a:solidFill>
                  <a:srgbClr val="5B8DEF"/>
                </a:solidFill>
              </a:defRPr>
            </a:pPr>
            <a:r>
              <a:t>②</a:t>
            </a:r>
          </a:p>
          <a:p>
            <a:pPr algn="ctr">
              <a:spcBef>
                <a:spcPts val="400"/>
              </a:spcBef>
              <a:defRPr sz="900">
                <a:solidFill>
                  <a:srgbClr val="9CA3AF"/>
                </a:solidFill>
              </a:defRPr>
            </a:pPr>
            <a:r>
              <a:t>МП</a:t>
            </a:r>
            <a:br/>
            <a:r>
              <a:t>синхронизирует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76164.8" y="2446020.0"/>
            <a:ext cx="36576.0" cy="0.0"/>
          </a:xfrm>
          <a:prstGeom prst="line">
            <a:avLst/>
          </a:prstGeom>
          <a:ln w="19050">
            <a:solidFill>
              <a:srgbClr val="3A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31028" y="1828800"/>
            <a:ext cx="2145182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800" b="1">
                <a:solidFill>
                  <a:srgbClr val="9B7ED0"/>
                </a:solidFill>
              </a:defRPr>
            </a:pPr>
            <a:r>
              <a:t>③</a:t>
            </a:r>
          </a:p>
          <a:p>
            <a:pPr algn="ctr">
              <a:spcBef>
                <a:spcPts val="400"/>
              </a:spcBef>
              <a:defRPr sz="900">
                <a:solidFill>
                  <a:srgbClr val="9CA3AF"/>
                </a:solidFill>
              </a:defRPr>
            </a:pPr>
            <a:r>
              <a:t>Сборщик</a:t>
            </a:r>
            <a:br/>
            <a:r>
              <a:t>формирует пакет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4499.199999999" y="2446020.0"/>
            <a:ext cx="36576.0" cy="0.0"/>
          </a:xfrm>
          <a:prstGeom prst="line">
            <a:avLst/>
          </a:prstGeom>
          <a:ln w="19050">
            <a:solidFill>
              <a:srgbClr val="3A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49363" y="1828800"/>
            <a:ext cx="2145182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800" b="1">
                <a:solidFill>
                  <a:srgbClr val="3DCC85"/>
                </a:solidFill>
              </a:defRPr>
            </a:pPr>
            <a:r>
              <a:t>④</a:t>
            </a:r>
          </a:p>
          <a:p>
            <a:pPr algn="ctr">
              <a:spcBef>
                <a:spcPts val="400"/>
              </a:spcBef>
              <a:defRPr sz="900">
                <a:solidFill>
                  <a:srgbClr val="9CA3AF"/>
                </a:solidFill>
              </a:defRPr>
            </a:pPr>
            <a:r>
              <a:t>Пакет</a:t>
            </a:r>
            <a:br/>
            <a:r>
              <a:t>на сервер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2833.6" y="2446020.0"/>
            <a:ext cx="36576.0" cy="0.0"/>
          </a:xfrm>
          <a:prstGeom prst="line">
            <a:avLst/>
          </a:prstGeom>
          <a:ln w="19050">
            <a:solidFill>
              <a:srgbClr val="3A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67697" y="1828800"/>
            <a:ext cx="2145182" cy="123444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800" b="1">
                <a:solidFill>
                  <a:srgbClr val="5B8DEF"/>
                </a:solidFill>
              </a:defRPr>
            </a:pPr>
            <a:r>
              <a:t>⑤</a:t>
            </a:r>
          </a:p>
          <a:p>
            <a:pPr algn="ctr">
              <a:spcBef>
                <a:spcPts val="400"/>
              </a:spcBef>
              <a:defRPr sz="900">
                <a:solidFill>
                  <a:srgbClr val="9CA3AF"/>
                </a:solidFill>
              </a:defRPr>
            </a:pPr>
            <a:r>
              <a:t>Данные</a:t>
            </a:r>
            <a:br/>
            <a:r>
              <a:t>в админке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37560"/>
            <a:ext cx="11018520" cy="2971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3447288"/>
            <a:ext cx="10799064" cy="275234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схема 02-client-server (6 шагов)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52760" y="3429000"/>
            <a:ext cx="868680" cy="23774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05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= сценарий без кода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JSON описывает и сбор, и просмотр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2672334" cy="8686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B8DEF"/>
                </a:solidFill>
              </a:defRPr>
            </a:pPr>
            <a:r>
              <a:t>fields</a:t>
            </a:r>
          </a:p>
          <a:p>
            <a:pPr algn="ctr">
              <a:defRPr sz="900">
                <a:solidFill>
                  <a:srgbClr val="9CA3AF"/>
                </a:solidFill>
              </a:defRPr>
            </a:pPr>
            <a:r>
              <a:t>Поля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6422" y="1828800"/>
            <a:ext cx="2672334" cy="8686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B7ED0"/>
                </a:solidFill>
              </a:defRPr>
            </a:pPr>
            <a:r>
              <a:t>flow</a:t>
            </a:r>
          </a:p>
          <a:p>
            <a:pPr algn="ctr">
              <a:defRPr sz="900">
                <a:solidFill>
                  <a:srgbClr val="9CA3AF"/>
                </a:solidFill>
              </a:defRPr>
            </a:pPr>
            <a:r>
              <a:t>Экраны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8484" y="1828800"/>
            <a:ext cx="2672334" cy="8686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84B"/>
                </a:solidFill>
              </a:defRPr>
            </a:pPr>
            <a:r>
              <a:t>ui</a:t>
            </a:r>
          </a:p>
          <a:p>
            <a:pPr algn="ctr">
              <a:defRPr sz="900">
                <a:solidFill>
                  <a:srgbClr val="9CA3AF"/>
                </a:solidFill>
              </a:defRPr>
            </a:pPr>
            <a:r>
              <a:t>Тексты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0546" y="1828800"/>
            <a:ext cx="2672334" cy="8686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DCC85"/>
                </a:solidFill>
              </a:defRPr>
            </a:pPr>
            <a:r>
              <a:t>viz.json</a:t>
            </a:r>
          </a:p>
          <a:p>
            <a:pPr algn="ctr">
              <a:defRPr sz="900">
                <a:solidFill>
                  <a:srgbClr val="9CA3AF"/>
                </a:solidFill>
              </a:defRPr>
            </a:pPr>
            <a:r>
              <a:t>Визуализация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7180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8EAED"/>
                </a:solidFill>
              </a:defRPr>
            </a:pPr>
            <a:r>
              <a:t>Пример сценария Korovas:</a:t>
            </a:r>
          </a:p>
          <a:p>
            <a:pPr>
              <a:spcAft>
                <a:spcPts val="800"/>
              </a:spcAft>
              <a:defRPr sz="1400" b="0">
                <a:solidFill>
                  <a:srgbClr val="E8EAED"/>
                </a:solidFill>
              </a:defRPr>
            </a:pPr>
            <a:r>
              <a:t>→ форма с номером коровы</a:t>
            </a:r>
          </a:p>
          <a:p>
            <a:pPr>
              <a:spcAft>
                <a:spcPts val="800"/>
              </a:spcAft>
              <a:defRPr sz="1400" b="0">
                <a:solidFill>
                  <a:srgbClr val="E8EAED"/>
                </a:solidFill>
              </a:defRPr>
            </a:pPr>
            <a:r>
              <a:t>→ инструкция с примерами</a:t>
            </a:r>
          </a:p>
          <a:p>
            <a:pPr>
              <a:spcAft>
                <a:spcPts val="800"/>
              </a:spcAft>
              <a:defRPr sz="1400" b="0">
                <a:solidFill>
                  <a:srgbClr val="E8EAED"/>
                </a:solidFill>
              </a:defRPr>
            </a:pPr>
            <a:r>
              <a:t>→ 3 ракурса камеры</a:t>
            </a:r>
          </a:p>
          <a:p>
            <a:pPr>
              <a:spcAft>
                <a:spcPts val="800"/>
              </a:spcAft>
              <a:defRPr sz="1400" b="0">
                <a:solidFill>
                  <a:srgbClr val="E8EAED"/>
                </a:solidFill>
              </a:defRPr>
            </a:pPr>
            <a:r>
              <a:t>→ проверка и отправка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828800"/>
            <a:ext cx="5074920" cy="448056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47688" y="1938528"/>
            <a:ext cx="4855464" cy="426110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схема 01-abstract-config + JSON-редактор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52760" y="1920240"/>
            <a:ext cx="868680" cy="23774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06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84B"/>
                </a:solidFill>
              </a:defRPr>
            </a:pPr>
            <a:r>
              <a:t>STEP 01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7472"/>
            <a:ext cx="502920" cy="50292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96012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Админ настраивает проект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67335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93392"/>
            <a:ext cx="54864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9202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Создаёт проект, привязывает Git (collector/config.json)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51760"/>
            <a:ext cx="54864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578608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Редактирует JSON: поля, flow, медиа-примеры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10128"/>
            <a:ext cx="54864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236976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Назначает сборщиков (Firebase) на проект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68496"/>
            <a:ext cx="54864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95344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Сохраняет → commit + push → конфиг опубликован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36592"/>
            <a:ext cx="54864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Staff Admin → /ui/projects/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960120"/>
            <a:ext cx="470916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13448" y="1069848"/>
            <a:ext cx="4489704" cy="512978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список проектов · JSON-редактор · пользователи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52760" y="1051560"/>
            <a:ext cx="868680" cy="237744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07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STEP 02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7472"/>
            <a:ext cx="502920" cy="50292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96012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попадает в приложение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67335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93392"/>
            <a:ext cx="54864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9202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Сборщик логинится (Firebase)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51760"/>
            <a:ext cx="54864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578608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Приложение запрашивает каталог проектов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10128"/>
            <a:ext cx="54864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236976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Скачивает полный JSON для каждого проекта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68496"/>
            <a:ext cx="54864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95344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Кэширует локально → работает офлайн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36592"/>
            <a:ext cx="54864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Разные конфиги = разные UI в одном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960120"/>
            <a:ext cx="470916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13448" y="1069848"/>
            <a:ext cx="4489704" cy="512978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список проектов МП · форма · камера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52760" y="1051560"/>
            <a:ext cx="868680" cy="237744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08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B7ED0"/>
                </a:solidFill>
              </a:defRPr>
            </a:pPr>
            <a:r>
              <a:t>STEP 03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7472"/>
            <a:ext cx="502920" cy="502920"/>
          </a:xfrm>
          <a:prstGeom prst="ellipse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96012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Сборщик сдаёт пакет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67335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93392"/>
            <a:ext cx="54864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9202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Пакет = поля + фото + JSON-манифест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51760"/>
            <a:ext cx="54864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578608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Автосохранение черновика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10128"/>
            <a:ext cx="54864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236976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Сбор без интернета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68496"/>
            <a:ext cx="54864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95344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Надёжная догрузка при появлении сети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36592"/>
            <a:ext cx="54864" cy="42062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Один пакет = одна сессия сбора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960120"/>
            <a:ext cx="470916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13448" y="1069848"/>
            <a:ext cx="4489704" cy="512978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форма · инструкция · review · загрузка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52760" y="1051560"/>
            <a:ext cx="868680" cy="237744"/>
          </a:xfrm>
          <a:prstGeom prst="round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09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STEP 04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7472"/>
            <a:ext cx="502920" cy="502920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218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96012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Данные в админке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67335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93392"/>
            <a:ext cx="54864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9202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Данные — поля, редактирование с историей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51760"/>
            <a:ext cx="54864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578608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Медиа — галерея фото, скачивание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10128"/>
            <a:ext cx="54864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236976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Визуализация — слои viz.json (keypoints, depth…)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68496"/>
            <a:ext cx="54864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95344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История — аудит правок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36592"/>
            <a:ext cx="54864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5852160" cy="56692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AED"/>
                </a:solidFill>
              </a:defRPr>
            </a:pPr>
            <a:r>
              <a:t>UI из тех же fields, что и в мобилке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960120"/>
            <a:ext cx="470916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13448" y="1069848"/>
            <a:ext cx="4489704" cy="5129784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workspace — вкладки Данные / Медиа / Viz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52760" y="1051560"/>
            <a:ext cx="868680" cy="237744"/>
          </a:xfrm>
          <a:prstGeom prst="round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10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Один продукт — разные кейсы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Новый ML-кейс ≈ новый проект, не новое приложение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5349240" cy="42976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>
              <a:defRPr sz="1800" b="1">
                <a:solidFill>
                  <a:srgbClr val="D4A84B"/>
                </a:solidFill>
              </a:defRPr>
            </a:pPr>
            <a:r>
              <a:t>Сбор GT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•  config_gt.json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•  Форма + эталонные фото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•  Таблица + viz GT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42976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>
              <a:defRPr sz="1800" b="1">
                <a:solidFill>
                  <a:srgbClr val="9B7ED0"/>
                </a:solidFill>
              </a:defRPr>
            </a:pPr>
            <a:r>
              <a:t>Инференс / валидация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•  config_inf.json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•  Другой flow в мобилке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•  Слои inference vs GT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↔  side-by-side: два конфига → два UI → два вида в админке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11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Сильные стороны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Почему это не «ещё одна форма»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5445252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5B8DEF"/>
                </a:solidFill>
              </a:defRPr>
            </a:pPr>
            <a:r>
              <a:t>Config-driven UI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Сценарий меняется JSON-ом, без релиза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7628" y="1828800"/>
            <a:ext cx="5445252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9B7ED0"/>
                </a:solidFill>
              </a:defRPr>
            </a:pPr>
            <a:r>
              <a:t>Offline-first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Сбор без сети, надёжная догрузка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16936"/>
            <a:ext cx="5445252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3DCC85"/>
                </a:solidFill>
              </a:defRPr>
            </a:pPr>
            <a:r>
              <a:t>Полный контекст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Метаданные + медиа + версия конфига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8" y="2916936"/>
            <a:ext cx="5445252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D4A84B"/>
                </a:solidFill>
              </a:defRPr>
            </a:pPr>
            <a:r>
              <a:t>Git-backed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Версионирование, ревью, откат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05072"/>
            <a:ext cx="5445252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5B8DEF"/>
                </a:solidFill>
              </a:defRPr>
            </a:pPr>
            <a:r>
              <a:t>Расширяемость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viz-плагины, pipeline-результаты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7628" y="4005072"/>
            <a:ext cx="5445252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9B7ED0"/>
                </a:solidFill>
              </a:defRPr>
            </a:pPr>
            <a:r>
              <a:t>Мультитенант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N проектов на одной платформе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Статус и 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Что уже работает и что дальше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28800"/>
            <a:ext cx="5349240" cy="4114800"/>
          </a:xfrm>
          <a:prstGeom prst="roundRect">
            <a:avLst/>
          </a:prstGeom>
          <a:solidFill>
            <a:srgbClr val="142822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3DCC85"/>
                </a:solidFill>
              </a:defRPr>
            </a:pPr>
            <a:r>
              <a:t>✓  Готово</a:t>
            </a:r>
          </a:p>
          <a:p>
            <a:pPr>
              <a:spcBef>
                <a:spcPts val="800"/>
              </a:spcBef>
              <a:defRPr sz="1100">
                <a:solidFill>
                  <a:srgbClr val="E8EAED"/>
                </a:solidFill>
              </a:defRPr>
            </a:pPr>
            <a:r>
              <a:t>Staff Admin: проекты, Git, пользователи</a:t>
            </a:r>
          </a:p>
          <a:p>
            <a:pPr>
              <a:spcBef>
                <a:spcPts val="800"/>
              </a:spcBef>
              <a:defRPr sz="1100">
                <a:solidFill>
                  <a:srgbClr val="E8EAED"/>
                </a:solidFill>
              </a:defRPr>
            </a:pPr>
            <a:r>
              <a:t>Flutter: синк, динамический сбор, upload</a:t>
            </a:r>
          </a:p>
          <a:p>
            <a:pPr>
              <a:spcBef>
                <a:spcPts val="800"/>
              </a:spcBef>
              <a:defRPr sz="1100">
                <a:solidFill>
                  <a:srgbClr val="E8EAED"/>
                </a:solidFill>
              </a:defRPr>
            </a:pPr>
            <a:r>
              <a:t>API: каталог, config, blobs → commit</a:t>
            </a:r>
          </a:p>
          <a:p>
            <a:pPr>
              <a:spcBef>
                <a:spcPts val="800"/>
              </a:spcBef>
              <a:defRPr sz="1100">
                <a:solidFill>
                  <a:srgbClr val="E8EAED"/>
                </a:solidFill>
              </a:defRPr>
            </a:pPr>
            <a:r>
              <a:t>Визуализация: viz.json + плагины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41148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D4A84B"/>
                </a:solidFill>
              </a:defRPr>
            </a:pPr>
            <a:r>
              <a:t>→  В развитии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Client-admin как отдельный React-фронт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Datapipe-пайплайны из коробки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Обогащённые данные в мобилке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6080760"/>
            <a:ext cx="11018520" cy="384048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3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6190488"/>
            <a:ext cx="10799064" cy="164592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📷</a:t>
            </a:r>
          </a:p>
          <a:p>
            <a:pPr algn="ctr"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ссылка на staging / деплой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52760" y="6172200"/>
            <a:ext cx="868680" cy="237744"/>
          </a:xfrm>
          <a:prstGeom prst="roundRect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8EAED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E1828"/>
            </a:gs>
            <a:gs pos="100000">
              <a:srgbClr val="0A0E18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1463040" cy="1463040"/>
          </a:xfrm>
          <a:prstGeom prst="ellipse">
            <a:avLst/>
          </a:prstGeom>
          <a:solidFill>
            <a:srgbClr val="3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6916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8EAED"/>
                </a:solidFill>
              </a:defRPr>
            </a:pPr>
            <a:r>
              <a:t>Data Collector в одном предложении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Админ описывает сценарий сбора в JSON → приложение проводит сборщика по шагам → структурированный пакет с медиа попадает в админку → команда видит и анализирует данные без ручной склейки.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572000"/>
            <a:ext cx="5760720" cy="502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EAED"/>
                </a:solidFill>
              </a:defRPr>
            </a:pPr>
            <a:r>
              <a:t>Опишите поля и flow — соберём demo-проект под ваш кейс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