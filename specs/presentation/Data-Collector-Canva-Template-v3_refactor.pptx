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8DEF"/>
    <a:srgbClr val="3DCC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8" autoAdjust="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584" y="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0E18"/>
            </a:gs>
            <a:gs pos="100000">
              <a:srgbClr val="141C32"/>
            </a:gs>
          </a:gsLst>
          <a:lin ang="12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097280" y="-914400"/>
            <a:ext cx="3200400" cy="3200400"/>
          </a:xfrm>
          <a:prstGeom prst="ellipse">
            <a:avLst/>
          </a:prstGeom>
          <a:solidFill>
            <a:srgbClr val="3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2560320" cy="2560320"/>
          </a:xfrm>
          <a:prstGeom prst="ellipse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19" y="685800"/>
            <a:ext cx="8727331" cy="5486400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9601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D4A84B"/>
                </a:solidFill>
              </a:defRPr>
            </a:pPr>
            <a:r>
              <a:t>EPOCH8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5943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E8EAED"/>
                </a:solidFill>
              </a:defRPr>
            </a:pPr>
            <a:r>
              <a:t>Data Collector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514600"/>
            <a:ext cx="2194560" cy="5486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743200"/>
            <a:ext cx="7076248" cy="61555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9CA3AF"/>
                </a:solidFill>
              </a:defRPr>
            </a:pPr>
            <a:r>
              <a:rPr dirty="0" err="1"/>
              <a:t>Платформа</a:t>
            </a:r>
            <a:r>
              <a:rPr dirty="0"/>
              <a:t> </a:t>
            </a:r>
            <a:r>
              <a:rPr dirty="0" err="1"/>
              <a:t>сбора</a:t>
            </a:r>
            <a:r>
              <a:rPr lang="ru-RU" dirty="0"/>
              <a:t> и визуализации</a:t>
            </a:r>
            <a:r>
              <a:rPr dirty="0"/>
              <a:t> </a:t>
            </a:r>
            <a:r>
              <a:rPr dirty="0" err="1"/>
              <a:t>полевых</a:t>
            </a:r>
            <a:r>
              <a:rPr dirty="0"/>
              <a:t> </a:t>
            </a:r>
            <a:r>
              <a:rPr dirty="0" err="1"/>
              <a:t>данных</a:t>
            </a:r>
            <a:br>
              <a:rPr dirty="0"/>
            </a:br>
            <a:r>
              <a:rPr dirty="0" err="1"/>
              <a:t>Один</a:t>
            </a:r>
            <a:r>
              <a:rPr dirty="0"/>
              <a:t> </a:t>
            </a:r>
            <a:r>
              <a:rPr dirty="0" err="1"/>
              <a:t>бэкенд</a:t>
            </a:r>
            <a:r>
              <a:rPr dirty="0"/>
              <a:t> · </a:t>
            </a:r>
            <a:r>
              <a:rPr dirty="0" err="1"/>
              <a:t>мобильное</a:t>
            </a:r>
            <a:r>
              <a:rPr dirty="0"/>
              <a:t> </a:t>
            </a:r>
            <a:r>
              <a:rPr dirty="0" err="1"/>
              <a:t>приложение</a:t>
            </a:r>
            <a:r>
              <a:rPr dirty="0"/>
              <a:t> · </a:t>
            </a:r>
            <a:r>
              <a:rPr dirty="0" err="1"/>
              <a:t>конфиг</a:t>
            </a:r>
            <a:r>
              <a:rPr lang="ru-RU" dirty="0" err="1"/>
              <a:t>урируемые</a:t>
            </a:r>
            <a:r>
              <a:rPr lang="ru-RU" dirty="0"/>
              <a:t> </a:t>
            </a:r>
            <a:r>
              <a:rPr lang="ru-RU" dirty="0" err="1"/>
              <a:t>сценарции</a:t>
            </a:r>
            <a:endParaRPr dirty="0"/>
          </a:p>
        </p:txBody>
      </p:sp>
      <p:cxnSp>
        <p:nvCxnSpPr>
          <p:cNvPr id="12" name="Connector 11"/>
          <p:cNvCxnSpPr/>
          <p:nvPr/>
        </p:nvCxnSpPr>
        <p:spPr>
          <a:xfrm>
            <a:off x="0" y="1408176"/>
            <a:ext cx="0" cy="310896"/>
          </a:xfrm>
          <a:prstGeom prst="line">
            <a:avLst/>
          </a:prstGeom>
          <a:ln w="25400">
            <a:solidFill>
              <a:srgbClr val="D4A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2231136"/>
            <a:ext cx="0" cy="310896"/>
          </a:xfrm>
          <a:prstGeom prst="line">
            <a:avLst/>
          </a:prstGeom>
          <a:ln w="25400">
            <a:solidFill>
              <a:srgbClr val="5B8D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3054096"/>
            <a:ext cx="0" cy="310896"/>
          </a:xfrm>
          <a:prstGeom prst="line">
            <a:avLst/>
          </a:prstGeom>
          <a:ln w="25400">
            <a:solidFill>
              <a:srgbClr val="9B7E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9B7E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0E18"/>
            </a:gs>
            <a:gs pos="100000">
              <a:srgbClr val="182030"/>
            </a:gs>
          </a:gsLst>
          <a:lin ang="13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097280" y="-914400"/>
            <a:ext cx="3200400" cy="3200400"/>
          </a:xfrm>
          <a:prstGeom prst="ellipse">
            <a:avLst/>
          </a:prstGeom>
          <a:solidFill>
            <a:srgbClr val="3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2560320" cy="2560320"/>
          </a:xfrm>
          <a:prstGeom prst="ellipse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836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Data Collector  ·  Epoch8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8368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02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11480"/>
            <a:ext cx="1645920" cy="29260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B8DEF"/>
                </a:solidFill>
              </a:defRPr>
            </a:pPr>
            <a:r>
              <a:t>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777240"/>
            <a:ext cx="10058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E8EAED"/>
                </a:solidFill>
              </a:defRPr>
            </a:pPr>
            <a:r>
              <a:t>Зачем это нужно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490472"/>
            <a:ext cx="2011680" cy="4572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087394" y="1965960"/>
            <a:ext cx="45720" cy="420624"/>
          </a:xfrm>
          <a:prstGeom prst="rect">
            <a:avLst/>
          </a:prstGeom>
          <a:solidFill>
            <a:srgbClr val="E87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160546" y="1911096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Проблема: каждый сценарий сбора = новая форма в коде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87394" y="2569464"/>
            <a:ext cx="45720" cy="420624"/>
          </a:xfrm>
          <a:prstGeom prst="rect">
            <a:avLst/>
          </a:prstGeom>
          <a:solidFill>
            <a:srgbClr val="E87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160546" y="2514600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Проблема: фото и метаданные теряются в мессенджерах и Excel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87394" y="3172968"/>
            <a:ext cx="45720" cy="420624"/>
          </a:xfrm>
          <a:prstGeom prst="rect">
            <a:avLst/>
          </a:prstGeom>
          <a:solidFill>
            <a:srgbClr val="E87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160546" y="3118104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Проблема: нет единого места «что собрали» и «что дальше»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87394" y="3867912"/>
            <a:ext cx="45720" cy="585216"/>
          </a:xfrm>
          <a:prstGeom prst="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160546" y="3813048"/>
            <a:ext cx="5596128" cy="694944"/>
          </a:xfrm>
          <a:prstGeom prst="roundRect">
            <a:avLst/>
          </a:prstGeom>
          <a:solidFill>
            <a:srgbClr val="142822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DCC85"/>
                </a:solidFill>
              </a:defRPr>
            </a:pPr>
            <a:r>
              <a:rPr dirty="0" err="1"/>
              <a:t>Решение</a:t>
            </a:r>
            <a:r>
              <a:rPr dirty="0"/>
              <a:t>: </a:t>
            </a:r>
            <a:r>
              <a:rPr dirty="0" err="1"/>
              <a:t>конфиг</a:t>
            </a:r>
            <a:r>
              <a:rPr lang="ru-RU" dirty="0"/>
              <a:t> сбора данных</a:t>
            </a:r>
            <a:r>
              <a:rPr dirty="0"/>
              <a:t> → UI </a:t>
            </a:r>
            <a:r>
              <a:rPr lang="ru-RU" dirty="0"/>
              <a:t> рендер конфига </a:t>
            </a:r>
            <a:r>
              <a:rPr dirty="0"/>
              <a:t>в </a:t>
            </a:r>
            <a:r>
              <a:rPr lang="ru-RU" dirty="0"/>
              <a:t>мобильном </a:t>
            </a:r>
            <a:r>
              <a:rPr dirty="0" err="1"/>
              <a:t>приложении</a:t>
            </a:r>
            <a:r>
              <a:rPr dirty="0"/>
              <a:t> → </a:t>
            </a:r>
            <a:r>
              <a:rPr lang="ru-RU" dirty="0"/>
              <a:t>отправка </a:t>
            </a:r>
            <a:r>
              <a:rPr dirty="0" err="1"/>
              <a:t>пакет</a:t>
            </a:r>
            <a:r>
              <a:rPr lang="ru-RU" dirty="0"/>
              <a:t>а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сервер</a:t>
            </a:r>
            <a:r>
              <a:rPr dirty="0"/>
              <a:t> → </a:t>
            </a:r>
            <a:r>
              <a:rPr dirty="0" err="1"/>
              <a:t>просмотр</a:t>
            </a:r>
            <a:r>
              <a:rPr lang="ru-RU" dirty="0"/>
              <a:t> пакетов</a:t>
            </a:r>
            <a:r>
              <a:rPr dirty="0"/>
              <a:t> в </a:t>
            </a:r>
            <a:r>
              <a:rPr dirty="0" err="1"/>
              <a:t>админке</a:t>
            </a:r>
            <a:r>
              <a:rPr lang="ru-RU" dirty="0"/>
              <a:t> с разделением по проектам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0E18"/>
            </a:gs>
            <a:gs pos="100000">
              <a:srgbClr val="182030"/>
            </a:gs>
          </a:gsLst>
          <a:lin ang="13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097280" y="-914400"/>
            <a:ext cx="3200400" cy="3200400"/>
          </a:xfrm>
          <a:prstGeom prst="ellipse">
            <a:avLst/>
          </a:prstGeom>
          <a:solidFill>
            <a:srgbClr val="3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2560320" cy="2560320"/>
          </a:xfrm>
          <a:prstGeom prst="ellipse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836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Data Collector  ·  Epoch8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8368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03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11480"/>
            <a:ext cx="1645920" cy="29260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B8DEF"/>
                </a:solidFill>
              </a:defRPr>
            </a:pPr>
            <a:r>
              <a:t>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777240"/>
            <a:ext cx="10058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E8EAED"/>
                </a:solidFill>
              </a:defRPr>
            </a:pPr>
            <a:r>
              <a:t>Из чего состоит продукт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490472"/>
            <a:ext cx="2011680" cy="4572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94360" y="1783080"/>
            <a:ext cx="5669280" cy="960120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04088" y="1965960"/>
            <a:ext cx="457200" cy="457200"/>
          </a:xfrm>
          <a:prstGeom prst="roundRect">
            <a:avLst/>
          </a:prstGeom>
          <a:solidFill>
            <a:srgbClr val="283248"/>
          </a:solidFill>
          <a:ln w="1270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874520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D4A84B"/>
                </a:solidFill>
              </a:defRPr>
            </a:pPr>
            <a:r>
              <a:t>Staff Admin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130552"/>
            <a:ext cx="18288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rPr lang="ru-RU" dirty="0"/>
              <a:t>Управление проектами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3200400" y="1965960"/>
            <a:ext cx="2926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</a:defRPr>
            </a:pPr>
            <a:r>
              <a:t>конфиг · Git · пользователи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834640"/>
            <a:ext cx="5669280" cy="960120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04088" y="3017520"/>
            <a:ext cx="457200" cy="457200"/>
          </a:xfrm>
          <a:prstGeom prst="roundRect">
            <a:avLst/>
          </a:prstGeom>
          <a:solidFill>
            <a:srgbClr val="283248"/>
          </a:solidFill>
          <a:ln w="1270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2926080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3DCC85"/>
                </a:solidFill>
              </a:defRPr>
            </a:pPr>
            <a:r>
              <a:t>Client Admin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182112"/>
            <a:ext cx="18288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rPr lang="ru-RU" dirty="0"/>
              <a:t>Просмотр данных проекта</a:t>
            </a:r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3200400" y="3017520"/>
            <a:ext cx="292608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</a:defRPr>
            </a:pPr>
            <a:r>
              <a:rPr dirty="0" err="1"/>
              <a:t>просмотр</a:t>
            </a:r>
            <a:r>
              <a:rPr dirty="0"/>
              <a:t> </a:t>
            </a:r>
            <a:r>
              <a:rPr dirty="0" err="1"/>
              <a:t>пакетов</a:t>
            </a:r>
            <a:r>
              <a:rPr dirty="0"/>
              <a:t> · </a:t>
            </a:r>
            <a:r>
              <a:rPr lang="ru-RU" dirty="0"/>
              <a:t>визуализации </a:t>
            </a:r>
            <a:r>
              <a:rPr lang="ru-RU" dirty="0" err="1"/>
              <a:t>пайплайнов</a:t>
            </a:r>
            <a:r>
              <a:rPr lang="ru-RU" dirty="0"/>
              <a:t> над данными</a:t>
            </a:r>
            <a:endParaRPr dirty="0"/>
          </a:p>
        </p:txBody>
      </p:sp>
      <p:sp>
        <p:nvSpPr>
          <p:cNvPr id="22" name="Rounded Rectangle 21"/>
          <p:cNvSpPr/>
          <p:nvPr/>
        </p:nvSpPr>
        <p:spPr>
          <a:xfrm>
            <a:off x="594360" y="3886200"/>
            <a:ext cx="5669280" cy="960120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04088" y="4069080"/>
            <a:ext cx="457200" cy="457200"/>
          </a:xfrm>
          <a:prstGeom prst="roundRect">
            <a:avLst/>
          </a:prstGeom>
          <a:solidFill>
            <a:srgbClr val="283248"/>
          </a:solidFill>
          <a:ln w="12700">
            <a:solidFill>
              <a:srgbClr val="9B7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977640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9B7ED0"/>
                </a:solidFill>
              </a:defRPr>
            </a:pPr>
            <a:r>
              <a:t>Flutter App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23367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Сборщик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069080"/>
            <a:ext cx="292608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</a:defRPr>
            </a:pPr>
            <a:r>
              <a:rPr dirty="0" err="1"/>
              <a:t>сбор</a:t>
            </a:r>
            <a:r>
              <a:rPr dirty="0"/>
              <a:t> · </a:t>
            </a:r>
            <a:r>
              <a:rPr dirty="0" err="1"/>
              <a:t>офлайн</a:t>
            </a:r>
            <a:r>
              <a:rPr dirty="0"/>
              <a:t> · </a:t>
            </a:r>
            <a:r>
              <a:rPr lang="ru-RU" dirty="0"/>
              <a:t>загрузка</a:t>
            </a:r>
            <a:endParaRPr dirty="0"/>
          </a:p>
        </p:txBody>
      </p:sp>
      <p:sp>
        <p:nvSpPr>
          <p:cNvPr id="27" name="Rounded Rectangle 26"/>
          <p:cNvSpPr/>
          <p:nvPr/>
        </p:nvSpPr>
        <p:spPr>
          <a:xfrm>
            <a:off x="594360" y="4937760"/>
            <a:ext cx="5669280" cy="960120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04088" y="5120640"/>
            <a:ext cx="457200" cy="457200"/>
          </a:xfrm>
          <a:prstGeom prst="roundRect">
            <a:avLst/>
          </a:prstGeom>
          <a:solidFill>
            <a:srgbClr val="283248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5029200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5B8DEF"/>
                </a:solidFill>
              </a:defRPr>
            </a:pPr>
            <a:r>
              <a:t>Django + storage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528523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Платформа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5120640"/>
            <a:ext cx="292608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</a:defRPr>
            </a:pPr>
            <a:r>
              <a:rPr dirty="0"/>
              <a:t>API · БД · </a:t>
            </a:r>
            <a:r>
              <a:rPr dirty="0" err="1"/>
              <a:t>медиа</a:t>
            </a:r>
            <a:r>
              <a:rPr lang="ru-RU" dirty="0"/>
              <a:t> хранилище</a:t>
            </a:r>
            <a:endParaRPr dirty="0"/>
          </a:p>
        </p:txBody>
      </p:sp>
      <p:sp>
        <p:nvSpPr>
          <p:cNvPr id="32" name="Rounded Rectangle 31"/>
          <p:cNvSpPr/>
          <p:nvPr/>
        </p:nvSpPr>
        <p:spPr>
          <a:xfrm>
            <a:off x="6537960" y="960120"/>
            <a:ext cx="5074920" cy="5349240"/>
          </a:xfrm>
          <a:prstGeom prst="roundRect">
            <a:avLst/>
          </a:prstGeom>
          <a:solidFill>
            <a:srgbClr val="0A0E18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684264" y="1943474"/>
            <a:ext cx="1508760" cy="530352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9B7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r>
              <a:t>Flutter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21040" y="1943474"/>
            <a:ext cx="1508760" cy="530352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r>
              <a:t>Staff Admin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957816" y="1943474"/>
            <a:ext cx="1508760" cy="530352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r>
              <a:t>Client Admin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84264" y="2729858"/>
            <a:ext cx="4782312" cy="530352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r>
              <a:t>django_server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0" y="1655064"/>
            <a:ext cx="0" cy="256032"/>
          </a:xfrm>
          <a:prstGeom prst="line">
            <a:avLst/>
          </a:prstGeom>
          <a:ln w="25400">
            <a:solidFill>
              <a:srgbClr val="5B8D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684264" y="3516242"/>
            <a:ext cx="4782312" cy="530352"/>
          </a:xfrm>
          <a:prstGeom prst="roundRect">
            <a:avLst/>
          </a:prstGeom>
          <a:solidFill>
            <a:srgbClr val="1A3329"/>
          </a:solidFill>
          <a:ln w="1905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r>
              <a:t>DB + медиа</a:t>
            </a:r>
          </a:p>
          <a:p>
            <a:pPr algn="ctr">
              <a:spcBef>
                <a:spcPts val="300"/>
              </a:spcBef>
              <a:defRPr sz="700">
                <a:solidFill>
                  <a:srgbClr val="9CA3AF"/>
                </a:solidFill>
              </a:defRPr>
            </a:pPr>
            <a:r>
              <a:t>пакеты всех проектов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0" y="2441448"/>
            <a:ext cx="0" cy="256032"/>
          </a:xfrm>
          <a:prstGeom prst="line">
            <a:avLst/>
          </a:prstGeom>
          <a:ln w="25400">
            <a:solidFill>
              <a:srgbClr val="3DCC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772918" y="4306824"/>
            <a:ext cx="2788402" cy="1435608"/>
          </a:xfrm>
          <a:prstGeom prst="roundRect">
            <a:avLst/>
          </a:prstGeom>
          <a:solidFill>
            <a:srgbClr val="1E2433"/>
          </a:solidFill>
          <a:ln w="19050">
            <a:solidFill>
              <a:srgbClr val="8BC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r>
              <a:rPr dirty="0" err="1"/>
              <a:t>Проект</a:t>
            </a:r>
            <a:r>
              <a:rPr dirty="0"/>
              <a:t> × N</a:t>
            </a:r>
          </a:p>
          <a:p>
            <a:pPr algn="ctr">
              <a:spcBef>
                <a:spcPts val="300"/>
              </a:spcBef>
              <a:defRPr sz="800">
                <a:solidFill>
                  <a:srgbClr val="9CA3AF"/>
                </a:solidFill>
              </a:defRPr>
            </a:pPr>
            <a:r>
              <a:rPr lang="ru-RU" dirty="0"/>
              <a:t>В виде </a:t>
            </a:r>
            <a:r>
              <a:rPr dirty="0"/>
              <a:t>Git</a:t>
            </a:r>
            <a:r>
              <a:rPr lang="ru-RU" dirty="0"/>
              <a:t> репозиториев </a:t>
            </a:r>
            <a:endParaRPr dirty="0"/>
          </a:p>
        </p:txBody>
      </p:sp>
      <p:cxnSp>
        <p:nvCxnSpPr>
          <p:cNvPr id="41" name="Connector 40"/>
          <p:cNvCxnSpPr/>
          <p:nvPr/>
        </p:nvCxnSpPr>
        <p:spPr>
          <a:xfrm>
            <a:off x="0" y="3227832"/>
            <a:ext cx="0" cy="256032"/>
          </a:xfrm>
          <a:prstGeom prst="line">
            <a:avLst/>
          </a:prstGeom>
          <a:ln w="25400">
            <a:solidFill>
              <a:srgbClr val="8BC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0E18"/>
            </a:gs>
            <a:gs pos="100000">
              <a:srgbClr val="182030"/>
            </a:gs>
          </a:gsLst>
          <a:lin ang="13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097280" y="-914400"/>
            <a:ext cx="3200400" cy="3200400"/>
          </a:xfrm>
          <a:prstGeom prst="ellipse">
            <a:avLst/>
          </a:prstGeom>
          <a:solidFill>
            <a:srgbClr val="3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2560320" cy="2560320"/>
          </a:xfrm>
          <a:prstGeom prst="ellipse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836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Data Collector  ·  Epoch8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8368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04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11480"/>
            <a:ext cx="1645920" cy="29260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B8DEF"/>
                </a:solidFill>
              </a:defRPr>
            </a:pPr>
            <a:r>
              <a:t>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777240"/>
            <a:ext cx="10058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E8EAED"/>
                </a:solidFill>
              </a:defRPr>
            </a:pPr>
            <a:r>
              <a:t>Путь данных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490472"/>
            <a:ext cx="2011680" cy="4572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64592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</a:defRPr>
            </a:pPr>
            <a:r>
              <a:t>5 шагов от настройки до просмотра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" y="3474719"/>
            <a:ext cx="2064715" cy="960120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>
              <a:defRPr sz="1600" b="1">
                <a:solidFill>
                  <a:srgbClr val="E8EAED"/>
                </a:solidFill>
              </a:defRPr>
            </a:pPr>
            <a:r>
              <a:t>①</a:t>
            </a:r>
          </a:p>
          <a:p>
            <a:pPr algn="ctr">
              <a:spcBef>
                <a:spcPts val="300"/>
              </a:spcBef>
              <a:defRPr sz="1000">
                <a:solidFill>
                  <a:srgbClr val="9CA3AF"/>
                </a:solidFill>
              </a:defRPr>
            </a:pPr>
            <a:r>
              <a:t>Конфиг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D4A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96819" y="3474719"/>
            <a:ext cx="2064715" cy="960120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>
              <a:defRPr sz="1600" b="1">
                <a:solidFill>
                  <a:srgbClr val="E8EAED"/>
                </a:solidFill>
              </a:defRPr>
            </a:pPr>
            <a:r>
              <a:t>②</a:t>
            </a:r>
          </a:p>
          <a:p>
            <a:pPr algn="ctr">
              <a:spcBef>
                <a:spcPts val="300"/>
              </a:spcBef>
              <a:defRPr sz="1000">
                <a:solidFill>
                  <a:srgbClr val="9CA3AF"/>
                </a:solidFill>
              </a:defRPr>
            </a:pPr>
            <a:r>
              <a:t>Синк в МП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5B8D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071262" y="3474719"/>
            <a:ext cx="2064715" cy="960120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>
              <a:defRPr sz="1600" b="1">
                <a:solidFill>
                  <a:srgbClr val="E8EAED"/>
                </a:solidFill>
              </a:defRPr>
            </a:pPr>
            <a:r>
              <a:t>③</a:t>
            </a:r>
          </a:p>
          <a:p>
            <a:pPr algn="ctr">
              <a:spcBef>
                <a:spcPts val="300"/>
              </a:spcBef>
              <a:defRPr sz="1000">
                <a:solidFill>
                  <a:srgbClr val="9CA3AF"/>
                </a:solidFill>
              </a:defRPr>
            </a:pPr>
            <a:r>
              <a:t>Сбор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9B7E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245705" y="3474719"/>
            <a:ext cx="2064715" cy="960120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>
              <a:defRPr sz="1600" b="1">
                <a:solidFill>
                  <a:srgbClr val="E8EAED"/>
                </a:solidFill>
              </a:defRPr>
            </a:pPr>
            <a:r>
              <a:t>④</a:t>
            </a:r>
          </a:p>
          <a:p>
            <a:pPr algn="ctr">
              <a:spcBef>
                <a:spcPts val="300"/>
              </a:spcBef>
              <a:defRPr sz="1000">
                <a:solidFill>
                  <a:srgbClr val="9CA3AF"/>
                </a:solidFill>
              </a:defRPr>
            </a:pPr>
            <a:r>
              <a:t>Upload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9B7E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420148" y="3474719"/>
            <a:ext cx="2064715" cy="960120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>
              <a:defRPr sz="1600" b="1">
                <a:solidFill>
                  <a:srgbClr val="E8EAED"/>
                </a:solidFill>
              </a:defRPr>
            </a:pPr>
            <a:r>
              <a:t>⑤</a:t>
            </a:r>
          </a:p>
          <a:p>
            <a:pPr algn="ctr">
              <a:spcBef>
                <a:spcPts val="300"/>
              </a:spcBef>
              <a:defRPr sz="1000">
                <a:solidFill>
                  <a:srgbClr val="9CA3AF"/>
                </a:solidFill>
              </a:defRPr>
            </a:pPr>
            <a:r>
              <a:t>Админка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0E18"/>
            </a:gs>
            <a:gs pos="100000">
              <a:srgbClr val="182030"/>
            </a:gs>
          </a:gsLst>
          <a:lin ang="13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097280" y="-914400"/>
            <a:ext cx="3200400" cy="3200400"/>
          </a:xfrm>
          <a:prstGeom prst="ellipse">
            <a:avLst/>
          </a:prstGeom>
          <a:solidFill>
            <a:srgbClr val="3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2560320" cy="2560320"/>
          </a:xfrm>
          <a:prstGeom prst="ellipse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836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Data Collector  ·  Epoch8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8368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05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11480"/>
            <a:ext cx="1645920" cy="29260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B8DEF"/>
                </a:solidFill>
              </a:defRPr>
            </a:pPr>
            <a:r>
              <a:t>CONFIG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777240"/>
            <a:ext cx="10058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E8EAED"/>
                </a:solidFill>
              </a:defRPr>
            </a:pPr>
            <a:r>
              <a:t>Конфиг = сценарий без кода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490472"/>
            <a:ext cx="2011680" cy="4572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5921976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</a:defRPr>
            </a:pPr>
            <a:r>
              <a:t>JSON в Git описывает сбор и просмотр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5968" y="2422470"/>
            <a:ext cx="45720" cy="42062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79120" y="2367606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fields — какие поля собираем (текст, фото, дата…)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5968" y="3025974"/>
            <a:ext cx="45720" cy="42062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79120" y="2971110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flow — порядок экранов в мобилке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5968" y="3629478"/>
            <a:ext cx="45720" cy="42062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79120" y="3574614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viz.json — как показывать пакет в админке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5968" y="4324422"/>
            <a:ext cx="45720" cy="42062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79120" y="4269558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rPr dirty="0" err="1"/>
              <a:t>Новый</a:t>
            </a:r>
            <a:r>
              <a:rPr dirty="0"/>
              <a:t> </a:t>
            </a:r>
            <a:r>
              <a:rPr dirty="0" err="1"/>
              <a:t>сценарий</a:t>
            </a:r>
            <a:r>
              <a:rPr dirty="0"/>
              <a:t> = </a:t>
            </a:r>
            <a:r>
              <a:rPr dirty="0" err="1"/>
              <a:t>правка</a:t>
            </a:r>
            <a:r>
              <a:rPr lang="en-US" dirty="0"/>
              <a:t>/</a:t>
            </a:r>
            <a:r>
              <a:rPr lang="ru-RU" dirty="0"/>
              <a:t>новый</a:t>
            </a:r>
            <a:r>
              <a:rPr dirty="0"/>
              <a:t> JSON, </a:t>
            </a:r>
            <a:r>
              <a:rPr lang="ru-RU" dirty="0"/>
              <a:t>а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релиз</a:t>
            </a:r>
            <a:r>
              <a:rPr dirty="0"/>
              <a:t> </a:t>
            </a:r>
            <a:r>
              <a:rPr lang="ru-RU" dirty="0"/>
              <a:t>нового </a:t>
            </a:r>
            <a:r>
              <a:rPr dirty="0" err="1"/>
              <a:t>приложения</a:t>
            </a:r>
            <a:endParaRPr dirty="0"/>
          </a:p>
        </p:txBody>
      </p:sp>
      <p:sp>
        <p:nvSpPr>
          <p:cNvPr id="20" name="Rounded Rectangle 19"/>
          <p:cNvSpPr/>
          <p:nvPr/>
        </p:nvSpPr>
        <p:spPr>
          <a:xfrm>
            <a:off x="6611112" y="2495622"/>
            <a:ext cx="5074920" cy="2011680"/>
          </a:xfrm>
          <a:prstGeom prst="roundRect">
            <a:avLst/>
          </a:prstGeom>
          <a:solidFill>
            <a:srgbClr val="0A0E18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757416" y="2696790"/>
            <a:ext cx="1520952" cy="658368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>
              <a:defRPr sz="1100" b="1">
                <a:solidFill>
                  <a:srgbClr val="E8EAED"/>
                </a:solidFill>
              </a:defRPr>
            </a:pPr>
            <a:r>
              <a:t>fields</a:t>
            </a:r>
          </a:p>
          <a:p>
            <a:pPr algn="ctr">
              <a:spcBef>
                <a:spcPts val="300"/>
              </a:spcBef>
              <a:defRPr sz="800">
                <a:solidFill>
                  <a:srgbClr val="9CA3AF"/>
                </a:solidFill>
              </a:defRPr>
            </a:pPr>
            <a:r>
              <a:t>что собираем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5B8D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388096" y="2696790"/>
            <a:ext cx="1520952" cy="658368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9B7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>
              <a:defRPr sz="1100" b="1">
                <a:solidFill>
                  <a:srgbClr val="E8EAED"/>
                </a:solidFill>
              </a:defRPr>
            </a:pPr>
            <a:r>
              <a:t>flow</a:t>
            </a:r>
          </a:p>
          <a:p>
            <a:pPr algn="ctr">
              <a:spcBef>
                <a:spcPts val="300"/>
              </a:spcBef>
              <a:defRPr sz="800">
                <a:solidFill>
                  <a:srgbClr val="9CA3AF"/>
                </a:solidFill>
              </a:defRPr>
            </a:pPr>
            <a:r>
              <a:t>порядок экранов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9B7E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0018776" y="2696790"/>
            <a:ext cx="1520952" cy="658368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>
              <a:defRPr sz="1100" b="1">
                <a:solidFill>
                  <a:srgbClr val="E8EAED"/>
                </a:solidFill>
              </a:defRPr>
            </a:pPr>
            <a:r>
              <a:t>package</a:t>
            </a:r>
          </a:p>
          <a:p>
            <a:pPr algn="ctr">
              <a:spcBef>
                <a:spcPts val="300"/>
              </a:spcBef>
              <a:defRPr sz="800">
                <a:solidFill>
                  <a:srgbClr val="9CA3AF"/>
                </a:solidFill>
              </a:defRPr>
            </a:pPr>
            <a:r>
              <a:t>результат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57416" y="3464886"/>
            <a:ext cx="47823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9CA3AF"/>
                </a:solidFill>
              </a:defRPr>
            </a:pPr>
            <a:r>
              <a:t>JSON в Git → UI в приложении → те же поля в админке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0E18"/>
            </a:gs>
            <a:gs pos="100000">
              <a:srgbClr val="182030"/>
            </a:gs>
          </a:gsLst>
          <a:lin ang="13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097280" y="-914400"/>
            <a:ext cx="3200400" cy="3200400"/>
          </a:xfrm>
          <a:prstGeom prst="ellipse">
            <a:avLst/>
          </a:prstGeom>
          <a:solidFill>
            <a:srgbClr val="3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2560320" cy="2560320"/>
          </a:xfrm>
          <a:prstGeom prst="ellipse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836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Data Collector  ·  Epoch8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8368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06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11480"/>
            <a:ext cx="1645920" cy="29260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D4A84B"/>
                </a:solidFill>
              </a:defRPr>
            </a:pPr>
            <a:r>
              <a:t>STEP 01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347472"/>
            <a:ext cx="457200" cy="457200"/>
          </a:xfrm>
          <a:prstGeom prst="ellipse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21218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932688"/>
            <a:ext cx="10058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E8EAED"/>
                </a:solidFill>
              </a:defRPr>
            </a:pPr>
            <a:r>
              <a:t>Админ настраивает проект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645920"/>
            <a:ext cx="2011680" cy="4572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4360" y="1901952"/>
            <a:ext cx="45720" cy="420624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67512" y="1847088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rPr dirty="0" err="1"/>
              <a:t>Создаёт</a:t>
            </a:r>
            <a:r>
              <a:rPr dirty="0"/>
              <a:t> </a:t>
            </a:r>
            <a:r>
              <a:rPr dirty="0" err="1"/>
              <a:t>проект</a:t>
            </a:r>
            <a:r>
              <a:rPr dirty="0"/>
              <a:t> и </a:t>
            </a:r>
            <a:r>
              <a:rPr dirty="0" err="1"/>
              <a:t>привязывает</a:t>
            </a:r>
            <a:r>
              <a:rPr dirty="0"/>
              <a:t> Git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505456"/>
            <a:ext cx="45720" cy="420624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67512" y="2450592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Редактирует config.json: fields + flow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3108960"/>
            <a:ext cx="45720" cy="420624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67512" y="3054096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Назначает сборщиков на проект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712464"/>
            <a:ext cx="45720" cy="420624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67512" y="3657600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Сохраняет → commit + push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960120"/>
            <a:ext cx="5074920" cy="5349240"/>
          </a:xfrm>
          <a:prstGeom prst="roundRect">
            <a:avLst/>
          </a:prstGeom>
          <a:solidFill>
            <a:srgbClr val="1A202C"/>
          </a:solidFill>
          <a:ln w="1270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607040" y="1033272"/>
            <a:ext cx="914400" cy="219456"/>
          </a:xfrm>
          <a:prstGeom prst="round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00" b="1">
                <a:solidFill>
                  <a:srgbClr val="E8EAED"/>
                </a:solidFill>
              </a:defRPr>
            </a:pPr>
            <a:r>
              <a:t>SCREENSHOT</a:t>
            </a:r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AFE9A92E-D6AE-4642-84D1-585EBD859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5360" y="1280160"/>
            <a:ext cx="4506617" cy="475021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0E18"/>
            </a:gs>
            <a:gs pos="100000">
              <a:srgbClr val="182030"/>
            </a:gs>
          </a:gsLst>
          <a:lin ang="13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097280" y="-914400"/>
            <a:ext cx="3200400" cy="3200400"/>
          </a:xfrm>
          <a:prstGeom prst="ellipse">
            <a:avLst/>
          </a:prstGeom>
          <a:solidFill>
            <a:srgbClr val="3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2560320" cy="2560320"/>
          </a:xfrm>
          <a:prstGeom prst="ellipse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836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Data Collector  ·  Epoch8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8368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07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11480"/>
            <a:ext cx="1645920" cy="29260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B8DEF"/>
                </a:solidFill>
              </a:defRPr>
            </a:pPr>
            <a:r>
              <a:t>STEP 02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347472"/>
            <a:ext cx="457200" cy="457200"/>
          </a:xfrm>
          <a:prstGeom prst="ellipse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21218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932688"/>
            <a:ext cx="10058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E8EAED"/>
                </a:solidFill>
              </a:defRPr>
            </a:pPr>
            <a:r>
              <a:t>Конфиг в приложении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645920"/>
            <a:ext cx="2011680" cy="4572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4360" y="1901952"/>
            <a:ext cx="45720" cy="42062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67512" y="1847088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Сборщик логинится и видит свои проекты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505456"/>
            <a:ext cx="45720" cy="42062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67512" y="2450592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Приложение скачивает config с сервера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3108960"/>
            <a:ext cx="45720" cy="42062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79120" y="3675888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Кэширует локально — работает офлайн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712464"/>
            <a:ext cx="45720" cy="42062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67512" y="3063240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rPr lang="ru-RU" dirty="0"/>
              <a:t>Заполняет данные формы и подтверждает формирование пакета</a:t>
            </a:r>
            <a:endParaRPr dirty="0"/>
          </a:p>
        </p:txBody>
      </p:sp>
      <p:sp>
        <p:nvSpPr>
          <p:cNvPr id="20" name="Rounded Rectangle 19"/>
          <p:cNvSpPr/>
          <p:nvPr/>
        </p:nvSpPr>
        <p:spPr>
          <a:xfrm>
            <a:off x="6537960" y="960120"/>
            <a:ext cx="5074920" cy="5349240"/>
          </a:xfrm>
          <a:prstGeom prst="roundRect">
            <a:avLst/>
          </a:prstGeom>
          <a:solidFill>
            <a:srgbClr val="1A202C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629400" y="1051560"/>
            <a:ext cx="4892040" cy="5166360"/>
          </a:xfrm>
          <a:prstGeom prst="roundRect">
            <a:avLst/>
          </a:prstGeom>
          <a:solidFill>
            <a:srgbClr val="182030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9CA3AF"/>
                </a:solidFill>
              </a:defRPr>
            </a:pPr>
            <a:r>
              <a:t>список проектов · форма · камера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607040" y="1033272"/>
            <a:ext cx="914400" cy="219456"/>
          </a:xfrm>
          <a:prstGeom prst="round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00" b="1">
                <a:solidFill>
                  <a:srgbClr val="E8EAED"/>
                </a:solidFill>
              </a:defRPr>
            </a:pPr>
            <a:r>
              <a:t>SCREENSHOT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C31AAC72-BE57-408C-95F7-B5B5DF735D1C}"/>
              </a:ext>
            </a:extLst>
          </p:cNvPr>
          <p:cNvSpPr/>
          <p:nvPr/>
        </p:nvSpPr>
        <p:spPr>
          <a:xfrm>
            <a:off x="167640" y="5550622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Более подробно https://app.notion.com/p/epoch8/360facc20beb80d086e1fda6582bf52f</a:t>
            </a: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74E23811-421E-45CC-ABE3-C7777C8BF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7417" y="1385237"/>
            <a:ext cx="4341951" cy="457665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0E18"/>
            </a:gs>
            <a:gs pos="100000">
              <a:srgbClr val="182030"/>
            </a:gs>
          </a:gsLst>
          <a:lin ang="13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097280" y="-914400"/>
            <a:ext cx="3200400" cy="3200400"/>
          </a:xfrm>
          <a:prstGeom prst="ellipse">
            <a:avLst/>
          </a:prstGeom>
          <a:solidFill>
            <a:srgbClr val="3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2560320" cy="2560320"/>
          </a:xfrm>
          <a:prstGeom prst="ellipse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836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Data Collector  ·  Epoch8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8368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10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11480"/>
            <a:ext cx="1645920" cy="29260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DCC85"/>
                </a:solidFill>
              </a:defRPr>
            </a:pPr>
            <a:r>
              <a:rPr dirty="0"/>
              <a:t>STEP 0</a:t>
            </a:r>
            <a:r>
              <a:rPr lang="ru-RU" dirty="0"/>
              <a:t>3</a:t>
            </a:r>
            <a:endParaRPr dirty="0"/>
          </a:p>
        </p:txBody>
      </p:sp>
      <p:sp>
        <p:nvSpPr>
          <p:cNvPr id="9" name="Oval 8"/>
          <p:cNvSpPr/>
          <p:nvPr/>
        </p:nvSpPr>
        <p:spPr>
          <a:xfrm>
            <a:off x="594360" y="347472"/>
            <a:ext cx="457200" cy="457200"/>
          </a:xfrm>
          <a:prstGeom prst="ellipse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21218"/>
                </a:solidFill>
              </a:defRPr>
            </a:pPr>
            <a:r>
              <a:rPr lang="ru-RU" dirty="0"/>
              <a:t>3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594360" y="777240"/>
            <a:ext cx="5351219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E8EAED"/>
                </a:solidFill>
              </a:defRPr>
            </a:pPr>
            <a:r>
              <a:rPr dirty="0" err="1"/>
              <a:t>Просмотр</a:t>
            </a:r>
            <a:r>
              <a:rPr dirty="0"/>
              <a:t> </a:t>
            </a:r>
            <a:r>
              <a:rPr dirty="0" err="1"/>
              <a:t>принятых</a:t>
            </a:r>
            <a:r>
              <a:rPr dirty="0"/>
              <a:t> </a:t>
            </a:r>
            <a:r>
              <a:rPr dirty="0" err="1"/>
              <a:t>пакетов</a:t>
            </a:r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594360" y="1490472"/>
            <a:ext cx="2011680" cy="4572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4360" y="1929383"/>
            <a:ext cx="45720" cy="420624"/>
          </a:xfrm>
          <a:prstGeom prst="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67512" y="1874519"/>
            <a:ext cx="523036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rPr dirty="0" err="1"/>
              <a:t>Список</a:t>
            </a:r>
            <a:r>
              <a:rPr dirty="0"/>
              <a:t> </a:t>
            </a:r>
            <a:r>
              <a:rPr dirty="0" err="1"/>
              <a:t>все</a:t>
            </a:r>
            <a:r>
              <a:rPr lang="ru-RU" dirty="0"/>
              <a:t>х</a:t>
            </a:r>
            <a:r>
              <a:rPr dirty="0"/>
              <a:t> </a:t>
            </a:r>
            <a:r>
              <a:rPr dirty="0" err="1"/>
              <a:t>приняты</a:t>
            </a:r>
            <a:r>
              <a:rPr lang="ru-RU" dirty="0"/>
              <a:t>х</a:t>
            </a:r>
            <a:r>
              <a:rPr dirty="0"/>
              <a:t> </a:t>
            </a:r>
            <a:r>
              <a:rPr dirty="0" err="1"/>
              <a:t>пакет</a:t>
            </a:r>
            <a:r>
              <a:rPr lang="ru-RU" dirty="0" err="1"/>
              <a:t>ов</a:t>
            </a:r>
            <a:r>
              <a:rPr dirty="0"/>
              <a:t> </a:t>
            </a:r>
            <a:r>
              <a:rPr lang="ru-RU" dirty="0"/>
              <a:t>по проектам </a:t>
            </a:r>
            <a:r>
              <a:rPr dirty="0" err="1"/>
              <a:t>проекта</a:t>
            </a:r>
            <a:endParaRPr dirty="0"/>
          </a:p>
        </p:txBody>
      </p:sp>
      <p:sp>
        <p:nvSpPr>
          <p:cNvPr id="15" name="Rectangle 14"/>
          <p:cNvSpPr/>
          <p:nvPr/>
        </p:nvSpPr>
        <p:spPr>
          <a:xfrm>
            <a:off x="594360" y="2532887"/>
            <a:ext cx="45720" cy="420624"/>
          </a:xfrm>
          <a:prstGeom prst="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67512" y="2478023"/>
            <a:ext cx="523036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Фильтры: проект, статус, поиск по полям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136391"/>
            <a:ext cx="45720" cy="420624"/>
          </a:xfrm>
          <a:prstGeom prst="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67512" y="3081527"/>
            <a:ext cx="523036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rPr dirty="0" err="1"/>
              <a:t>данные</a:t>
            </a:r>
            <a:r>
              <a:rPr dirty="0"/>
              <a:t> · </a:t>
            </a:r>
            <a:r>
              <a:rPr dirty="0" err="1"/>
              <a:t>медиа</a:t>
            </a:r>
            <a:r>
              <a:rPr dirty="0"/>
              <a:t> · </a:t>
            </a:r>
            <a:r>
              <a:rPr lang="ru-RU" dirty="0"/>
              <a:t>визуализации</a:t>
            </a:r>
            <a:r>
              <a:rPr dirty="0"/>
              <a:t> · </a:t>
            </a:r>
            <a:r>
              <a:rPr dirty="0" err="1"/>
              <a:t>история</a:t>
            </a:r>
            <a:r>
              <a:rPr dirty="0"/>
              <a:t> </a:t>
            </a:r>
            <a:r>
              <a:rPr dirty="0" err="1"/>
              <a:t>правок</a:t>
            </a:r>
            <a:endParaRPr dirty="0"/>
          </a:p>
        </p:txBody>
      </p:sp>
      <p:sp>
        <p:nvSpPr>
          <p:cNvPr id="19" name="Rectangle 18"/>
          <p:cNvSpPr/>
          <p:nvPr/>
        </p:nvSpPr>
        <p:spPr>
          <a:xfrm>
            <a:off x="594360" y="3739895"/>
            <a:ext cx="45720" cy="420624"/>
          </a:xfrm>
          <a:prstGeom prst="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67512" y="3685031"/>
            <a:ext cx="523036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rPr dirty="0"/>
              <a:t>UI </a:t>
            </a:r>
            <a:r>
              <a:rPr dirty="0" err="1"/>
              <a:t>строится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тех</a:t>
            </a:r>
            <a:r>
              <a:rPr dirty="0"/>
              <a:t> </a:t>
            </a:r>
            <a:r>
              <a:rPr dirty="0" err="1"/>
              <a:t>же</a:t>
            </a:r>
            <a:r>
              <a:rPr dirty="0"/>
              <a:t> </a:t>
            </a:r>
            <a:r>
              <a:rPr lang="ru-RU" dirty="0"/>
              <a:t>полей в конфиге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40" name="Rounded Rectangle 19">
            <a:extLst>
              <a:ext uri="{FF2B5EF4-FFF2-40B4-BE49-F238E27FC236}">
                <a16:creationId xmlns:a16="http://schemas.microsoft.com/office/drawing/2014/main" id="{3F3825C5-CB5F-4F2A-96F2-0E7D9EDBC253}"/>
              </a:ext>
            </a:extLst>
          </p:cNvPr>
          <p:cNvSpPr/>
          <p:nvPr/>
        </p:nvSpPr>
        <p:spPr>
          <a:xfrm>
            <a:off x="6537960" y="960120"/>
            <a:ext cx="5074920" cy="5349240"/>
          </a:xfrm>
          <a:prstGeom prst="roundRect">
            <a:avLst/>
          </a:prstGeom>
          <a:solidFill>
            <a:srgbClr val="1A202C"/>
          </a:solidFill>
          <a:ln w="1270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1" name="Rounded Rectangle 21">
            <a:extLst>
              <a:ext uri="{FF2B5EF4-FFF2-40B4-BE49-F238E27FC236}">
                <a16:creationId xmlns:a16="http://schemas.microsoft.com/office/drawing/2014/main" id="{43CED1F8-6DB5-434E-9E2D-338C5F032A06}"/>
              </a:ext>
            </a:extLst>
          </p:cNvPr>
          <p:cNvSpPr/>
          <p:nvPr/>
        </p:nvSpPr>
        <p:spPr>
          <a:xfrm>
            <a:off x="10607040" y="1033272"/>
            <a:ext cx="914400" cy="219456"/>
          </a:xfrm>
          <a:prstGeom prst="round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00" b="1">
                <a:solidFill>
                  <a:srgbClr val="E8EAED"/>
                </a:solidFill>
              </a:defRPr>
            </a:pPr>
            <a:r>
              <a:rPr dirty="0"/>
              <a:t>SCREENSHOT</a:t>
            </a:r>
          </a:p>
        </p:txBody>
      </p:sp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361C04F5-1C9D-4AED-BEE5-58789DC88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2472" y="1316736"/>
            <a:ext cx="4465895" cy="47072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E1828"/>
            </a:gs>
            <a:gs pos="100000">
              <a:srgbClr val="0A0E18"/>
            </a:gs>
          </a:gsLst>
          <a:lin ang="12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097280" y="-914400"/>
            <a:ext cx="3200400" cy="3200400"/>
          </a:xfrm>
          <a:prstGeom prst="ellipse">
            <a:avLst/>
          </a:prstGeom>
          <a:solidFill>
            <a:srgbClr val="3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2560320" cy="2560320"/>
          </a:xfrm>
          <a:prstGeom prst="ellipse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97280" y="1371600"/>
            <a:ext cx="9966960" cy="4114800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08760" y="169164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E8EAED"/>
                </a:solidFill>
              </a:defRPr>
            </a:pPr>
            <a:r>
              <a:t>Data Collector в одном предложении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423160"/>
            <a:ext cx="9144000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9CA3AF"/>
                </a:solidFill>
              </a:defRPr>
            </a:pPr>
            <a:r>
              <a:rPr sz="2000" dirty="0" err="1"/>
              <a:t>Админ</a:t>
            </a:r>
            <a:r>
              <a:rPr sz="2000" dirty="0"/>
              <a:t> </a:t>
            </a:r>
            <a:r>
              <a:rPr sz="2000" dirty="0" err="1"/>
              <a:t>описывает</a:t>
            </a:r>
            <a:r>
              <a:rPr sz="2000" dirty="0"/>
              <a:t> </a:t>
            </a:r>
            <a:r>
              <a:rPr sz="2000" dirty="0" err="1"/>
              <a:t>сценарий</a:t>
            </a:r>
            <a:r>
              <a:rPr sz="2000" dirty="0"/>
              <a:t> в JSON → </a:t>
            </a:r>
            <a:r>
              <a:rPr sz="2000" dirty="0" err="1"/>
              <a:t>приложение</a:t>
            </a:r>
            <a:r>
              <a:rPr sz="2000" dirty="0"/>
              <a:t> </a:t>
            </a:r>
            <a:r>
              <a:rPr sz="2000" dirty="0" err="1"/>
              <a:t>проводит</a:t>
            </a:r>
            <a:r>
              <a:rPr sz="2000" dirty="0"/>
              <a:t> </a:t>
            </a:r>
            <a:r>
              <a:rPr sz="2000" dirty="0" err="1"/>
              <a:t>сборщика</a:t>
            </a:r>
            <a:r>
              <a:rPr sz="2000" dirty="0"/>
              <a:t> </a:t>
            </a:r>
            <a:r>
              <a:rPr sz="2000" dirty="0" err="1"/>
              <a:t>по</a:t>
            </a:r>
            <a:r>
              <a:rPr sz="2000" dirty="0"/>
              <a:t> </a:t>
            </a:r>
            <a:r>
              <a:rPr sz="2000" dirty="0" err="1"/>
              <a:t>шагам</a:t>
            </a:r>
            <a:r>
              <a:rPr sz="2000" dirty="0"/>
              <a:t> → </a:t>
            </a:r>
            <a:r>
              <a:rPr sz="2000" dirty="0" err="1"/>
              <a:t>пакет</a:t>
            </a:r>
            <a:r>
              <a:rPr sz="2000" dirty="0"/>
              <a:t> с </a:t>
            </a:r>
            <a:r>
              <a:rPr sz="2000" dirty="0" err="1"/>
              <a:t>медиа</a:t>
            </a:r>
            <a:r>
              <a:rPr sz="2000" dirty="0"/>
              <a:t> </a:t>
            </a:r>
            <a:r>
              <a:rPr sz="2000" dirty="0" err="1"/>
              <a:t>попадает</a:t>
            </a:r>
            <a:r>
              <a:rPr sz="2000" dirty="0"/>
              <a:t> в </a:t>
            </a:r>
            <a:r>
              <a:rPr sz="2000" dirty="0" err="1"/>
              <a:t>админку</a:t>
            </a:r>
            <a:r>
              <a:rPr sz="2000" dirty="0"/>
              <a:t> → </a:t>
            </a:r>
            <a:r>
              <a:rPr sz="2000" dirty="0" err="1"/>
              <a:t>команда</a:t>
            </a:r>
            <a:r>
              <a:rPr sz="2000" dirty="0"/>
              <a:t> </a:t>
            </a:r>
            <a:r>
              <a:rPr sz="2000" dirty="0" err="1"/>
              <a:t>видит</a:t>
            </a:r>
            <a:r>
              <a:rPr sz="2000" dirty="0"/>
              <a:t> </a:t>
            </a:r>
            <a:r>
              <a:rPr sz="2000" dirty="0" err="1"/>
              <a:t>данные</a:t>
            </a:r>
            <a:r>
              <a:rPr sz="2000" dirty="0"/>
              <a:t> </a:t>
            </a:r>
            <a:r>
              <a:rPr sz="2000" dirty="0" err="1"/>
              <a:t>без</a:t>
            </a:r>
            <a:r>
              <a:rPr sz="2000" dirty="0"/>
              <a:t> </a:t>
            </a:r>
            <a:r>
              <a:rPr sz="2000" dirty="0" err="1"/>
              <a:t>ручной</a:t>
            </a:r>
            <a:r>
              <a:rPr sz="2000" dirty="0"/>
              <a:t> </a:t>
            </a:r>
            <a:r>
              <a:rPr sz="2000" dirty="0" err="1"/>
              <a:t>склейки</a:t>
            </a:r>
            <a:r>
              <a:rPr sz="2000" dirty="0"/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8368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442</Words>
  <Application>Microsoft Office PowerPoint</Application>
  <PresentationFormat>Широкоэкранный</PresentationFormat>
  <Paragraphs>105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admin</dc:creator>
  <cp:keywords/>
  <dc:description>generated using python-pptx</dc:description>
  <cp:lastModifiedBy>Сметанин Артём Алексеевич</cp:lastModifiedBy>
  <cp:revision>10</cp:revision>
  <dcterms:created xsi:type="dcterms:W3CDTF">2013-01-27T09:14:16Z</dcterms:created>
  <dcterms:modified xsi:type="dcterms:W3CDTF">2026-06-11T09:21:30Z</dcterms:modified>
  <cp:category/>
</cp:coreProperties>
</file>