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8" autoAdjust="0"/>
    <p:restoredTop sz="94660"/>
  </p:normalViewPr>
  <p:slideViewPr>
    <p:cSldViewPr snapToGrid="0" snapToObjects="1">
      <p:cViewPr varScale="1">
        <p:scale>
          <a:sx n="111" d="100"/>
          <a:sy n="111" d="100"/>
        </p:scale>
        <p:origin x="588" y="3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0E18"/>
            </a:gs>
            <a:gs pos="100000">
              <a:srgbClr val="141C32"/>
            </a:gs>
          </a:gsLst>
          <a:lin ang="12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097280" y="-914400"/>
            <a:ext cx="3200400" cy="3200400"/>
          </a:xfrm>
          <a:prstGeom prst="ellipse">
            <a:avLst/>
          </a:prstGeom>
          <a:solidFill>
            <a:srgbClr val="3A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15600" y="5303520"/>
            <a:ext cx="2560320" cy="2560320"/>
          </a:xfrm>
          <a:prstGeom prst="ellipse">
            <a:avLst/>
          </a:prstGeom>
          <a:solidFill>
            <a:srgbClr val="2A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02920" y="685800"/>
            <a:ext cx="6583680" cy="5486400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96012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D4A84B"/>
                </a:solidFill>
              </a:defRPr>
            </a:pPr>
            <a:r>
              <a:t>EPOCH8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5943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400" b="1">
                <a:solidFill>
                  <a:srgbClr val="E8EAED"/>
                </a:solidFill>
              </a:defRPr>
            </a:pPr>
            <a:r>
              <a:t>Data Collector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14600"/>
            <a:ext cx="2194560" cy="54864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585216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9CA3AF"/>
                </a:solidFill>
              </a:defRPr>
            </a:pPr>
            <a:r>
              <a:rPr dirty="0" err="1"/>
              <a:t>Платформа</a:t>
            </a:r>
            <a:r>
              <a:rPr dirty="0"/>
              <a:t> </a:t>
            </a:r>
            <a:r>
              <a:rPr dirty="0" err="1"/>
              <a:t>сбора</a:t>
            </a:r>
            <a:r>
              <a:rPr lang="ru-RU" dirty="0"/>
              <a:t> и визуализации</a:t>
            </a:r>
            <a:r>
              <a:rPr dirty="0"/>
              <a:t> </a:t>
            </a:r>
            <a:r>
              <a:rPr dirty="0" err="1"/>
              <a:t>полевых</a:t>
            </a:r>
            <a:r>
              <a:rPr dirty="0"/>
              <a:t> </a:t>
            </a:r>
            <a:r>
              <a:rPr dirty="0" err="1"/>
              <a:t>данных</a:t>
            </a:r>
            <a:br>
              <a:rPr dirty="0"/>
            </a:br>
            <a:r>
              <a:rPr dirty="0" err="1"/>
              <a:t>Один</a:t>
            </a:r>
            <a:r>
              <a:rPr dirty="0"/>
              <a:t> </a:t>
            </a:r>
            <a:r>
              <a:rPr dirty="0" err="1"/>
              <a:t>бэкенд</a:t>
            </a:r>
            <a:r>
              <a:rPr dirty="0"/>
              <a:t> · </a:t>
            </a:r>
            <a:r>
              <a:rPr dirty="0" err="1"/>
              <a:t>мобильное</a:t>
            </a:r>
            <a:r>
              <a:rPr dirty="0"/>
              <a:t> </a:t>
            </a:r>
            <a:r>
              <a:rPr dirty="0" err="1"/>
              <a:t>приложение</a:t>
            </a:r>
            <a:r>
              <a:rPr dirty="0"/>
              <a:t> · </a:t>
            </a:r>
            <a:r>
              <a:rPr dirty="0" err="1"/>
              <a:t>конфиг</a:t>
            </a:r>
            <a:r>
              <a:rPr dirty="0"/>
              <a:t> </a:t>
            </a:r>
            <a:r>
              <a:rPr dirty="0" err="1"/>
              <a:t>без</a:t>
            </a:r>
            <a:r>
              <a:rPr dirty="0"/>
              <a:t> </a:t>
            </a:r>
            <a:r>
              <a:rPr dirty="0" err="1"/>
              <a:t>релиза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7406640" y="685800"/>
            <a:ext cx="4251960" cy="2560320"/>
          </a:xfrm>
          <a:prstGeom prst="roundRect">
            <a:avLst/>
          </a:prstGeom>
          <a:solidFill>
            <a:srgbClr val="0A0E18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589520" y="914400"/>
            <a:ext cx="3886200" cy="475488"/>
          </a:xfrm>
          <a:prstGeom prst="roundRect">
            <a:avLst/>
          </a:prstGeom>
          <a:solidFill>
            <a:srgbClr val="3D3420"/>
          </a:solidFill>
          <a:ln w="1905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000" b="1">
                <a:solidFill>
                  <a:srgbClr val="E8EAED"/>
                </a:solidFill>
              </a:defRPr>
            </a:pPr>
            <a:r>
              <a:t>Staff Admin</a:t>
            </a:r>
          </a:p>
          <a:p>
            <a:pPr algn="ctr">
              <a:spcBef>
                <a:spcPts val="300"/>
              </a:spcBef>
              <a:defRPr sz="700">
                <a:solidFill>
                  <a:srgbClr val="9CA3AF"/>
                </a:solidFill>
              </a:defRPr>
            </a:pPr>
            <a:r>
              <a:t>конфиг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1408176"/>
            <a:ext cx="0" cy="310896"/>
          </a:xfrm>
          <a:prstGeom prst="line">
            <a:avLst/>
          </a:prstGeom>
          <a:ln w="25400">
            <a:solidFill>
              <a:srgbClr val="D4A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589520" y="1737360"/>
            <a:ext cx="3886200" cy="475488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000" b="1">
                <a:solidFill>
                  <a:srgbClr val="E8EAED"/>
                </a:solidFill>
              </a:defRPr>
            </a:pPr>
            <a:r>
              <a:t>Django Server</a:t>
            </a:r>
          </a:p>
          <a:p>
            <a:pPr algn="ctr">
              <a:spcBef>
                <a:spcPts val="300"/>
              </a:spcBef>
              <a:defRPr sz="700">
                <a:solidFill>
                  <a:srgbClr val="9CA3AF"/>
                </a:solidFill>
              </a:defRPr>
            </a:pPr>
            <a:r>
              <a:t>API + хранилище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0" y="2231136"/>
            <a:ext cx="0" cy="310896"/>
          </a:xfrm>
          <a:prstGeom prst="line">
            <a:avLst/>
          </a:prstGeom>
          <a:ln w="25400">
            <a:solidFill>
              <a:srgbClr val="5B8D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589520" y="2560320"/>
            <a:ext cx="3886200" cy="475488"/>
          </a:xfrm>
          <a:prstGeom prst="roundRect">
            <a:avLst/>
          </a:prstGeom>
          <a:solidFill>
            <a:srgbClr val="2A2438"/>
          </a:solidFill>
          <a:ln w="1905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000" b="1">
                <a:solidFill>
                  <a:srgbClr val="E8EAED"/>
                </a:solidFill>
              </a:defRPr>
            </a:pPr>
            <a:r>
              <a:t>Flutter App</a:t>
            </a:r>
          </a:p>
          <a:p>
            <a:pPr algn="ctr">
              <a:spcBef>
                <a:spcPts val="300"/>
              </a:spcBef>
              <a:defRPr sz="700">
                <a:solidFill>
                  <a:srgbClr val="9CA3AF"/>
                </a:solidFill>
              </a:defRPr>
            </a:pPr>
            <a:r>
              <a:t>сбор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0" y="3054096"/>
            <a:ext cx="0" cy="310896"/>
          </a:xfrm>
          <a:prstGeom prst="line">
            <a:avLst/>
          </a:prstGeom>
          <a:ln w="25400">
            <a:solidFill>
              <a:srgbClr val="9B7E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589520" y="3383280"/>
            <a:ext cx="3886200" cy="475488"/>
          </a:xfrm>
          <a:prstGeom prst="roundRect">
            <a:avLst/>
          </a:prstGeom>
          <a:solidFill>
            <a:srgbClr val="1A2E28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000" b="1">
                <a:solidFill>
                  <a:srgbClr val="E8EAED"/>
                </a:solidFill>
              </a:defRPr>
            </a:pPr>
            <a:r>
              <a:t>Admin UI</a:t>
            </a:r>
          </a:p>
          <a:p>
            <a:pPr algn="ctr">
              <a:spcBef>
                <a:spcPts val="300"/>
              </a:spcBef>
              <a:defRPr sz="700">
                <a:solidFill>
                  <a:srgbClr val="9CA3AF"/>
                </a:solidFill>
              </a:defRPr>
            </a:pPr>
            <a:r>
              <a:t>пакеты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25400">
            <a:solidFill>
              <a:srgbClr val="9B7E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406640" y="3383280"/>
            <a:ext cx="4251960" cy="2788920"/>
          </a:xfrm>
          <a:prstGeom prst="roundRect">
            <a:avLst/>
          </a:prstGeom>
          <a:solidFill>
            <a:srgbClr val="1A202C"/>
          </a:solidFill>
          <a:ln w="1270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498080" y="3474720"/>
            <a:ext cx="4069080" cy="2606040"/>
          </a:xfrm>
          <a:prstGeom prst="roundRect">
            <a:avLst/>
          </a:prstGeom>
          <a:solidFill>
            <a:srgbClr val="182030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hero — админка + телефон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652760" y="3456432"/>
            <a:ext cx="914400" cy="219456"/>
          </a:xfrm>
          <a:prstGeom prst="round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600" b="1">
                <a:solidFill>
                  <a:srgbClr val="E8EAED"/>
                </a:solidFill>
              </a:defRPr>
            </a:pPr>
            <a:r>
              <a:t>SCREENSHOT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0E18"/>
            </a:gs>
            <a:gs pos="100000">
              <a:srgbClr val="182030"/>
            </a:gs>
          </a:gsLst>
          <a:lin ang="135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097280" y="-914400"/>
            <a:ext cx="3200400" cy="3200400"/>
          </a:xfrm>
          <a:prstGeom prst="ellipse">
            <a:avLst/>
          </a:prstGeom>
          <a:solidFill>
            <a:srgbClr val="3A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15600" y="5303520"/>
            <a:ext cx="2560320" cy="2560320"/>
          </a:xfrm>
          <a:prstGeom prst="ellipse">
            <a:avLst/>
          </a:prstGeom>
          <a:solidFill>
            <a:srgbClr val="2A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65836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</a:defRPr>
            </a:pPr>
            <a:r>
              <a:t>Data Collector  ·  Epoch8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83680"/>
            <a:ext cx="822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</a:defRPr>
            </a:pPr>
            <a:r>
              <a:t>02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1480"/>
            <a:ext cx="1645920" cy="292608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B8DEF"/>
                </a:solidFill>
              </a:defRPr>
            </a:pPr>
            <a:r>
              <a:t>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777240"/>
            <a:ext cx="10058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E8EAED"/>
                </a:solidFill>
              </a:defRPr>
            </a:pPr>
            <a:r>
              <a:t>Зачем это нужно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490472"/>
            <a:ext cx="2011680" cy="4572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4360" y="1837944"/>
            <a:ext cx="45720" cy="420624"/>
          </a:xfrm>
          <a:prstGeom prst="rect">
            <a:avLst/>
          </a:prstGeom>
          <a:solidFill>
            <a:srgbClr val="E8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67512" y="1783080"/>
            <a:ext cx="559612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t>Проблема: каждый сценарий сбора = новая форма в коде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441448"/>
            <a:ext cx="45720" cy="420624"/>
          </a:xfrm>
          <a:prstGeom prst="rect">
            <a:avLst/>
          </a:prstGeom>
          <a:solidFill>
            <a:srgbClr val="E8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67512" y="2386584"/>
            <a:ext cx="559612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t>Проблема: фото и метаданные теряются в мессенджерах и Excel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3044952"/>
            <a:ext cx="45720" cy="420624"/>
          </a:xfrm>
          <a:prstGeom prst="rect">
            <a:avLst/>
          </a:prstGeom>
          <a:solidFill>
            <a:srgbClr val="E87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67512" y="2990088"/>
            <a:ext cx="559612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t>Проблема: нет единого места «что собрали» и «что дальше»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3739896"/>
            <a:ext cx="45720" cy="585216"/>
          </a:xfrm>
          <a:prstGeom prst="rect">
            <a:avLst/>
          </a:prstGeom>
          <a:solidFill>
            <a:srgbClr val="3DCC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67512" y="3685032"/>
            <a:ext cx="5596128" cy="694944"/>
          </a:xfrm>
          <a:prstGeom prst="roundRect">
            <a:avLst/>
          </a:prstGeom>
          <a:solidFill>
            <a:srgbClr val="142822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3DCC85"/>
                </a:solidFill>
              </a:defRPr>
            </a:pPr>
            <a:r>
              <a:t>Решение: конфиг → UI в приложении → пакет на сервер → просмотр в админке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960120"/>
            <a:ext cx="5074920" cy="5349240"/>
          </a:xfrm>
          <a:prstGeom prst="roundRect">
            <a:avLst/>
          </a:prstGeom>
          <a:solidFill>
            <a:srgbClr val="1A202C"/>
          </a:solidFill>
          <a:ln w="1270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629400" y="1051560"/>
            <a:ext cx="4892040" cy="5166360"/>
          </a:xfrm>
          <a:prstGeom prst="roundRect">
            <a:avLst/>
          </a:prstGeom>
          <a:solidFill>
            <a:srgbClr val="182030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до / после — хаос vs список пакетов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07040" y="1033272"/>
            <a:ext cx="914400" cy="219456"/>
          </a:xfrm>
          <a:prstGeom prst="round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600" b="1">
                <a:solidFill>
                  <a:srgbClr val="E8EAED"/>
                </a:solidFill>
              </a:defRPr>
            </a:pPr>
            <a:r>
              <a:t>SCREENSHOT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0E18"/>
            </a:gs>
            <a:gs pos="100000">
              <a:srgbClr val="182030"/>
            </a:gs>
          </a:gsLst>
          <a:lin ang="135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097280" y="-914400"/>
            <a:ext cx="3200400" cy="3200400"/>
          </a:xfrm>
          <a:prstGeom prst="ellipse">
            <a:avLst/>
          </a:prstGeom>
          <a:solidFill>
            <a:srgbClr val="3A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15600" y="5303520"/>
            <a:ext cx="2560320" cy="2560320"/>
          </a:xfrm>
          <a:prstGeom prst="ellipse">
            <a:avLst/>
          </a:prstGeom>
          <a:solidFill>
            <a:srgbClr val="2A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65836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</a:defRPr>
            </a:pPr>
            <a:r>
              <a:t>Data Collector  ·  Epoch8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83680"/>
            <a:ext cx="822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</a:defRPr>
            </a:pPr>
            <a:r>
              <a:t>03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1480"/>
            <a:ext cx="1645920" cy="292608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B8DEF"/>
                </a:solidFill>
              </a:defRPr>
            </a:pPr>
            <a:r>
              <a:t>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777240"/>
            <a:ext cx="10058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E8EAED"/>
                </a:solidFill>
              </a:defRPr>
            </a:pPr>
            <a:r>
              <a:t>Из чего состоит продукт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490472"/>
            <a:ext cx="2011680" cy="4572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94360" y="1783080"/>
            <a:ext cx="5669280" cy="960120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04088" y="1965960"/>
            <a:ext cx="457200" cy="457200"/>
          </a:xfrm>
          <a:prstGeom prst="roundRect">
            <a:avLst/>
          </a:prstGeom>
          <a:solidFill>
            <a:srgbClr val="283248"/>
          </a:solidFill>
          <a:ln w="1270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874520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D4A84B"/>
                </a:solidFill>
              </a:defRPr>
            </a:pPr>
            <a:r>
              <a:t>Staff Admin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130552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</a:defRPr>
            </a:pPr>
            <a:r>
              <a:rPr dirty="0"/>
              <a:t>Epoch8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1965960"/>
            <a:ext cx="29260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конфиг · Git · пользователи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2834640"/>
            <a:ext cx="5669280" cy="960120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04088" y="3017520"/>
            <a:ext cx="457200" cy="457200"/>
          </a:xfrm>
          <a:prstGeom prst="roundRect">
            <a:avLst/>
          </a:prstGeom>
          <a:solidFill>
            <a:srgbClr val="283248"/>
          </a:solidFill>
          <a:ln w="1270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2926080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DCC85"/>
                </a:solidFill>
              </a:defRPr>
            </a:pPr>
            <a:r>
              <a:t>Client Admin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82112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</a:defRPr>
            </a:pPr>
            <a:r>
              <a:t>Заказчик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017520"/>
            <a:ext cx="29260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rPr dirty="0" err="1"/>
              <a:t>просмотр</a:t>
            </a:r>
            <a:r>
              <a:rPr dirty="0"/>
              <a:t> </a:t>
            </a:r>
            <a:r>
              <a:rPr dirty="0" err="1"/>
              <a:t>пакетов</a:t>
            </a:r>
            <a:r>
              <a:rPr dirty="0"/>
              <a:t> · </a:t>
            </a:r>
            <a:r>
              <a:rPr lang="ru-RU" dirty="0"/>
              <a:t>визуализации </a:t>
            </a:r>
            <a:r>
              <a:rPr lang="ru-RU" dirty="0" err="1"/>
              <a:t>пайплайнов</a:t>
            </a:r>
            <a:r>
              <a:rPr lang="ru-RU" dirty="0"/>
              <a:t> над данными</a:t>
            </a:r>
            <a:endParaRPr dirty="0"/>
          </a:p>
        </p:txBody>
      </p:sp>
      <p:sp>
        <p:nvSpPr>
          <p:cNvPr id="22" name="Rounded Rectangle 21"/>
          <p:cNvSpPr/>
          <p:nvPr/>
        </p:nvSpPr>
        <p:spPr>
          <a:xfrm>
            <a:off x="594360" y="3886200"/>
            <a:ext cx="5669280" cy="960120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04088" y="4069080"/>
            <a:ext cx="457200" cy="457200"/>
          </a:xfrm>
          <a:prstGeom prst="roundRect">
            <a:avLst/>
          </a:prstGeom>
          <a:solidFill>
            <a:srgbClr val="283248"/>
          </a:solidFill>
          <a:ln w="1270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977640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9B7ED0"/>
                </a:solidFill>
              </a:defRPr>
            </a:pPr>
            <a:r>
              <a:t>Flutter App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233672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</a:defRPr>
            </a:pPr>
            <a:r>
              <a:t>Сборщик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069080"/>
            <a:ext cx="292608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rPr dirty="0" err="1"/>
              <a:t>сбор</a:t>
            </a:r>
            <a:r>
              <a:rPr dirty="0"/>
              <a:t> · </a:t>
            </a:r>
            <a:r>
              <a:rPr dirty="0" err="1"/>
              <a:t>офлайн</a:t>
            </a:r>
            <a:r>
              <a:rPr dirty="0"/>
              <a:t> · </a:t>
            </a:r>
            <a:r>
              <a:rPr lang="ru-RU" dirty="0"/>
              <a:t>загрузка</a:t>
            </a:r>
            <a:endParaRPr dirty="0"/>
          </a:p>
        </p:txBody>
      </p:sp>
      <p:sp>
        <p:nvSpPr>
          <p:cNvPr id="27" name="Rounded Rectangle 26"/>
          <p:cNvSpPr/>
          <p:nvPr/>
        </p:nvSpPr>
        <p:spPr>
          <a:xfrm>
            <a:off x="594360" y="4937760"/>
            <a:ext cx="5669280" cy="960120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04088" y="5120640"/>
            <a:ext cx="457200" cy="457200"/>
          </a:xfrm>
          <a:prstGeom prst="roundRect">
            <a:avLst/>
          </a:prstGeom>
          <a:solidFill>
            <a:srgbClr val="283248"/>
          </a:solidFill>
          <a:ln w="1270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5029200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5B8DEF"/>
                </a:solidFill>
              </a:defRPr>
            </a:pPr>
            <a:r>
              <a:t>Django + storage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5285232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</a:defRPr>
            </a:pPr>
            <a:r>
              <a:t>Платформа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5120640"/>
            <a:ext cx="292608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rPr dirty="0"/>
              <a:t>API · БД · </a:t>
            </a:r>
            <a:r>
              <a:rPr dirty="0" err="1"/>
              <a:t>медиа</a:t>
            </a:r>
            <a:r>
              <a:rPr lang="ru-RU" dirty="0"/>
              <a:t> хранилище</a:t>
            </a:r>
            <a:endParaRPr dirty="0"/>
          </a:p>
        </p:txBody>
      </p:sp>
      <p:sp>
        <p:nvSpPr>
          <p:cNvPr id="32" name="Rounded Rectangle 31"/>
          <p:cNvSpPr/>
          <p:nvPr/>
        </p:nvSpPr>
        <p:spPr>
          <a:xfrm>
            <a:off x="6537960" y="960120"/>
            <a:ext cx="5074920" cy="5349240"/>
          </a:xfrm>
          <a:prstGeom prst="roundRect">
            <a:avLst/>
          </a:prstGeom>
          <a:solidFill>
            <a:srgbClr val="0A0E18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684264" y="1943474"/>
            <a:ext cx="1508760" cy="530352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000" b="1">
                <a:solidFill>
                  <a:srgbClr val="E8EAED"/>
                </a:solidFill>
              </a:defRPr>
            </a:pPr>
            <a:r>
              <a:t>Flutter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1040" y="1943474"/>
            <a:ext cx="1508760" cy="530352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000" b="1">
                <a:solidFill>
                  <a:srgbClr val="E8EAED"/>
                </a:solidFill>
              </a:defRPr>
            </a:pPr>
            <a:r>
              <a:t>Staff Admin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57816" y="1943474"/>
            <a:ext cx="1508760" cy="530352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000" b="1">
                <a:solidFill>
                  <a:srgbClr val="E8EAED"/>
                </a:solidFill>
              </a:defRPr>
            </a:pPr>
            <a:r>
              <a:t>Client Admin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84264" y="2729858"/>
            <a:ext cx="4782312" cy="530352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000" b="1">
                <a:solidFill>
                  <a:srgbClr val="E8EAED"/>
                </a:solidFill>
              </a:defRPr>
            </a:pPr>
            <a:r>
              <a:t>django_server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0" y="1655064"/>
            <a:ext cx="0" cy="256032"/>
          </a:xfrm>
          <a:prstGeom prst="line">
            <a:avLst/>
          </a:prstGeom>
          <a:ln w="25400">
            <a:solidFill>
              <a:srgbClr val="5B8D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684264" y="3516242"/>
            <a:ext cx="4782312" cy="530352"/>
          </a:xfrm>
          <a:prstGeom prst="roundRect">
            <a:avLst/>
          </a:prstGeom>
          <a:solidFill>
            <a:srgbClr val="1A3329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000" b="1">
                <a:solidFill>
                  <a:srgbClr val="E8EAED"/>
                </a:solidFill>
              </a:defRPr>
            </a:pPr>
            <a:r>
              <a:t>DB + медиа</a:t>
            </a:r>
          </a:p>
          <a:p>
            <a:pPr algn="ctr">
              <a:spcBef>
                <a:spcPts val="300"/>
              </a:spcBef>
              <a:defRPr sz="700">
                <a:solidFill>
                  <a:srgbClr val="9CA3AF"/>
                </a:solidFill>
              </a:defRPr>
            </a:pPr>
            <a:r>
              <a:t>пакеты всех проектов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0" y="2441448"/>
            <a:ext cx="0" cy="256032"/>
          </a:xfrm>
          <a:prstGeom prst="line">
            <a:avLst/>
          </a:prstGeom>
          <a:ln w="25400">
            <a:solidFill>
              <a:srgbClr val="3DCC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7772918" y="4306824"/>
            <a:ext cx="2788402" cy="1435608"/>
          </a:xfrm>
          <a:prstGeom prst="roundRect">
            <a:avLst/>
          </a:prstGeom>
          <a:solidFill>
            <a:srgbClr val="1E2433"/>
          </a:solidFill>
          <a:ln w="19050">
            <a:solidFill>
              <a:srgbClr val="8BC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000" b="1">
                <a:solidFill>
                  <a:srgbClr val="E8EAED"/>
                </a:solidFill>
              </a:defRPr>
            </a:pPr>
            <a:r>
              <a:rPr dirty="0" err="1"/>
              <a:t>Проект</a:t>
            </a:r>
            <a:r>
              <a:rPr dirty="0"/>
              <a:t> × N</a:t>
            </a:r>
          </a:p>
          <a:p>
            <a:pPr algn="ctr">
              <a:spcBef>
                <a:spcPts val="300"/>
              </a:spcBef>
              <a:defRPr sz="800">
                <a:solidFill>
                  <a:srgbClr val="9CA3AF"/>
                </a:solidFill>
              </a:defRPr>
            </a:pPr>
            <a:r>
              <a:rPr lang="ru-RU" dirty="0"/>
              <a:t>В виде </a:t>
            </a:r>
            <a:r>
              <a:rPr dirty="0"/>
              <a:t>Git</a:t>
            </a:r>
            <a:r>
              <a:rPr lang="ru-RU" dirty="0"/>
              <a:t> репозиториев </a:t>
            </a:r>
            <a:endParaRPr dirty="0"/>
          </a:p>
        </p:txBody>
      </p:sp>
      <p:cxnSp>
        <p:nvCxnSpPr>
          <p:cNvPr id="41" name="Connector 40"/>
          <p:cNvCxnSpPr/>
          <p:nvPr/>
        </p:nvCxnSpPr>
        <p:spPr>
          <a:xfrm>
            <a:off x="0" y="3227832"/>
            <a:ext cx="0" cy="256032"/>
          </a:xfrm>
          <a:prstGeom prst="line">
            <a:avLst/>
          </a:prstGeom>
          <a:ln w="25400">
            <a:solidFill>
              <a:srgbClr val="8BC9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0E18"/>
            </a:gs>
            <a:gs pos="100000">
              <a:srgbClr val="182030"/>
            </a:gs>
          </a:gsLst>
          <a:lin ang="135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097280" y="-914400"/>
            <a:ext cx="3200400" cy="3200400"/>
          </a:xfrm>
          <a:prstGeom prst="ellipse">
            <a:avLst/>
          </a:prstGeom>
          <a:solidFill>
            <a:srgbClr val="3A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15600" y="5303520"/>
            <a:ext cx="2560320" cy="2560320"/>
          </a:xfrm>
          <a:prstGeom prst="ellipse">
            <a:avLst/>
          </a:prstGeom>
          <a:solidFill>
            <a:srgbClr val="2A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65836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</a:defRPr>
            </a:pPr>
            <a:r>
              <a:t>Data Collector  ·  Epoch8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83680"/>
            <a:ext cx="822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</a:defRPr>
            </a:pPr>
            <a:r>
              <a:t>04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1480"/>
            <a:ext cx="1645920" cy="292608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B8DEF"/>
                </a:solidFill>
              </a:defRPr>
            </a:pPr>
            <a:r>
              <a:t>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777240"/>
            <a:ext cx="10058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E8EAED"/>
                </a:solidFill>
              </a:defRPr>
            </a:pPr>
            <a:r>
              <a:t>Путь данных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490472"/>
            <a:ext cx="2011680" cy="4572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64592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</a:defRPr>
            </a:pPr>
            <a:r>
              <a:t>5 шагов от настройки до просмотра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474719"/>
            <a:ext cx="2064715" cy="96012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600" b="1">
                <a:solidFill>
                  <a:srgbClr val="E8EAED"/>
                </a:solidFill>
              </a:defRPr>
            </a:pPr>
            <a:r>
              <a:t>①</a:t>
            </a:r>
          </a:p>
          <a:p>
            <a:pPr algn="ctr">
              <a:spcBef>
                <a:spcPts val="300"/>
              </a:spcBef>
              <a:defRPr sz="1000">
                <a:solidFill>
                  <a:srgbClr val="9CA3AF"/>
                </a:solidFill>
              </a:defRPr>
            </a:pPr>
            <a:r>
              <a:t>Конфиг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25400">
            <a:solidFill>
              <a:srgbClr val="D4A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96819" y="3474719"/>
            <a:ext cx="2064715" cy="96012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600" b="1">
                <a:solidFill>
                  <a:srgbClr val="E8EAED"/>
                </a:solidFill>
              </a:defRPr>
            </a:pPr>
            <a:r>
              <a:t>②</a:t>
            </a:r>
          </a:p>
          <a:p>
            <a:pPr algn="ctr">
              <a:spcBef>
                <a:spcPts val="300"/>
              </a:spcBef>
              <a:defRPr sz="1000">
                <a:solidFill>
                  <a:srgbClr val="9CA3AF"/>
                </a:solidFill>
              </a:defRPr>
            </a:pPr>
            <a:r>
              <a:t>Синк в МП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25400">
            <a:solidFill>
              <a:srgbClr val="5B8D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071262" y="3474719"/>
            <a:ext cx="2064715" cy="96012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600" b="1">
                <a:solidFill>
                  <a:srgbClr val="E8EAED"/>
                </a:solidFill>
              </a:defRPr>
            </a:pPr>
            <a:r>
              <a:t>③</a:t>
            </a:r>
          </a:p>
          <a:p>
            <a:pPr algn="ctr">
              <a:spcBef>
                <a:spcPts val="300"/>
              </a:spcBef>
              <a:defRPr sz="1000">
                <a:solidFill>
                  <a:srgbClr val="9CA3AF"/>
                </a:solidFill>
              </a:defRPr>
            </a:pPr>
            <a:r>
              <a:t>Сбор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25400">
            <a:solidFill>
              <a:srgbClr val="9B7E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245705" y="3474719"/>
            <a:ext cx="2064715" cy="96012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600" b="1">
                <a:solidFill>
                  <a:srgbClr val="E8EAED"/>
                </a:solidFill>
              </a:defRPr>
            </a:pPr>
            <a:r>
              <a:t>④</a:t>
            </a:r>
          </a:p>
          <a:p>
            <a:pPr algn="ctr">
              <a:spcBef>
                <a:spcPts val="300"/>
              </a:spcBef>
              <a:defRPr sz="1000">
                <a:solidFill>
                  <a:srgbClr val="9CA3AF"/>
                </a:solidFill>
              </a:defRPr>
            </a:pPr>
            <a:r>
              <a:t>Upload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25400">
            <a:solidFill>
              <a:srgbClr val="9B7E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420148" y="3474719"/>
            <a:ext cx="2064715" cy="96012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600" b="1">
                <a:solidFill>
                  <a:srgbClr val="E8EAED"/>
                </a:solidFill>
              </a:defRPr>
            </a:pPr>
            <a:r>
              <a:t>⑤</a:t>
            </a:r>
          </a:p>
          <a:p>
            <a:pPr algn="ctr">
              <a:spcBef>
                <a:spcPts val="300"/>
              </a:spcBef>
              <a:defRPr sz="1000">
                <a:solidFill>
                  <a:srgbClr val="9CA3AF"/>
                </a:solidFill>
              </a:defRPr>
            </a:pPr>
            <a:r>
              <a:t>Админка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0E18"/>
            </a:gs>
            <a:gs pos="100000">
              <a:srgbClr val="182030"/>
            </a:gs>
          </a:gsLst>
          <a:lin ang="135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097280" y="-914400"/>
            <a:ext cx="3200400" cy="3200400"/>
          </a:xfrm>
          <a:prstGeom prst="ellipse">
            <a:avLst/>
          </a:prstGeom>
          <a:solidFill>
            <a:srgbClr val="3A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15600" y="5303520"/>
            <a:ext cx="2560320" cy="2560320"/>
          </a:xfrm>
          <a:prstGeom prst="ellipse">
            <a:avLst/>
          </a:prstGeom>
          <a:solidFill>
            <a:srgbClr val="2A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65836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</a:defRPr>
            </a:pPr>
            <a:r>
              <a:t>Data Collector  ·  Epoch8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83680"/>
            <a:ext cx="822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</a:defRPr>
            </a:pPr>
            <a:r>
              <a:t>05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1480"/>
            <a:ext cx="1645920" cy="292608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B8DEF"/>
                </a:solidFill>
              </a:defRPr>
            </a:pPr>
            <a:r>
              <a:t>CONFIG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777240"/>
            <a:ext cx="10058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E8EAED"/>
                </a:solidFill>
              </a:defRPr>
            </a:pPr>
            <a:r>
              <a:t>Конфиг = сценарий без кода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490472"/>
            <a:ext cx="2011680" cy="4572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592197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</a:defRPr>
            </a:pPr>
            <a:r>
              <a:t>JSON в Git описывает сбор и просмотр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5968" y="2422470"/>
            <a:ext cx="45720" cy="420624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79120" y="2367606"/>
            <a:ext cx="559612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t>fields — какие поля собираем (текст, фото, дата…)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68" y="3025974"/>
            <a:ext cx="45720" cy="420624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79120" y="2971110"/>
            <a:ext cx="559612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t>flow — порядок экранов в мобилке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5968" y="3629478"/>
            <a:ext cx="45720" cy="420624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79120" y="3574614"/>
            <a:ext cx="559612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t>viz.json — как показывать пакет в админке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5968" y="4324422"/>
            <a:ext cx="45720" cy="420624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79120" y="4269558"/>
            <a:ext cx="559612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rPr dirty="0" err="1"/>
              <a:t>Новый</a:t>
            </a:r>
            <a:r>
              <a:rPr dirty="0"/>
              <a:t> </a:t>
            </a:r>
            <a:r>
              <a:rPr dirty="0" err="1"/>
              <a:t>сценарий</a:t>
            </a:r>
            <a:r>
              <a:rPr dirty="0"/>
              <a:t> = </a:t>
            </a:r>
            <a:r>
              <a:rPr dirty="0" err="1"/>
              <a:t>правка</a:t>
            </a:r>
            <a:r>
              <a:rPr lang="en-US" dirty="0"/>
              <a:t>/</a:t>
            </a:r>
            <a:r>
              <a:rPr lang="ru-RU" dirty="0"/>
              <a:t>новый</a:t>
            </a:r>
            <a:r>
              <a:rPr dirty="0"/>
              <a:t> JSON, </a:t>
            </a:r>
            <a:r>
              <a:rPr lang="ru-RU" dirty="0"/>
              <a:t>а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релиз</a:t>
            </a:r>
            <a:r>
              <a:rPr dirty="0"/>
              <a:t> </a:t>
            </a:r>
            <a:r>
              <a:rPr lang="ru-RU" dirty="0"/>
              <a:t>нового </a:t>
            </a:r>
            <a:r>
              <a:rPr dirty="0" err="1"/>
              <a:t>приложения</a:t>
            </a:r>
            <a:endParaRPr dirty="0"/>
          </a:p>
        </p:txBody>
      </p:sp>
      <p:sp>
        <p:nvSpPr>
          <p:cNvPr id="20" name="Rounded Rectangle 19"/>
          <p:cNvSpPr/>
          <p:nvPr/>
        </p:nvSpPr>
        <p:spPr>
          <a:xfrm>
            <a:off x="6611112" y="2495622"/>
            <a:ext cx="5074920" cy="2011680"/>
          </a:xfrm>
          <a:prstGeom prst="roundRect">
            <a:avLst/>
          </a:prstGeom>
          <a:solidFill>
            <a:srgbClr val="0A0E18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757416" y="2696790"/>
            <a:ext cx="1520952" cy="658368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100" b="1">
                <a:solidFill>
                  <a:srgbClr val="E8EAED"/>
                </a:solidFill>
              </a:defRPr>
            </a:pPr>
            <a:r>
              <a:t>fields</a:t>
            </a:r>
          </a:p>
          <a:p>
            <a:pPr algn="ctr">
              <a:spcBef>
                <a:spcPts val="300"/>
              </a:spcBef>
              <a:defRPr sz="800">
                <a:solidFill>
                  <a:srgbClr val="9CA3AF"/>
                </a:solidFill>
              </a:defRPr>
            </a:pPr>
            <a:r>
              <a:t>что собираем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25400">
            <a:solidFill>
              <a:srgbClr val="5B8D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388096" y="2696790"/>
            <a:ext cx="1520952" cy="658368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100" b="1">
                <a:solidFill>
                  <a:srgbClr val="E8EAED"/>
                </a:solidFill>
              </a:defRPr>
            </a:pPr>
            <a:r>
              <a:t>flow</a:t>
            </a:r>
          </a:p>
          <a:p>
            <a:pPr algn="ctr">
              <a:spcBef>
                <a:spcPts val="300"/>
              </a:spcBef>
              <a:defRPr sz="800">
                <a:solidFill>
                  <a:srgbClr val="9CA3AF"/>
                </a:solidFill>
              </a:defRPr>
            </a:pPr>
            <a:r>
              <a:t>порядок экранов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25400">
            <a:solidFill>
              <a:srgbClr val="9B7E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0018776" y="2696790"/>
            <a:ext cx="1520952" cy="658368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100" b="1">
                <a:solidFill>
                  <a:srgbClr val="E8EAED"/>
                </a:solidFill>
              </a:defRPr>
            </a:pPr>
            <a:r>
              <a:t>package</a:t>
            </a:r>
          </a:p>
          <a:p>
            <a:pPr algn="ctr">
              <a:spcBef>
                <a:spcPts val="300"/>
              </a:spcBef>
              <a:defRPr sz="800">
                <a:solidFill>
                  <a:srgbClr val="9CA3AF"/>
                </a:solidFill>
              </a:defRPr>
            </a:pPr>
            <a:r>
              <a:t>результат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57416" y="3464886"/>
            <a:ext cx="478231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CA3AF"/>
                </a:solidFill>
              </a:defRPr>
            </a:pPr>
            <a:r>
              <a:t>JSON в Git → UI в приложении → те же поля в админке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0E18"/>
            </a:gs>
            <a:gs pos="100000">
              <a:srgbClr val="182030"/>
            </a:gs>
          </a:gsLst>
          <a:lin ang="135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097280" y="-914400"/>
            <a:ext cx="3200400" cy="3200400"/>
          </a:xfrm>
          <a:prstGeom prst="ellipse">
            <a:avLst/>
          </a:prstGeom>
          <a:solidFill>
            <a:srgbClr val="3A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15600" y="5303520"/>
            <a:ext cx="2560320" cy="2560320"/>
          </a:xfrm>
          <a:prstGeom prst="ellipse">
            <a:avLst/>
          </a:prstGeom>
          <a:solidFill>
            <a:srgbClr val="2A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65836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</a:defRPr>
            </a:pPr>
            <a:r>
              <a:t>Data Collector  ·  Epoch8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83680"/>
            <a:ext cx="822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</a:defRPr>
            </a:pPr>
            <a:r>
              <a:t>06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1480"/>
            <a:ext cx="1645920" cy="292608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D4A84B"/>
                </a:solidFill>
              </a:defRPr>
            </a:pPr>
            <a:r>
              <a:t>STEP 01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347472"/>
            <a:ext cx="457200" cy="457200"/>
          </a:xfrm>
          <a:prstGeom prst="ellipse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21218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932688"/>
            <a:ext cx="10058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E8EAED"/>
                </a:solidFill>
              </a:defRPr>
            </a:pPr>
            <a:r>
              <a:t>Админ настраивает проект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645920"/>
            <a:ext cx="2011680" cy="4572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4360" y="1901952"/>
            <a:ext cx="45720" cy="420624"/>
          </a:xfrm>
          <a:prstGeom prst="rect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67512" y="1847088"/>
            <a:ext cx="559612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rPr dirty="0" err="1"/>
              <a:t>Создаёт</a:t>
            </a:r>
            <a:r>
              <a:rPr dirty="0"/>
              <a:t> </a:t>
            </a:r>
            <a:r>
              <a:rPr dirty="0" err="1"/>
              <a:t>проект</a:t>
            </a:r>
            <a:r>
              <a:rPr dirty="0"/>
              <a:t> и </a:t>
            </a:r>
            <a:r>
              <a:rPr dirty="0" err="1"/>
              <a:t>привязывает</a:t>
            </a:r>
            <a:r>
              <a:rPr dirty="0"/>
              <a:t> Git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505456"/>
            <a:ext cx="45720" cy="420624"/>
          </a:xfrm>
          <a:prstGeom prst="rect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67512" y="2450592"/>
            <a:ext cx="559612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t>Редактирует config.json: fields + flow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3108960"/>
            <a:ext cx="45720" cy="420624"/>
          </a:xfrm>
          <a:prstGeom prst="rect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67512" y="3054096"/>
            <a:ext cx="559612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t>Назначает сборщиков на проект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45720" cy="420624"/>
          </a:xfrm>
          <a:prstGeom prst="rect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67512" y="3657600"/>
            <a:ext cx="559612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t>Сохраняет → commit + push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960120"/>
            <a:ext cx="5074920" cy="5349240"/>
          </a:xfrm>
          <a:prstGeom prst="roundRect">
            <a:avLst/>
          </a:prstGeom>
          <a:solidFill>
            <a:srgbClr val="1A202C"/>
          </a:solidFill>
          <a:ln w="1270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0607040" y="1033272"/>
            <a:ext cx="914400" cy="219456"/>
          </a:xfrm>
          <a:prstGeom prst="roundRect">
            <a:avLst/>
          </a:prstGeom>
          <a:solidFill>
            <a:srgbClr val="D4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600" b="1">
                <a:solidFill>
                  <a:srgbClr val="E8EAED"/>
                </a:solidFill>
              </a:defRPr>
            </a:pPr>
            <a:r>
              <a:t>SCREENSHOT</a:t>
            </a:r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AFE9A92E-D6AE-4642-84D1-585EBD8590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5360" y="1280160"/>
            <a:ext cx="4506617" cy="475021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0E18"/>
            </a:gs>
            <a:gs pos="100000">
              <a:srgbClr val="182030"/>
            </a:gs>
          </a:gsLst>
          <a:lin ang="135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097280" y="-914400"/>
            <a:ext cx="3200400" cy="3200400"/>
          </a:xfrm>
          <a:prstGeom prst="ellipse">
            <a:avLst/>
          </a:prstGeom>
          <a:solidFill>
            <a:srgbClr val="3A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15600" y="5303520"/>
            <a:ext cx="2560320" cy="2560320"/>
          </a:xfrm>
          <a:prstGeom prst="ellipse">
            <a:avLst/>
          </a:prstGeom>
          <a:solidFill>
            <a:srgbClr val="2A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65836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</a:defRPr>
            </a:pPr>
            <a:r>
              <a:t>Data Collector  ·  Epoch8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83680"/>
            <a:ext cx="822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</a:defRPr>
            </a:pPr>
            <a:r>
              <a:t>07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1480"/>
            <a:ext cx="1645920" cy="292608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B8DEF"/>
                </a:solidFill>
              </a:defRPr>
            </a:pPr>
            <a:r>
              <a:t>STEP 02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347472"/>
            <a:ext cx="457200" cy="457200"/>
          </a:xfrm>
          <a:prstGeom prst="ellipse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21218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932688"/>
            <a:ext cx="10058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E8EAED"/>
                </a:solidFill>
              </a:defRPr>
            </a:pPr>
            <a:r>
              <a:t>Конфиг в приложении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645920"/>
            <a:ext cx="2011680" cy="4572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4360" y="1901952"/>
            <a:ext cx="45720" cy="420624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67512" y="1847088"/>
            <a:ext cx="559612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t>Сборщик логинится и видит свои проекты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505456"/>
            <a:ext cx="45720" cy="420624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67512" y="2450592"/>
            <a:ext cx="559612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t>Приложение скачивает config с сервера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3108960"/>
            <a:ext cx="45720" cy="420624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67512" y="3054096"/>
            <a:ext cx="559612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t>Кэширует локально — работает офлайн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45720" cy="420624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67512" y="3657600"/>
            <a:ext cx="559612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t>Разные конфиги → разный UI в одном app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960120"/>
            <a:ext cx="5074920" cy="5349240"/>
          </a:xfrm>
          <a:prstGeom prst="roundRect">
            <a:avLst/>
          </a:prstGeom>
          <a:solidFill>
            <a:srgbClr val="1A202C"/>
          </a:solidFill>
          <a:ln w="1270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629400" y="1051560"/>
            <a:ext cx="4892040" cy="5166360"/>
          </a:xfrm>
          <a:prstGeom prst="roundRect">
            <a:avLst/>
          </a:prstGeom>
          <a:solidFill>
            <a:srgbClr val="182030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список проектов · форма · камера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07040" y="1033272"/>
            <a:ext cx="914400" cy="219456"/>
          </a:xfrm>
          <a:prstGeom prst="round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600" b="1">
                <a:solidFill>
                  <a:srgbClr val="E8EAED"/>
                </a:solidFill>
              </a:defRPr>
            </a:pPr>
            <a:r>
              <a:t>SCREENSHOT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0E18"/>
            </a:gs>
            <a:gs pos="100000">
              <a:srgbClr val="182030"/>
            </a:gs>
          </a:gsLst>
          <a:lin ang="135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097280" y="-914400"/>
            <a:ext cx="3200400" cy="3200400"/>
          </a:xfrm>
          <a:prstGeom prst="ellipse">
            <a:avLst/>
          </a:prstGeom>
          <a:solidFill>
            <a:srgbClr val="3A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15600" y="5303520"/>
            <a:ext cx="2560320" cy="2560320"/>
          </a:xfrm>
          <a:prstGeom prst="ellipse">
            <a:avLst/>
          </a:prstGeom>
          <a:solidFill>
            <a:srgbClr val="2A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B7E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65836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</a:defRPr>
            </a:pPr>
            <a:r>
              <a:t>Data Collector  ·  Epoch8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83680"/>
            <a:ext cx="822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</a:defRPr>
            </a:pPr>
            <a:r>
              <a:t>08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1480"/>
            <a:ext cx="1645920" cy="292608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9B7ED0"/>
                </a:solidFill>
              </a:defRPr>
            </a:pPr>
            <a:r>
              <a:t>STEP 03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347472"/>
            <a:ext cx="457200" cy="457200"/>
          </a:xfrm>
          <a:prstGeom prst="ellipse">
            <a:avLst/>
          </a:prstGeom>
          <a:solidFill>
            <a:srgbClr val="9B7E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21218"/>
                </a:solidFill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932688"/>
            <a:ext cx="10058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E8EAED"/>
                </a:solidFill>
              </a:defRPr>
            </a:pPr>
            <a:r>
              <a:t>Сборщик сдаёт пакет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645920"/>
            <a:ext cx="2011680" cy="4572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4360" y="1901952"/>
            <a:ext cx="45720" cy="420624"/>
          </a:xfrm>
          <a:prstGeom prst="rect">
            <a:avLst/>
          </a:prstGeom>
          <a:solidFill>
            <a:srgbClr val="9B7E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67512" y="1847088"/>
            <a:ext cx="559612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t>Проходит сценарий по config.flow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505456"/>
            <a:ext cx="45720" cy="420624"/>
          </a:xfrm>
          <a:prstGeom prst="rect">
            <a:avLst/>
          </a:prstGeom>
          <a:solidFill>
            <a:srgbClr val="9B7E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67512" y="2450592"/>
            <a:ext cx="559612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t>Пакет = поля + фото + манифест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3108960"/>
            <a:ext cx="45720" cy="420624"/>
          </a:xfrm>
          <a:prstGeom prst="rect">
            <a:avLst/>
          </a:prstGeom>
          <a:solidFill>
            <a:srgbClr val="9B7E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67512" y="3054096"/>
            <a:ext cx="559612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t>Черновик сохраняется локально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45720" cy="420624"/>
          </a:xfrm>
          <a:prstGeom prst="rect">
            <a:avLst/>
          </a:prstGeom>
          <a:solidFill>
            <a:srgbClr val="9B7E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67512" y="3657600"/>
            <a:ext cx="559612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t>Upload на сервер при появлении сети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960120"/>
            <a:ext cx="5074920" cy="5349240"/>
          </a:xfrm>
          <a:prstGeom prst="roundRect">
            <a:avLst/>
          </a:prstGeom>
          <a:solidFill>
            <a:srgbClr val="1A202C"/>
          </a:solidFill>
          <a:ln w="1270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629400" y="1051560"/>
            <a:ext cx="4892040" cy="5166360"/>
          </a:xfrm>
          <a:prstGeom prst="roundRect">
            <a:avLst/>
          </a:prstGeom>
          <a:solidFill>
            <a:srgbClr val="182030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форма · review · статус загрузки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07040" y="1033272"/>
            <a:ext cx="914400" cy="219456"/>
          </a:xfrm>
          <a:prstGeom prst="roundRect">
            <a:avLst/>
          </a:prstGeom>
          <a:solidFill>
            <a:srgbClr val="9B7E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600" b="1">
                <a:solidFill>
                  <a:srgbClr val="E8EAED"/>
                </a:solidFill>
              </a:defRPr>
            </a:pPr>
            <a:r>
              <a:t>SCREENSHOT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0E18"/>
            </a:gs>
            <a:gs pos="100000">
              <a:srgbClr val="182030"/>
            </a:gs>
          </a:gsLst>
          <a:lin ang="135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097280" y="-914400"/>
            <a:ext cx="3200400" cy="3200400"/>
          </a:xfrm>
          <a:prstGeom prst="ellipse">
            <a:avLst/>
          </a:prstGeom>
          <a:solidFill>
            <a:srgbClr val="3A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15600" y="5303520"/>
            <a:ext cx="2560320" cy="2560320"/>
          </a:xfrm>
          <a:prstGeom prst="ellipse">
            <a:avLst/>
          </a:prstGeom>
          <a:solidFill>
            <a:srgbClr val="2A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DCC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65836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</a:defRPr>
            </a:pPr>
            <a:r>
              <a:t>Data Collector  ·  Epoch8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83680"/>
            <a:ext cx="822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</a:defRPr>
            </a:pPr>
            <a:r>
              <a:t>09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1480"/>
            <a:ext cx="1645920" cy="292608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DCC85"/>
                </a:solidFill>
              </a:defRPr>
            </a:pPr>
            <a:r>
              <a:t>STEP 04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347472"/>
            <a:ext cx="457200" cy="457200"/>
          </a:xfrm>
          <a:prstGeom prst="ellipse">
            <a:avLst/>
          </a:prstGeom>
          <a:solidFill>
            <a:srgbClr val="3DCC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21218"/>
                </a:solidFill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932688"/>
            <a:ext cx="10058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E8EAED"/>
                </a:solidFill>
              </a:defRPr>
            </a:pPr>
            <a:r>
              <a:t>Пакет принят на сервер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645920"/>
            <a:ext cx="2011680" cy="4572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4360" y="1901952"/>
            <a:ext cx="45720" cy="420624"/>
          </a:xfrm>
          <a:prstGeom prst="rect">
            <a:avLst/>
          </a:prstGeom>
          <a:solidFill>
            <a:srgbClr val="3DCC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67512" y="1847088"/>
            <a:ext cx="559612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t>После upload пакет появляется в админке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505456"/>
            <a:ext cx="45720" cy="420624"/>
          </a:xfrm>
          <a:prstGeom prst="rect">
            <a:avLst/>
          </a:prstGeom>
          <a:solidFill>
            <a:srgbClr val="3DCC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67512" y="2450592"/>
            <a:ext cx="559612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t>Привязан к project_id и config версии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3108960"/>
            <a:ext cx="45720" cy="420624"/>
          </a:xfrm>
          <a:prstGeom prst="rect">
            <a:avLst/>
          </a:prstGeom>
          <a:solidFill>
            <a:srgbClr val="3DCC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67512" y="3054096"/>
            <a:ext cx="559612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t>Манифест + blobs хранятся на сервере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45720" cy="420624"/>
          </a:xfrm>
          <a:prstGeom prst="rect">
            <a:avLst/>
          </a:prstGeom>
          <a:solidFill>
            <a:srgbClr val="3DCC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67512" y="3657600"/>
            <a:ext cx="559612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t>Готов к просмотру и анализу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960120"/>
            <a:ext cx="5074920" cy="5349240"/>
          </a:xfrm>
          <a:prstGeom prst="roundRect">
            <a:avLst/>
          </a:prstGeom>
          <a:solidFill>
            <a:srgbClr val="0A0E18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388809" y="1143000"/>
            <a:ext cx="3373221" cy="621792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100" b="1">
                <a:solidFill>
                  <a:srgbClr val="E8EAED"/>
                </a:solidFill>
              </a:defRPr>
            </a:pPr>
            <a:r>
              <a:t>/ui/packages/</a:t>
            </a:r>
          </a:p>
          <a:p>
            <a:pPr algn="ctr">
              <a:spcBef>
                <a:spcPts val="300"/>
              </a:spcBef>
              <a:defRPr sz="800">
                <a:solidFill>
                  <a:srgbClr val="9CA3AF"/>
                </a:solidFill>
              </a:defRPr>
            </a:pPr>
            <a:r>
              <a:t>список принятых пакетов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57416" y="2057400"/>
            <a:ext cx="1545336" cy="384048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900" b="1">
                <a:solidFill>
                  <a:srgbClr val="E8EAED"/>
                </a:solidFill>
              </a:defRPr>
            </a:pPr>
            <a:r>
              <a:t>проект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48472" y="2057400"/>
            <a:ext cx="1545336" cy="384048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900" b="1">
                <a:solidFill>
                  <a:srgbClr val="E8EAED"/>
                </a:solidFill>
              </a:defRPr>
            </a:pPr>
            <a:r>
              <a:t>статус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2057400"/>
            <a:ext cx="1545336" cy="384048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900" b="1">
                <a:solidFill>
                  <a:srgbClr val="E8EAED"/>
                </a:solidFill>
              </a:defRPr>
            </a:pPr>
            <a:r>
              <a:t>поиск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0" y="1764792"/>
            <a:ext cx="0" cy="292608"/>
          </a:xfrm>
          <a:prstGeom prst="line">
            <a:avLst/>
          </a:prstGeom>
          <a:ln w="25400">
            <a:solidFill>
              <a:srgbClr val="3DCC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147864" y="2587752"/>
            <a:ext cx="3855110" cy="566928"/>
          </a:xfrm>
          <a:prstGeom prst="roundRect">
            <a:avLst/>
          </a:prstGeom>
          <a:solidFill>
            <a:srgbClr val="1A2E28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100" b="1">
                <a:solidFill>
                  <a:srgbClr val="E8EAED"/>
                </a:solidFill>
              </a:defRPr>
            </a:pPr>
            <a:r>
              <a:t>Package Workspace</a:t>
            </a:r>
          </a:p>
          <a:p>
            <a:pPr algn="ctr">
              <a:spcBef>
                <a:spcPts val="300"/>
              </a:spcBef>
              <a:defRPr sz="800">
                <a:solidFill>
                  <a:srgbClr val="9CA3AF"/>
                </a:solidFill>
              </a:defRPr>
            </a:pPr>
            <a:r>
              <a:t>один пакет · все данные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0" y="2441448"/>
            <a:ext cx="0" cy="146304"/>
          </a:xfrm>
          <a:prstGeom prst="line">
            <a:avLst/>
          </a:prstGeom>
          <a:ln w="25400">
            <a:solidFill>
              <a:srgbClr val="3DCC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665976" y="3410712"/>
            <a:ext cx="1143000" cy="278892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000" b="1">
                <a:solidFill>
                  <a:srgbClr val="E8EAED"/>
                </a:solidFill>
              </a:defRPr>
            </a:pPr>
            <a:r>
              <a:t>Данные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91272" y="3410712"/>
            <a:ext cx="1143000" cy="278892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000" b="1">
                <a:solidFill>
                  <a:srgbClr val="E8EAED"/>
                </a:solidFill>
              </a:defRPr>
            </a:pPr>
            <a:r>
              <a:t>Медиа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16568" y="3410712"/>
            <a:ext cx="1143000" cy="278892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000" b="1">
                <a:solidFill>
                  <a:srgbClr val="E8EAED"/>
                </a:solidFill>
              </a:defRPr>
            </a:pPr>
            <a:r>
              <a:t>Viz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41864" y="3410712"/>
            <a:ext cx="1143000" cy="278892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000" b="1">
                <a:solidFill>
                  <a:srgbClr val="E8EAED"/>
                </a:solidFill>
              </a:defRPr>
            </a:pPr>
            <a:r>
              <a:t>История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0" y="3154680"/>
            <a:ext cx="0" cy="256032"/>
          </a:xfrm>
          <a:prstGeom prst="line">
            <a:avLst/>
          </a:prstGeom>
          <a:ln w="25400">
            <a:solidFill>
              <a:srgbClr val="3DCC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0E18"/>
            </a:gs>
            <a:gs pos="100000">
              <a:srgbClr val="182030"/>
            </a:gs>
          </a:gsLst>
          <a:lin ang="135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097280" y="-914400"/>
            <a:ext cx="3200400" cy="3200400"/>
          </a:xfrm>
          <a:prstGeom prst="ellipse">
            <a:avLst/>
          </a:prstGeom>
          <a:solidFill>
            <a:srgbClr val="3A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15600" y="5303520"/>
            <a:ext cx="2560320" cy="2560320"/>
          </a:xfrm>
          <a:prstGeom prst="ellipse">
            <a:avLst/>
          </a:prstGeom>
          <a:solidFill>
            <a:srgbClr val="2A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DCC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65836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</a:defRPr>
            </a:pPr>
            <a:r>
              <a:t>Data Collector  ·  Epoch8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83680"/>
            <a:ext cx="822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</a:defRPr>
            </a:pPr>
            <a:r>
              <a:t>10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1480"/>
            <a:ext cx="1645920" cy="292608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DCC85"/>
                </a:solidFill>
              </a:defRPr>
            </a:pPr>
            <a:r>
              <a:t>STEP 04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347472"/>
            <a:ext cx="457200" cy="457200"/>
          </a:xfrm>
          <a:prstGeom prst="ellipse">
            <a:avLst/>
          </a:prstGeom>
          <a:solidFill>
            <a:srgbClr val="3DCC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21218"/>
                </a:solidFill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777240"/>
            <a:ext cx="10058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E8EAED"/>
                </a:solidFill>
              </a:defRPr>
            </a:pPr>
            <a:r>
              <a:t>Просмотр принятых пакетов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490472"/>
            <a:ext cx="2011680" cy="4572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164592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</a:defRPr>
            </a:pPr>
            <a:r>
              <a:t>Админка: список → фильтр → workspace пакета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929383"/>
            <a:ext cx="45720" cy="420624"/>
          </a:xfrm>
          <a:prstGeom prst="rect">
            <a:avLst/>
          </a:prstGeom>
          <a:solidFill>
            <a:srgbClr val="3DCC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67512" y="1874519"/>
            <a:ext cx="523036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t>Список /ui/packages/ — все принятые пакеты проекта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2532887"/>
            <a:ext cx="45720" cy="420624"/>
          </a:xfrm>
          <a:prstGeom prst="rect">
            <a:avLst/>
          </a:prstGeom>
          <a:solidFill>
            <a:srgbClr val="3DCC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67512" y="2478023"/>
            <a:ext cx="523036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t>Фильтры: проект, статус, поиск по полям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136391"/>
            <a:ext cx="45720" cy="420624"/>
          </a:xfrm>
          <a:prstGeom prst="rect">
            <a:avLst/>
          </a:prstGeom>
          <a:solidFill>
            <a:srgbClr val="3DCC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67512" y="3081527"/>
            <a:ext cx="523036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t>Workspace: данные · медиа · viz · история правок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739895"/>
            <a:ext cx="45720" cy="420624"/>
          </a:xfrm>
          <a:prstGeom prst="rect">
            <a:avLst/>
          </a:prstGeom>
          <a:solidFill>
            <a:srgbClr val="3DCC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67512" y="3685031"/>
            <a:ext cx="5230368" cy="530352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E8EAED"/>
                </a:solidFill>
              </a:defRPr>
            </a:pPr>
            <a:r>
              <a:t>UI строится из тех же fields, что и при сборе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960120"/>
            <a:ext cx="5486400" cy="3246120"/>
          </a:xfrm>
          <a:prstGeom prst="roundRect">
            <a:avLst/>
          </a:prstGeom>
          <a:solidFill>
            <a:srgbClr val="0A0E18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084771" y="1143000"/>
            <a:ext cx="3661257" cy="621792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100" b="1">
                <a:solidFill>
                  <a:srgbClr val="E8EAED"/>
                </a:solidFill>
              </a:defRPr>
            </a:pPr>
            <a:r>
              <a:t>/ui/packages/</a:t>
            </a:r>
          </a:p>
          <a:p>
            <a:pPr algn="ctr">
              <a:spcBef>
                <a:spcPts val="300"/>
              </a:spcBef>
              <a:defRPr sz="800">
                <a:solidFill>
                  <a:srgbClr val="9CA3AF"/>
                </a:solidFill>
              </a:defRPr>
            </a:pPr>
            <a:r>
              <a:t>список принятых пакетов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91656" y="2057400"/>
            <a:ext cx="1682496" cy="384048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900" b="1">
                <a:solidFill>
                  <a:srgbClr val="E8EAED"/>
                </a:solidFill>
              </a:defRPr>
            </a:pPr>
            <a:r>
              <a:t>проект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19872" y="2057400"/>
            <a:ext cx="1682496" cy="384048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900" b="1">
                <a:solidFill>
                  <a:srgbClr val="E8EAED"/>
                </a:solidFill>
              </a:defRPr>
            </a:pPr>
            <a:r>
              <a:t>статус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48088" y="2057400"/>
            <a:ext cx="1682496" cy="384048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900" b="1">
                <a:solidFill>
                  <a:srgbClr val="E8EAED"/>
                </a:solidFill>
              </a:defRPr>
            </a:pPr>
            <a:r>
              <a:t>поиск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0" y="1764792"/>
            <a:ext cx="0" cy="292608"/>
          </a:xfrm>
          <a:prstGeom prst="line">
            <a:avLst/>
          </a:prstGeom>
          <a:ln w="25400">
            <a:solidFill>
              <a:srgbClr val="3DCC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823252" y="2587752"/>
            <a:ext cx="4184294" cy="566928"/>
          </a:xfrm>
          <a:prstGeom prst="roundRect">
            <a:avLst/>
          </a:prstGeom>
          <a:solidFill>
            <a:srgbClr val="1A2E28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100" b="1">
                <a:solidFill>
                  <a:srgbClr val="E8EAED"/>
                </a:solidFill>
              </a:defRPr>
            </a:pPr>
            <a:r>
              <a:t>Package Workspace</a:t>
            </a:r>
          </a:p>
          <a:p>
            <a:pPr algn="ctr">
              <a:spcBef>
                <a:spcPts val="300"/>
              </a:spcBef>
              <a:defRPr sz="800">
                <a:solidFill>
                  <a:srgbClr val="9CA3AF"/>
                </a:solidFill>
              </a:defRPr>
            </a:pPr>
            <a:r>
              <a:t>один пакет · все данные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0" y="2441448"/>
            <a:ext cx="0" cy="146304"/>
          </a:xfrm>
          <a:prstGeom prst="line">
            <a:avLst/>
          </a:prstGeom>
          <a:ln w="25400">
            <a:solidFill>
              <a:srgbClr val="3DCC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300216" y="3410712"/>
            <a:ext cx="1245870" cy="68580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000" b="1">
                <a:solidFill>
                  <a:srgbClr val="E8EAED"/>
                </a:solidFill>
              </a:defRPr>
            </a:pPr>
            <a:r>
              <a:t>Данные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28382" y="3410712"/>
            <a:ext cx="1245870" cy="68580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9B7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000" b="1">
                <a:solidFill>
                  <a:srgbClr val="E8EAED"/>
                </a:solidFill>
              </a:defRPr>
            </a:pPr>
            <a:r>
              <a:t>Медиа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56548" y="3410712"/>
            <a:ext cx="1245870" cy="68580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000" b="1">
                <a:solidFill>
                  <a:srgbClr val="E8EAED"/>
                </a:solidFill>
              </a:defRPr>
            </a:pPr>
            <a:r>
              <a:t>Viz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84714" y="3410712"/>
            <a:ext cx="1245870" cy="685800"/>
          </a:xfrm>
          <a:prstGeom prst="roundRect">
            <a:avLst/>
          </a:prstGeom>
          <a:solidFill>
            <a:srgbClr val="1E2A3D"/>
          </a:solidFill>
          <a:ln w="19050">
            <a:solidFill>
              <a:srgbClr val="D4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defRPr sz="1000" b="1">
                <a:solidFill>
                  <a:srgbClr val="E8EAED"/>
                </a:solidFill>
              </a:defRPr>
            </a:pPr>
            <a:r>
              <a:t>История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0" y="3154680"/>
            <a:ext cx="0" cy="256032"/>
          </a:xfrm>
          <a:prstGeom prst="line">
            <a:avLst/>
          </a:prstGeom>
          <a:ln w="25400">
            <a:solidFill>
              <a:srgbClr val="3DCC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172200" y="4343400"/>
            <a:ext cx="2651760" cy="1965960"/>
          </a:xfrm>
          <a:prstGeom prst="roundRect">
            <a:avLst/>
          </a:prstGeom>
          <a:solidFill>
            <a:srgbClr val="1A202C"/>
          </a:solidFill>
          <a:ln w="1270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263640" y="4434840"/>
            <a:ext cx="2468880" cy="1783080"/>
          </a:xfrm>
          <a:prstGeom prst="roundRect">
            <a:avLst/>
          </a:prstGeom>
          <a:solidFill>
            <a:srgbClr val="182030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список пакетов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18120" y="4416552"/>
            <a:ext cx="914400" cy="219456"/>
          </a:xfrm>
          <a:prstGeom prst="roundRect">
            <a:avLst/>
          </a:prstGeom>
          <a:solidFill>
            <a:srgbClr val="3DCC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600" b="1">
                <a:solidFill>
                  <a:srgbClr val="E8EAED"/>
                </a:solidFill>
              </a:defRPr>
            </a:pPr>
            <a:r>
              <a:t>SCREENSHOT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6840" y="4343400"/>
            <a:ext cx="2651760" cy="1965960"/>
          </a:xfrm>
          <a:prstGeom prst="roundRect">
            <a:avLst/>
          </a:prstGeom>
          <a:solidFill>
            <a:srgbClr val="1A202C"/>
          </a:solidFill>
          <a:ln w="1270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9098280" y="4434840"/>
            <a:ext cx="2468880" cy="1783080"/>
          </a:xfrm>
          <a:prstGeom prst="roundRect">
            <a:avLst/>
          </a:prstGeom>
          <a:solidFill>
            <a:srgbClr val="182030"/>
          </a:solidFill>
          <a:ln w="12700">
            <a:solidFill>
              <a:srgbClr val="3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workspace · вкладки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652760" y="4416552"/>
            <a:ext cx="914400" cy="219456"/>
          </a:xfrm>
          <a:prstGeom prst="roundRect">
            <a:avLst/>
          </a:prstGeom>
          <a:solidFill>
            <a:srgbClr val="3DCC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600" b="1">
                <a:solidFill>
                  <a:srgbClr val="E8EAED"/>
                </a:solidFill>
              </a:defRPr>
            </a:pPr>
            <a:r>
              <a:t>SCREENSHOT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E1828"/>
            </a:gs>
            <a:gs pos="100000">
              <a:srgbClr val="0A0E18"/>
            </a:gs>
          </a:gsLst>
          <a:lin ang="12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097280" y="-914400"/>
            <a:ext cx="3200400" cy="3200400"/>
          </a:xfrm>
          <a:prstGeom prst="ellipse">
            <a:avLst/>
          </a:prstGeom>
          <a:solidFill>
            <a:srgbClr val="3A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15600" y="5303520"/>
            <a:ext cx="2560320" cy="2560320"/>
          </a:xfrm>
          <a:prstGeom prst="ellipse">
            <a:avLst/>
          </a:prstGeom>
          <a:solidFill>
            <a:srgbClr val="2A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DCC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9966960" cy="4114800"/>
          </a:xfrm>
          <a:prstGeom prst="roundRect">
            <a:avLst/>
          </a:prstGeom>
          <a:solidFill>
            <a:srgbClr val="1E2A3D"/>
          </a:solidFill>
          <a:ln w="12700">
            <a:solidFill>
              <a:srgbClr val="3D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08760" y="16916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800" b="1">
                <a:solidFill>
                  <a:srgbClr val="E8EAED"/>
                </a:solidFill>
              </a:defRPr>
            </a:pPr>
            <a:r>
              <a:t>Data Collector в одном предложении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423160"/>
            <a:ext cx="9144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0">
                <a:solidFill>
                  <a:srgbClr val="9CA3AF"/>
                </a:solidFill>
              </a:defRPr>
            </a:pPr>
            <a:r>
              <a:t>Админ описывает сценарий в JSON → приложение проводит сборщика по шагам → пакет с медиа попадает в админку → команда видит данные без ручной склейки.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4572000"/>
            <a:ext cx="5760720" cy="502920"/>
          </a:xfrm>
          <a:prstGeom prst="round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E8EAED"/>
                </a:solidFill>
              </a:defRPr>
            </a:pPr>
            <a:r>
              <a:t>Опишите поля и flow — соберём demo под ваш кейс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83680"/>
            <a:ext cx="822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</a:defRPr>
            </a:pPr>
            <a: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598</Words>
  <Application>Microsoft Office PowerPoint</Application>
  <PresentationFormat>Широкоэкранный</PresentationFormat>
  <Paragraphs>163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admin</dc:creator>
  <cp:keywords/>
  <dc:description>generated using python-pptx</dc:description>
  <cp:lastModifiedBy>Сметанин Артём Алексеевич</cp:lastModifiedBy>
  <cp:revision>4</cp:revision>
  <dcterms:created xsi:type="dcterms:W3CDTF">2013-01-27T09:14:16Z</dcterms:created>
  <dcterms:modified xsi:type="dcterms:W3CDTF">2026-06-10T15:59:36Z</dcterms:modified>
  <cp:category/>
</cp:coreProperties>
</file>