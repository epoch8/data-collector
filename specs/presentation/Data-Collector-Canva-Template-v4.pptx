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41C32"/>
            </a:gs>
          </a:gsLst>
          <a:lin scaled="0" ang="12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85800"/>
            <a:ext cx="6583680" cy="548640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4A84B"/>
                </a:solidFill>
              </a:defRPr>
            </a:pPr>
            <a:r>
              <a:t>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5943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E8EAED"/>
                </a:solidFill>
              </a:defRPr>
            </a:pPr>
            <a:r>
              <a:t>Data Collector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514600"/>
            <a:ext cx="2194560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5852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9CA3AF"/>
                </a:solidFill>
              </a:defRPr>
            </a:pPr>
            <a:r>
              <a:t>Платформа сбора и визуализации полевых данных</a:t>
            </a:r>
            <a:br/>
            <a:r>
              <a:t>Один бэкенд · мобильное приложение · конфигурируемые сценарии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685800"/>
            <a:ext cx="4251960" cy="256032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0" y="914400"/>
            <a:ext cx="3886200" cy="475488"/>
          </a:xfrm>
          <a:prstGeom prst="roundRect">
            <a:avLst/>
          </a:prstGeom>
          <a:solidFill>
            <a:srgbClr val="3D3420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Staff Admin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конфиг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32620.0" y="1408176"/>
            <a:ext cx="0.0" cy="310896"/>
          </a:xfrm>
          <a:prstGeom prst="line">
            <a:avLst/>
          </a:prstGeom>
          <a:ln w="25400">
            <a:solidFill>
              <a:srgbClr val="D4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89520" y="1737360"/>
            <a:ext cx="3886200" cy="47548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Django Server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API + хранилище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32620.0" y="2231136"/>
            <a:ext cx="0.0" cy="310896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89520" y="2560320"/>
            <a:ext cx="3886200" cy="475488"/>
          </a:xfrm>
          <a:prstGeom prst="roundRect">
            <a:avLst/>
          </a:prstGeom>
          <a:solidFill>
            <a:srgbClr val="2A2438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Flutter App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сбор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32620.0" y="3054096"/>
            <a:ext cx="0.0" cy="310896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89520" y="3383280"/>
            <a:ext cx="3886200" cy="475488"/>
          </a:xfrm>
          <a:prstGeom prst="roundRect">
            <a:avLst/>
          </a:prstGeom>
          <a:solidFill>
            <a:srgbClr val="1A2E28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Admin UI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пакеты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26930.0" y="2798064.0"/>
            <a:ext cx="1165860.0" cy="0.0"/>
          </a:xfrm>
          <a:prstGeom prst="line">
            <a:avLst/>
          </a:prstGeom>
          <a:ln w="25400">
            <a:solidFill>
              <a:srgbClr val="9B7E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06640" y="3383280"/>
            <a:ext cx="4251960" cy="278892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0" y="3474720"/>
            <a:ext cx="4069080" cy="260604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hero — админка + телефон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52760" y="3456432"/>
            <a:ext cx="914400" cy="219456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02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Зачем это нужно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От хаоса в поле — к структурированным данным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837944"/>
            <a:ext cx="45720" cy="42062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178308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Проблема: каждый сценарий сбора = новая форма в коде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41448"/>
            <a:ext cx="45720" cy="42062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" y="2386584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Проблема: фото и метаданные теряются в мессенджерах и Excel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044952"/>
            <a:ext cx="45720" cy="420624"/>
          </a:xfrm>
          <a:prstGeom prst="rect">
            <a:avLst/>
          </a:prstGeom>
          <a:solidFill>
            <a:srgbClr val="E8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299008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Проблема: нет единого места «что собрали» и «что дальше»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39896"/>
            <a:ext cx="45720" cy="850392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" y="3685032"/>
            <a:ext cx="5596128" cy="960120"/>
          </a:xfrm>
          <a:prstGeom prst="roundRect">
            <a:avLst/>
          </a:prstGeom>
          <a:solidFill>
            <a:srgbClr val="142822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DCC85"/>
                </a:solidFill>
              </a:defRPr>
            </a:pPr>
            <a:r>
              <a:t>Решение: в Staff Admin один раз настраиваем сценарий сбора данных под проект — какие поля собирать и в каком порядке (JSON в Git, без релиза приложения) → мобилка автоматически строит UI формы по этому описанию → сборщик отправляет пакет на сервер → команда просматривает принятые данные в админке, с фильтрацией по проектам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03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Из чего состоит продукт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Одна платформа — N проектов · 1 проект = 1 конфиг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719072"/>
            <a:ext cx="45720" cy="115214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1664208"/>
            <a:ext cx="5596128" cy="126187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" y="1792224"/>
            <a:ext cx="384048" cy="384048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1755648"/>
            <a:ext cx="4864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4A84B"/>
                </a:solidFill>
              </a:defRPr>
            </a:pPr>
            <a:r>
              <a:t>Staff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1975104"/>
            <a:ext cx="4864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Epoch8 · управление проектами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2157984"/>
            <a:ext cx="48646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Администратор заходит в веб-админку: создаёт проект сбора под конкретную задачу, привязывает Git-репозитории (там версионируются config.json и артефакты админки), настраивает доступ — какие пользователи видят какие проекты, назначает сборщиков.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035808"/>
            <a:ext cx="45720" cy="115214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" y="2980944"/>
            <a:ext cx="5596128" cy="126187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952" y="3108960"/>
            <a:ext cx="384048" cy="384048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3072384"/>
            <a:ext cx="4864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DCC85"/>
                </a:solidFill>
              </a:defRPr>
            </a:pPr>
            <a:r>
              <a:t>Client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3291840"/>
            <a:ext cx="4864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Заказчик · просмотр данных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3474720"/>
            <a:ext cx="48646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Аналитик или заказчик открывает Client Admin: видит принятые пакеты по своим проектам, фильтрует по полям формы, просматривает медиа и визуализации пайплайнов поверх данных.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352544"/>
            <a:ext cx="45720" cy="1152144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7512" y="4297680"/>
            <a:ext cx="5596128" cy="126187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2" y="4425696"/>
            <a:ext cx="384048" cy="384048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4389120"/>
            <a:ext cx="4864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B7ED0"/>
                </a:solidFill>
              </a:defRPr>
            </a:pPr>
            <a:r>
              <a:t>Flutter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2728" y="4608576"/>
            <a:ext cx="4864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Сборщик · полевой сбор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2728" y="4791456"/>
            <a:ext cx="48646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Сборщик логинится в мобильном приложении, получает актуальный конфиг с сервера, проходит сценарий офлайн, формирует пакет и отправляет на сервер при появлении сети.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669280"/>
            <a:ext cx="45720" cy="9692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7512" y="5614416"/>
            <a:ext cx="5596128" cy="107899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8952" y="5742432"/>
            <a:ext cx="384048" cy="384048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2728" y="5705856"/>
            <a:ext cx="486460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B8DEF"/>
                </a:solidFill>
              </a:defRPr>
            </a:pPr>
            <a:r>
              <a:t>Django + 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2728" y="5925312"/>
            <a:ext cx="4864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Платформа · единый бэкенд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2728" y="6108192"/>
            <a:ext cx="4864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Связывает все части: API для приложения и админок, хранение пакетов и медиа, синхронизация конфигов из Git, привязка данных к проектам.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65976" y="1124712"/>
            <a:ext cx="48188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BC9F7"/>
                </a:solidFill>
              </a:defRPr>
            </a:pPr>
            <a:r>
              <a:t>Кто с кем взаимодействует — не список технологий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1564" y="1307592"/>
            <a:ext cx="2987710" cy="512064"/>
          </a:xfrm>
          <a:prstGeom prst="roundRect">
            <a:avLst/>
          </a:prstGeom>
          <a:solidFill>
            <a:srgbClr val="3D3420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Staff Admin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настройка проекта и конфига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72500" y="1819656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4A84B"/>
                </a:solidFill>
              </a:defRPr>
            </a:pPr>
            <a:r>
              <a:t>конфиг</a:t>
            </a:r>
            <a:br/>
            <a:r>
              <a:t>+ права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075420.0" y="1819656"/>
            <a:ext cx="0.0" cy="201168"/>
          </a:xfrm>
          <a:prstGeom prst="line">
            <a:avLst/>
          </a:prstGeom>
          <a:ln w="25400">
            <a:solidFill>
              <a:srgbClr val="D4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196053" y="2020824"/>
            <a:ext cx="3758732" cy="585216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Django + хранилище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API · БД · медиа · синк из Git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35575" y="2075688"/>
            <a:ext cx="1349288" cy="512064"/>
          </a:xfrm>
          <a:prstGeom prst="roundRect">
            <a:avLst/>
          </a:prstGeom>
          <a:solidFill>
            <a:srgbClr val="1E2433"/>
          </a:solidFill>
          <a:ln w="19050">
            <a:solidFill>
              <a:srgbClr val="8BC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900" b="1">
                <a:solidFill>
                  <a:srgbClr val="E8EAED"/>
                </a:solidFill>
              </a:defRPr>
            </a:pPr>
            <a:r>
              <a:t>Git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config · viz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135575.36" y="2331720.0"/>
            <a:ext cx="819210.9600000009" cy="0.0"/>
          </a:xfrm>
          <a:prstGeom prst="line">
            <a:avLst/>
          </a:prstGeom>
          <a:ln w="25400">
            <a:solidFill>
              <a:srgbClr val="8BC9F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089855" y="2606040"/>
            <a:ext cx="13492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8BC9F7"/>
                </a:solidFill>
              </a:defRPr>
            </a:pPr>
            <a:r>
              <a:t>версии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5976" y="2807208"/>
            <a:ext cx="2354580" cy="512064"/>
          </a:xfrm>
          <a:prstGeom prst="roundRect">
            <a:avLst/>
          </a:prstGeom>
          <a:solidFill>
            <a:srgbClr val="2A2438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Flutter App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сборщик в поле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30284" y="2807208"/>
            <a:ext cx="2354580" cy="512064"/>
          </a:xfrm>
          <a:prstGeom prst="roundRect">
            <a:avLst/>
          </a:prstGeom>
          <a:solidFill>
            <a:srgbClr val="1A2E28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Client Admin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просмотр пакетов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843266.0" y="2606040"/>
            <a:ext cx="0.0" cy="201168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665976" y="2706624"/>
            <a:ext cx="23545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9B7ED0"/>
                </a:solidFill>
              </a:defRPr>
            </a:pPr>
            <a:r>
              <a:t>синк конфига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307574.0" y="2606040"/>
            <a:ext cx="0.0" cy="201168"/>
          </a:xfrm>
          <a:prstGeom prst="line">
            <a:avLst/>
          </a:prstGeom>
          <a:ln w="25400">
            <a:solidFill>
              <a:srgbClr val="3DC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130284" y="2706624"/>
            <a:ext cx="23545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3DCC85"/>
                </a:solidFill>
              </a:defRPr>
            </a:pPr>
            <a:r>
              <a:t>список пакетов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65976" y="3319272"/>
            <a:ext cx="23545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9B7ED0"/>
                </a:solidFill>
              </a:defRPr>
            </a:pPr>
            <a:r>
              <a:t>upload пакета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843266.0" y="3319272"/>
            <a:ext cx="0.0" cy="109728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665976" y="3447288"/>
            <a:ext cx="4818888" cy="475488"/>
          </a:xfrm>
          <a:prstGeom prst="roundRect">
            <a:avLst/>
          </a:prstGeom>
          <a:solidFill>
            <a:srgbClr val="142018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Проект × N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1 проект = 1 конфиг в Git · свои пакеты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04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Путь данных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Два жизненных цикла: конфиг и пакет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83080"/>
            <a:ext cx="11018520" cy="416052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1911096"/>
            <a:ext cx="107624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E8EAED"/>
                </a:solidFill>
              </a:defRPr>
            </a:pPr>
            <a:r>
              <a:t>Два пути: жизненный цикл конфига и жизненный цикл пакета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130552"/>
            <a:ext cx="107624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D4A84B"/>
                </a:solidFill>
              </a:defRPr>
            </a:pPr>
            <a:r>
              <a:t>Конфиг (config.json + viz.json в Git)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" y="2331720"/>
            <a:ext cx="3526536" cy="93268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①  Настройка</a:t>
            </a:r>
            <a:br/>
            <a:r>
              <a:t>в Staff Admin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fields · flow · Git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48912.0" y="2798064.0"/>
            <a:ext cx="91440.0" cy="0.0"/>
          </a:xfrm>
          <a:prstGeom prst="line">
            <a:avLst/>
          </a:prstGeom>
          <a:ln w="25400">
            <a:solidFill>
              <a:srgbClr val="D4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40352" y="2331720"/>
            <a:ext cx="3526536" cy="93268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②  Синк</a:t>
            </a:r>
            <a:br/>
            <a:r>
              <a:t>в приложение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тот же сценарий в МП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6888.0" y="2798064.0"/>
            <a:ext cx="91440.0" cy="0.0"/>
          </a:xfrm>
          <a:prstGeom prst="line">
            <a:avLst/>
          </a:prstGeom>
          <a:ln w="25400">
            <a:solidFill>
              <a:srgbClr val="D4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58328" y="2331720"/>
            <a:ext cx="3526536" cy="93268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③  Визуализации</a:t>
            </a:r>
            <a:br/>
            <a:r>
              <a:t>в админке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viz.json → UI просмотра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3611880"/>
            <a:ext cx="107624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B7ED0"/>
                </a:solidFill>
              </a:defRPr>
            </a:pPr>
            <a:r>
              <a:t>Пакет данных (результат сбора)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" y="3813048"/>
            <a:ext cx="3526536" cy="93268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①  Сбор</a:t>
            </a:r>
            <a:br/>
            <a:r>
              <a:t>в приложении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сборщик по flow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48912.0" y="4279392.0"/>
            <a:ext cx="91440.0" cy="0.0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340352" y="3813048"/>
            <a:ext cx="3526536" cy="93268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②  Upload</a:t>
            </a:r>
            <a:br/>
            <a:r>
              <a:t>на сервер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поля + фото + манифест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66888.0" y="4279392.0"/>
            <a:ext cx="91440.0" cy="0.0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58328" y="3813048"/>
            <a:ext cx="3526536" cy="93268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③  Просмотр</a:t>
            </a:r>
            <a:br/>
            <a:r>
              <a:t>в админке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фильтры · workspace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989320"/>
            <a:ext cx="11018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Конфиг описывает сценарий (fields + flow + viz) · пакет — результат прохождения сценария сборщиком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05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Конфиг = сценарий без кода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JSON в Git — без релиза приложения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719072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166420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Конфиг — это набор JSON-файлов в Git-репозитории проекта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322576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" y="2267712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fields — описание полей: текст, фото, дата, выбор из списка…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926080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2871216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Один набор fields = один экран формы в мобильном приложении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529584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" y="347472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flow — порядок экранов: сценарий сбора = последовательность fields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133088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078224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viz.json — как показывать пакет и визуализации в админке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828032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7512" y="477316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Новый сценарий = правка или новый JSON в Git, а не релиз приложения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84264" y="1106424"/>
            <a:ext cx="4782312" cy="384048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84B"/>
                </a:solidFill>
              </a:defRPr>
            </a:pPr>
            <a:r>
              <a:t>Конфиг в Git состоит из этих частей: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84264" y="1618488"/>
            <a:ext cx="4782312" cy="62179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fields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набор полей формы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6" y="2258568"/>
            <a:ext cx="46360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9CA3AF"/>
                </a:solidFill>
              </a:defRPr>
            </a:pPr>
            <a:r>
              <a:t>один набор fields = один экран в приложении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5420.0" y="2386584"/>
            <a:ext cx="0.0" cy="73152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684264" y="2478024"/>
            <a:ext cx="4782312" cy="62179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flow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последовательность экранов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7416" y="3118104"/>
            <a:ext cx="46360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9CA3AF"/>
                </a:solidFill>
              </a:defRPr>
            </a:pPr>
            <a:r>
              <a:t>flow = сценарий сбора (набор экранов по порядку)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75420.0" y="3246120"/>
            <a:ext cx="0.0" cy="73152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684264" y="3337560"/>
            <a:ext cx="4782312" cy="621792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100" b="1">
                <a:solidFill>
                  <a:srgbClr val="E8EAED"/>
                </a:solidFill>
              </a:defRPr>
            </a:pPr>
            <a:r>
              <a:t>viz.json</a:t>
            </a:r>
          </a:p>
          <a:p>
            <a:pPr algn="ctr">
              <a:spcBef>
                <a:spcPts val="300"/>
              </a:spcBef>
              <a:defRPr sz="800">
                <a:solidFill>
                  <a:srgbClr val="9CA3AF"/>
                </a:solidFill>
              </a:defRPr>
            </a:pPr>
            <a:r>
              <a:t>отображение в админке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7416" y="3977640"/>
            <a:ext cx="46360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9CA3AF"/>
                </a:solidFill>
              </a:defRPr>
            </a:pPr>
            <a:r>
              <a:t>визуализации и layout просмотра пакета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84264" y="6089904"/>
            <a:ext cx="47823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BC9F7"/>
                </a:solidFill>
              </a:defRPr>
            </a:pPr>
            <a:r>
              <a:t>Новый сценарий = правка JSON в Git, без релиза приложения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06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84B"/>
                </a:solidFill>
              </a:defRPr>
            </a:pPr>
            <a:r>
              <a:t>STEP 01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47472"/>
            <a:ext cx="457200" cy="4572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218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32688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Админ настраивает проект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901952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184708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Создаёт проект и привязывает Git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505456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" y="2450592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Редактирует config.json: fields +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108960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054096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Назначает сборщиков на проект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" y="365760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Сохраняет → commit + push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9400" y="1051560"/>
            <a:ext cx="4892040" cy="516636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проекты · JSON-редактор · пользователи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07040" y="1033272"/>
            <a:ext cx="914400" cy="219456"/>
          </a:xfrm>
          <a:prstGeom prst="round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07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STEP 02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47472"/>
            <a:ext cx="457200" cy="4572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218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32688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Конфиг в приложении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901952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184708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Сборщик логинится и видит свои проекты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505456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" y="2450592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Приложение скачивает config с сервера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108960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054096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Кэширует локально — работает офлайн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" y="365760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Заполняет данные формы и подтверждает формирование пакета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9400" y="1051560"/>
            <a:ext cx="4892040" cy="516636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список проектов · форма · камера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07040" y="1033272"/>
            <a:ext cx="914400" cy="219456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08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DCC85"/>
                </a:solidFill>
              </a:defRPr>
            </a:pPr>
            <a:r>
              <a:t>STEP 03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47472"/>
            <a:ext cx="457200" cy="457200"/>
          </a:xfrm>
          <a:prstGeom prst="ellipse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218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Просмотр принятых пакетов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Админка: список → фильтр → workspace пакета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929383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" y="1874519"/>
            <a:ext cx="52303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Список всех принятых пакетов по проектам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532887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2478023"/>
            <a:ext cx="52303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Фильтры: проект, статус, поиск по полям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136391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" y="3081527"/>
            <a:ext cx="52303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данные · медиа · визуализации · история правок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739895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7512" y="3685031"/>
            <a:ext cx="52303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UI строится из тех же полей в конфиге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960120"/>
            <a:ext cx="507492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1051560"/>
            <a:ext cx="4892040" cy="516636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admin-packages.gif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033272"/>
            <a:ext cx="914400" cy="219456"/>
          </a:xfrm>
          <a:prstGeom prst="round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E1828"/>
            </a:gs>
            <a:gs pos="100000">
              <a:srgbClr val="0A0E18"/>
            </a:gs>
          </a:gsLst>
          <a:lin scaled="0" ang="12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6916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E8EAED"/>
                </a:solidFill>
              </a:defRPr>
            </a:pPr>
            <a:r>
              <a:t>Data Collector в одном предложении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423160"/>
            <a:ext cx="9144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Админ описывает сценарий в JSON → приложение проводит сборщика по шагам → пакет с медиа попадает в админку → команда видит данные без ручной склейки.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