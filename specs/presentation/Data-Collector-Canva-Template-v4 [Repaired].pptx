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34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8" autoAdjust="0"/>
    <p:restoredTop sz="94660"/>
  </p:normalViewPr>
  <p:slideViewPr>
    <p:cSldViewPr snapToGrid="0" snapToObjects="1">
      <p:cViewPr>
        <p:scale>
          <a:sx n="125" d="100"/>
          <a:sy n="125" d="100"/>
        </p:scale>
        <p:origin x="176" y="-3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0E18"/>
            </a:gs>
            <a:gs pos="100000">
              <a:srgbClr val="182030"/>
            </a:gs>
          </a:gsLst>
          <a:lin ang="13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097280" y="-914400"/>
            <a:ext cx="3200400" cy="3200400"/>
          </a:xfrm>
          <a:prstGeom prst="ellipse">
            <a:avLst/>
          </a:prstGeom>
          <a:solidFill>
            <a:srgbClr val="3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2560320" cy="2560320"/>
          </a:xfrm>
          <a:prstGeom prst="ellipse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83680"/>
            <a:ext cx="3561976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Data Collector  ·  Epoch8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8368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03 /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11480"/>
            <a:ext cx="1645920" cy="29260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B8DEF"/>
                </a:solidFill>
              </a:defRPr>
            </a:pPr>
            <a:r>
              <a:t>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777240"/>
            <a:ext cx="10058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E8EAED"/>
                </a:solidFill>
              </a:defRPr>
            </a:pPr>
            <a:r>
              <a:t>Из чего состоит продукт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490472"/>
            <a:ext cx="1959087" cy="45719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64592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</a:defRPr>
            </a:pPr>
            <a:r>
              <a:t>Одна платформа — N проектов · 1 проект = 1 конфиг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1719072"/>
            <a:ext cx="45719" cy="937951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67512" y="1664208"/>
            <a:ext cx="5449824" cy="1027280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58952" y="1792224"/>
            <a:ext cx="374008" cy="312650"/>
          </a:xfrm>
          <a:prstGeom prst="roundRect">
            <a:avLst/>
          </a:prstGeom>
          <a:solidFill>
            <a:srgbClr val="283248"/>
          </a:solidFill>
          <a:ln w="1270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2728" y="1755648"/>
            <a:ext cx="4737429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D4A84B"/>
                </a:solidFill>
              </a:defRPr>
            </a:pPr>
            <a:r>
              <a:t>Staff 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2728" y="1975104"/>
            <a:ext cx="4737429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0">
                <a:solidFill>
                  <a:srgbClr val="6B7280"/>
                </a:solidFill>
              </a:defRPr>
            </a:pPr>
            <a:r>
              <a:rPr lang="ru-RU" sz="900" dirty="0"/>
              <a:t>Управление проектами и доступами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1252728" y="2157984"/>
            <a:ext cx="4737429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</a:defRPr>
            </a:pPr>
            <a:r>
              <a:rPr dirty="0" err="1"/>
              <a:t>Администратор</a:t>
            </a:r>
            <a:r>
              <a:rPr dirty="0"/>
              <a:t> </a:t>
            </a:r>
            <a:r>
              <a:rPr dirty="0" err="1"/>
              <a:t>заходит</a:t>
            </a:r>
            <a:r>
              <a:rPr dirty="0"/>
              <a:t> в </a:t>
            </a:r>
            <a:r>
              <a:rPr dirty="0" err="1"/>
              <a:t>веб-админку</a:t>
            </a:r>
            <a:r>
              <a:rPr dirty="0"/>
              <a:t>: </a:t>
            </a:r>
            <a:r>
              <a:rPr dirty="0" err="1"/>
              <a:t>создаёт</a:t>
            </a:r>
            <a:r>
              <a:rPr dirty="0"/>
              <a:t> </a:t>
            </a:r>
            <a:r>
              <a:rPr dirty="0" err="1"/>
              <a:t>проект</a:t>
            </a:r>
            <a:r>
              <a:rPr dirty="0"/>
              <a:t> </a:t>
            </a:r>
            <a:r>
              <a:rPr dirty="0" err="1"/>
              <a:t>сбора</a:t>
            </a:r>
            <a:r>
              <a:rPr dirty="0"/>
              <a:t> </a:t>
            </a:r>
            <a:r>
              <a:rPr dirty="0" err="1"/>
              <a:t>под</a:t>
            </a:r>
            <a:r>
              <a:rPr dirty="0"/>
              <a:t> </a:t>
            </a:r>
            <a:r>
              <a:rPr dirty="0" err="1"/>
              <a:t>конкретную</a:t>
            </a:r>
            <a:r>
              <a:rPr dirty="0"/>
              <a:t> </a:t>
            </a:r>
            <a:r>
              <a:rPr dirty="0" err="1"/>
              <a:t>задачу</a:t>
            </a:r>
            <a:r>
              <a:rPr dirty="0"/>
              <a:t>, </a:t>
            </a:r>
            <a:r>
              <a:rPr dirty="0" err="1"/>
              <a:t>привязывает</a:t>
            </a:r>
            <a:r>
              <a:rPr dirty="0"/>
              <a:t> Git-</a:t>
            </a:r>
            <a:r>
              <a:rPr dirty="0" err="1"/>
              <a:t>репозитории</a:t>
            </a:r>
            <a:r>
              <a:rPr dirty="0"/>
              <a:t> (</a:t>
            </a:r>
            <a:r>
              <a:rPr dirty="0" err="1"/>
              <a:t>там</a:t>
            </a:r>
            <a:r>
              <a:rPr dirty="0"/>
              <a:t> </a:t>
            </a:r>
            <a:r>
              <a:rPr dirty="0" err="1"/>
              <a:t>версионируются</a:t>
            </a:r>
            <a:r>
              <a:rPr dirty="0"/>
              <a:t> </a:t>
            </a:r>
            <a:r>
              <a:rPr dirty="0" err="1"/>
              <a:t>config.json</a:t>
            </a:r>
            <a:r>
              <a:rPr dirty="0"/>
              <a:t> и </a:t>
            </a:r>
            <a:r>
              <a:rPr dirty="0" err="1"/>
              <a:t>артефакты</a:t>
            </a:r>
            <a:r>
              <a:rPr dirty="0"/>
              <a:t> </a:t>
            </a:r>
            <a:r>
              <a:rPr dirty="0" err="1"/>
              <a:t>админки</a:t>
            </a:r>
            <a:r>
              <a:rPr dirty="0"/>
              <a:t>), </a:t>
            </a:r>
            <a:r>
              <a:rPr dirty="0" err="1"/>
              <a:t>настраивает</a:t>
            </a:r>
            <a:r>
              <a:rPr dirty="0"/>
              <a:t> </a:t>
            </a:r>
            <a:r>
              <a:rPr dirty="0" err="1"/>
              <a:t>доступ</a:t>
            </a:r>
            <a:r>
              <a:rPr dirty="0"/>
              <a:t> — </a:t>
            </a:r>
            <a:r>
              <a:rPr dirty="0" err="1"/>
              <a:t>какие</a:t>
            </a:r>
            <a:r>
              <a:rPr dirty="0"/>
              <a:t> </a:t>
            </a:r>
            <a:r>
              <a:rPr dirty="0" err="1"/>
              <a:t>пользователи</a:t>
            </a:r>
            <a:r>
              <a:rPr dirty="0"/>
              <a:t> </a:t>
            </a:r>
            <a:r>
              <a:rPr dirty="0" err="1"/>
              <a:t>видят</a:t>
            </a:r>
            <a:r>
              <a:rPr dirty="0"/>
              <a:t> </a:t>
            </a:r>
            <a:r>
              <a:rPr dirty="0" err="1"/>
              <a:t>какие</a:t>
            </a:r>
            <a:r>
              <a:rPr dirty="0"/>
              <a:t> </a:t>
            </a:r>
            <a:r>
              <a:rPr dirty="0" err="1"/>
              <a:t>проекты</a:t>
            </a:r>
            <a:r>
              <a:rPr lang="ru-RU" dirty="0"/>
              <a:t>.</a:t>
            </a:r>
            <a:endParaRPr dirty="0"/>
          </a:p>
        </p:txBody>
      </p:sp>
      <p:sp>
        <p:nvSpPr>
          <p:cNvPr id="18" name="Rectangle 17"/>
          <p:cNvSpPr/>
          <p:nvPr/>
        </p:nvSpPr>
        <p:spPr>
          <a:xfrm>
            <a:off x="594360" y="3035808"/>
            <a:ext cx="45719" cy="937951"/>
          </a:xfrm>
          <a:prstGeom prst="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67512" y="2980944"/>
            <a:ext cx="5449824" cy="1027280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58952" y="3108960"/>
            <a:ext cx="374008" cy="312650"/>
          </a:xfrm>
          <a:prstGeom prst="roundRect">
            <a:avLst/>
          </a:prstGeom>
          <a:solidFill>
            <a:srgbClr val="283248"/>
          </a:solidFill>
          <a:ln w="1270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2728" y="3072384"/>
            <a:ext cx="4737429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3DCC85"/>
                </a:solidFill>
              </a:defRPr>
            </a:pPr>
            <a:r>
              <a:t>Client Admin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52728" y="3291840"/>
            <a:ext cx="4737429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Заказчик · просмотр данных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52728" y="3474720"/>
            <a:ext cx="4737429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</a:defRPr>
            </a:pPr>
            <a:r>
              <a:rPr dirty="0" err="1"/>
              <a:t>Аналитик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заказчик</a:t>
            </a:r>
            <a:r>
              <a:rPr dirty="0"/>
              <a:t> </a:t>
            </a:r>
            <a:r>
              <a:rPr dirty="0" err="1"/>
              <a:t>открывает</a:t>
            </a:r>
            <a:r>
              <a:rPr dirty="0"/>
              <a:t> Client Admin: </a:t>
            </a:r>
            <a:r>
              <a:rPr dirty="0" err="1"/>
              <a:t>видит</a:t>
            </a:r>
            <a:r>
              <a:rPr dirty="0"/>
              <a:t> </a:t>
            </a:r>
            <a:r>
              <a:rPr dirty="0" err="1"/>
              <a:t>принятые</a:t>
            </a:r>
            <a:r>
              <a:rPr dirty="0"/>
              <a:t> </a:t>
            </a:r>
            <a:r>
              <a:rPr dirty="0" err="1"/>
              <a:t>пакеты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своим</a:t>
            </a:r>
            <a:r>
              <a:rPr dirty="0"/>
              <a:t> </a:t>
            </a:r>
            <a:r>
              <a:rPr dirty="0" err="1"/>
              <a:t>проектам</a:t>
            </a:r>
            <a:r>
              <a:rPr dirty="0"/>
              <a:t>, </a:t>
            </a:r>
            <a:r>
              <a:rPr dirty="0" err="1"/>
              <a:t>фильтрует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полям</a:t>
            </a:r>
            <a:r>
              <a:rPr dirty="0"/>
              <a:t> </a:t>
            </a:r>
            <a:r>
              <a:rPr dirty="0" err="1"/>
              <a:t>формы</a:t>
            </a:r>
            <a:r>
              <a:rPr dirty="0"/>
              <a:t>, </a:t>
            </a:r>
            <a:r>
              <a:rPr dirty="0" err="1"/>
              <a:t>просматривает</a:t>
            </a:r>
            <a:r>
              <a:rPr dirty="0"/>
              <a:t> </a:t>
            </a:r>
            <a:r>
              <a:rPr dirty="0" err="1"/>
              <a:t>медиа</a:t>
            </a:r>
            <a:r>
              <a:rPr dirty="0"/>
              <a:t> и </a:t>
            </a:r>
            <a:r>
              <a:rPr dirty="0" err="1"/>
              <a:t>визуализации</a:t>
            </a:r>
            <a:r>
              <a:rPr dirty="0"/>
              <a:t> </a:t>
            </a:r>
            <a:r>
              <a:rPr dirty="0" err="1"/>
              <a:t>пайплайнов</a:t>
            </a:r>
            <a:r>
              <a:rPr dirty="0"/>
              <a:t> </a:t>
            </a:r>
            <a:r>
              <a:rPr dirty="0" err="1"/>
              <a:t>поверх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0514" y="4278518"/>
            <a:ext cx="45719" cy="937951"/>
          </a:xfrm>
          <a:prstGeom prst="rect">
            <a:avLst/>
          </a:prstGeom>
          <a:solidFill>
            <a:srgbClr val="9B7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73666" y="4223654"/>
            <a:ext cx="5449824" cy="1027280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65106" y="4351670"/>
            <a:ext cx="374008" cy="312650"/>
          </a:xfrm>
          <a:prstGeom prst="roundRect">
            <a:avLst/>
          </a:prstGeom>
          <a:solidFill>
            <a:srgbClr val="283248"/>
          </a:solidFill>
          <a:ln w="12700">
            <a:solidFill>
              <a:srgbClr val="9B7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58882" y="4315094"/>
            <a:ext cx="4737429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9B7ED0"/>
                </a:solidFill>
              </a:defRPr>
            </a:pPr>
            <a:r>
              <a:t>Flutter App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58882" y="4534550"/>
            <a:ext cx="4737429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Сборщик · полевой сбор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58882" y="4717430"/>
            <a:ext cx="4737429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</a:defRPr>
            </a:pPr>
            <a:r>
              <a:t>Сборщик логинится в мобильном приложении, получает актуальный конфиг с сервера, проходит сценарий офлайн, формирует пакет и отправляет на сервер при появлении сети.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0514" y="5563344"/>
            <a:ext cx="45719" cy="78907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73666" y="5508480"/>
            <a:ext cx="5449824" cy="878399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65106" y="5636496"/>
            <a:ext cx="374008" cy="312650"/>
          </a:xfrm>
          <a:prstGeom prst="roundRect">
            <a:avLst/>
          </a:prstGeom>
          <a:solidFill>
            <a:srgbClr val="283248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58882" y="5599920"/>
            <a:ext cx="4737429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5B8DEF"/>
                </a:solidFill>
              </a:defRPr>
            </a:pPr>
            <a:r>
              <a:t>Django + storage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58882" y="5819376"/>
            <a:ext cx="4737429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Платформа · единый бэкенд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58882" y="6002256"/>
            <a:ext cx="4737429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</a:defRPr>
            </a:pPr>
            <a:r>
              <a:t>Связывает все части: API для приложения и админок, хранение пакетов и медиа, синхронизация конфигов из Git, привязка данных к проектам.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95230" y="1109663"/>
            <a:ext cx="5074920" cy="5349240"/>
          </a:xfrm>
          <a:prstGeom prst="roundRect">
            <a:avLst/>
          </a:prstGeom>
          <a:solidFill>
            <a:srgbClr val="0A0E18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cxnSp>
        <p:nvCxnSpPr>
          <p:cNvPr id="43" name="Connector 42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5400">
            <a:solidFill>
              <a:srgbClr val="8BC9F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7822935" y="5314505"/>
            <a:ext cx="2392292" cy="572136"/>
          </a:xfrm>
          <a:prstGeom prst="roundRect">
            <a:avLst/>
          </a:prstGeom>
          <a:solidFill>
            <a:srgbClr val="2A2438"/>
          </a:solidFill>
          <a:ln w="19050">
            <a:solidFill>
              <a:srgbClr val="9B7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r>
              <a:rPr dirty="0"/>
              <a:t>Flutter App</a:t>
            </a:r>
            <a:endParaRPr lang="ru-RU" dirty="0"/>
          </a:p>
          <a:p>
            <a:pPr algn="ctr">
              <a:spcBef>
                <a:spcPts val="300"/>
              </a:spcBef>
              <a:defRPr sz="700">
                <a:solidFill>
                  <a:srgbClr val="9CA3AF"/>
                </a:solidFill>
              </a:defRPr>
            </a:pPr>
            <a:r>
              <a:rPr lang="ru-RU" dirty="0"/>
              <a:t>Сбор данных через мобильное приложение</a:t>
            </a:r>
            <a:r>
              <a:rPr lang="en-US" dirty="0"/>
              <a:t>, </a:t>
            </a:r>
            <a:r>
              <a:rPr lang="ru-RU" dirty="0"/>
              <a:t>приложение умеет рендерить и </a:t>
            </a:r>
            <a:r>
              <a:rPr lang="ru-RU" dirty="0" err="1"/>
              <a:t>отрисовывать</a:t>
            </a:r>
            <a:r>
              <a:rPr lang="ru-RU" dirty="0"/>
              <a:t> собранные проекты в </a:t>
            </a:r>
            <a:r>
              <a:rPr lang="ru-RU" dirty="0" err="1"/>
              <a:t>админке</a:t>
            </a:r>
            <a:r>
              <a:rPr lang="ru-RU" dirty="0"/>
              <a:t>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35817" y="2006890"/>
            <a:ext cx="87395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>
                <a:solidFill>
                  <a:srgbClr val="9B7ED0"/>
                </a:solidFill>
              </a:defRPr>
            </a:pPr>
            <a:r>
              <a:rPr lang="en-US" sz="800" dirty="0">
                <a:solidFill>
                  <a:schemeClr val="bg2"/>
                </a:solidFill>
              </a:rPr>
              <a:t>UI</a:t>
            </a:r>
            <a:r>
              <a:rPr lang="ru-RU" sz="800" dirty="0">
                <a:solidFill>
                  <a:schemeClr val="bg2"/>
                </a:solidFill>
              </a:rPr>
              <a:t>  </a:t>
            </a:r>
            <a:r>
              <a:rPr lang="en-US" sz="800" dirty="0">
                <a:solidFill>
                  <a:schemeClr val="bg2"/>
                </a:solidFill>
              </a:rPr>
              <a:t> </a:t>
            </a:r>
            <a:endParaRPr lang="ru-RU" sz="800" dirty="0">
              <a:solidFill>
                <a:schemeClr val="bg2"/>
              </a:solidFill>
            </a:endParaRPr>
          </a:p>
        </p:txBody>
      </p:sp>
      <p:sp>
        <p:nvSpPr>
          <p:cNvPr id="71" name="Rounded Rectangle 40">
            <a:extLst>
              <a:ext uri="{FF2B5EF4-FFF2-40B4-BE49-F238E27FC236}">
                <a16:creationId xmlns:a16="http://schemas.microsoft.com/office/drawing/2014/main" id="{C703FA00-7E43-40C1-990B-E3274E4A95B8}"/>
              </a:ext>
            </a:extLst>
          </p:cNvPr>
          <p:cNvSpPr/>
          <p:nvPr/>
        </p:nvSpPr>
        <p:spPr>
          <a:xfrm>
            <a:off x="9312173" y="2082894"/>
            <a:ext cx="2140187" cy="2014787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endParaRPr lang="ru-RU" dirty="0"/>
          </a:p>
        </p:txBody>
      </p:sp>
      <p:sp>
        <p:nvSpPr>
          <p:cNvPr id="53" name="Rounded Rectangle 52"/>
          <p:cNvSpPr/>
          <p:nvPr/>
        </p:nvSpPr>
        <p:spPr>
          <a:xfrm>
            <a:off x="9478767" y="2373030"/>
            <a:ext cx="1807001" cy="639922"/>
          </a:xfrm>
          <a:prstGeom prst="roundRect">
            <a:avLst/>
          </a:prstGeom>
          <a:solidFill>
            <a:srgbClr val="142018"/>
          </a:solidFill>
          <a:ln w="1905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r>
              <a:rPr dirty="0" err="1"/>
              <a:t>Проект</a:t>
            </a:r>
            <a:r>
              <a:rPr dirty="0"/>
              <a:t> × N</a:t>
            </a:r>
            <a:r>
              <a:rPr lang="en-US" dirty="0"/>
              <a:t> Git repo</a:t>
            </a:r>
            <a:r>
              <a:rPr lang="ru-RU" dirty="0"/>
              <a:t> </a:t>
            </a:r>
            <a:endParaRPr dirty="0"/>
          </a:p>
          <a:p>
            <a:pPr algn="ctr">
              <a:spcBef>
                <a:spcPts val="300"/>
              </a:spcBef>
              <a:defRPr sz="700">
                <a:solidFill>
                  <a:srgbClr val="9CA3AF"/>
                </a:solidFill>
              </a:defRPr>
            </a:pPr>
            <a:r>
              <a:rPr lang="ru-RU" dirty="0"/>
              <a:t>Под каждый</a:t>
            </a:r>
            <a:r>
              <a:rPr lang="en-US" dirty="0"/>
              <a:t> </a:t>
            </a:r>
            <a:r>
              <a:rPr lang="ru-RU" dirty="0"/>
              <a:t>проект создается свой гит </a:t>
            </a:r>
            <a:r>
              <a:rPr lang="ru-RU" dirty="0" err="1"/>
              <a:t>репозеторий</a:t>
            </a:r>
            <a:r>
              <a:rPr lang="ru-RU" dirty="0"/>
              <a:t> в котором хранится конфиг проекта и визуализаций данных  </a:t>
            </a:r>
            <a:endParaRPr dirty="0"/>
          </a:p>
        </p:txBody>
      </p:sp>
      <p:sp>
        <p:nvSpPr>
          <p:cNvPr id="41" name="Rounded Rectangle 40"/>
          <p:cNvSpPr/>
          <p:nvPr/>
        </p:nvSpPr>
        <p:spPr>
          <a:xfrm>
            <a:off x="9478767" y="3136551"/>
            <a:ext cx="1880838" cy="722884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r>
              <a:rPr dirty="0"/>
              <a:t>Django + </a:t>
            </a:r>
            <a:r>
              <a:rPr dirty="0" err="1"/>
              <a:t>хранилище</a:t>
            </a:r>
            <a:endParaRPr lang="ru-RU" dirty="0"/>
          </a:p>
          <a:p>
            <a:pPr algn="ctr">
              <a:spcBef>
                <a:spcPts val="300"/>
              </a:spcBef>
              <a:defRPr sz="700">
                <a:solidFill>
                  <a:srgbClr val="9CA3AF"/>
                </a:solidFill>
              </a:defRPr>
            </a:pPr>
            <a:r>
              <a:rPr lang="ru-RU" dirty="0"/>
              <a:t>Серверная часть проекта взаимодействие по средствам </a:t>
            </a:r>
            <a:r>
              <a:rPr lang="en-US" dirty="0"/>
              <a:t>API, </a:t>
            </a:r>
            <a:r>
              <a:rPr lang="ru-RU" dirty="0"/>
              <a:t>БД под каждый проект для</a:t>
            </a:r>
            <a:r>
              <a:rPr lang="en-US" dirty="0"/>
              <a:t> </a:t>
            </a:r>
            <a:r>
              <a:rPr lang="ru-RU" dirty="0" err="1"/>
              <a:t>храненя</a:t>
            </a:r>
            <a:r>
              <a:rPr lang="ru-RU" dirty="0"/>
              <a:t> пакетов и медиа файлов загруженных из приложения</a:t>
            </a:r>
          </a:p>
        </p:txBody>
      </p:sp>
      <p:sp>
        <p:nvSpPr>
          <p:cNvPr id="72" name="Rounded Rectangle 40">
            <a:extLst>
              <a:ext uri="{FF2B5EF4-FFF2-40B4-BE49-F238E27FC236}">
                <a16:creationId xmlns:a16="http://schemas.microsoft.com/office/drawing/2014/main" id="{273685BE-51D0-4EAE-803A-2B13A40692BF}"/>
              </a:ext>
            </a:extLst>
          </p:cNvPr>
          <p:cNvSpPr/>
          <p:nvPr/>
        </p:nvSpPr>
        <p:spPr>
          <a:xfrm>
            <a:off x="6683439" y="2284358"/>
            <a:ext cx="1977961" cy="1723866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endParaRPr lang="ru-RU" dirty="0"/>
          </a:p>
        </p:txBody>
      </p:sp>
      <p:sp>
        <p:nvSpPr>
          <p:cNvPr id="38" name="Rounded Rectangle 37"/>
          <p:cNvSpPr/>
          <p:nvPr/>
        </p:nvSpPr>
        <p:spPr>
          <a:xfrm>
            <a:off x="6796841" y="3212215"/>
            <a:ext cx="1708644" cy="585215"/>
          </a:xfrm>
          <a:prstGeom prst="roundRect">
            <a:avLst/>
          </a:prstGeom>
          <a:solidFill>
            <a:srgbClr val="3D3420"/>
          </a:solidFill>
          <a:ln w="1905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r>
              <a:rPr dirty="0"/>
              <a:t>Staff Admin</a:t>
            </a:r>
          </a:p>
          <a:p>
            <a:pPr algn="ctr">
              <a:spcBef>
                <a:spcPts val="300"/>
              </a:spcBef>
              <a:defRPr sz="700">
                <a:solidFill>
                  <a:srgbClr val="9CA3AF"/>
                </a:solidFill>
              </a:defRPr>
            </a:pPr>
            <a:r>
              <a:rPr lang="ru-RU" dirty="0"/>
              <a:t>Полные права</a:t>
            </a:r>
            <a:r>
              <a:rPr lang="en-US" dirty="0"/>
              <a:t>, </a:t>
            </a:r>
            <a:r>
              <a:rPr lang="ru-RU" dirty="0"/>
              <a:t> возможность просмотра и редактирования всех проектов</a:t>
            </a:r>
            <a:r>
              <a:rPr lang="en-US" dirty="0"/>
              <a:t>,</a:t>
            </a:r>
            <a:r>
              <a:rPr lang="ru-RU" dirty="0"/>
              <a:t> а также создание новых</a:t>
            </a:r>
            <a:endParaRPr dirty="0"/>
          </a:p>
        </p:txBody>
      </p:sp>
      <p:sp>
        <p:nvSpPr>
          <p:cNvPr id="54" name="Rounded Rectangle 45">
            <a:extLst>
              <a:ext uri="{FF2B5EF4-FFF2-40B4-BE49-F238E27FC236}">
                <a16:creationId xmlns:a16="http://schemas.microsoft.com/office/drawing/2014/main" id="{076F948B-E66E-4CB2-89CE-B31FCE09524A}"/>
              </a:ext>
            </a:extLst>
          </p:cNvPr>
          <p:cNvSpPr/>
          <p:nvPr/>
        </p:nvSpPr>
        <p:spPr>
          <a:xfrm>
            <a:off x="6805365" y="2540155"/>
            <a:ext cx="1708643" cy="594312"/>
          </a:xfrm>
          <a:prstGeom prst="roundRect">
            <a:avLst/>
          </a:prstGeom>
          <a:solidFill>
            <a:srgbClr val="1A2E28"/>
          </a:solidFill>
          <a:ln w="1905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r>
              <a:rPr dirty="0"/>
              <a:t>Client Admin</a:t>
            </a:r>
            <a:endParaRPr lang="ru-RU" dirty="0"/>
          </a:p>
          <a:p>
            <a:pPr algn="ctr">
              <a:spcBef>
                <a:spcPts val="300"/>
              </a:spcBef>
              <a:defRPr sz="700">
                <a:solidFill>
                  <a:srgbClr val="9CA3AF"/>
                </a:solidFill>
              </a:defRPr>
            </a:pPr>
            <a:r>
              <a:rPr lang="ru-RU" dirty="0"/>
              <a:t>Отдельная роль в интерфейсе доступен только просмотр проектов к которым есть доступ 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D5AA1AB-A501-4B8B-B834-29A4AB77F592}"/>
              </a:ext>
            </a:extLst>
          </p:cNvPr>
          <p:cNvSpPr txBox="1"/>
          <p:nvPr/>
        </p:nvSpPr>
        <p:spPr>
          <a:xfrm>
            <a:off x="9946614" y="1820960"/>
            <a:ext cx="11379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>
                <a:solidFill>
                  <a:srgbClr val="9B7ED0"/>
                </a:solidFill>
              </a:defRPr>
            </a:pPr>
            <a:r>
              <a:rPr lang="ru-RU" sz="800" dirty="0">
                <a:solidFill>
                  <a:schemeClr val="bg2"/>
                </a:solidFill>
              </a:rPr>
              <a:t>БД и серверная часть  </a:t>
            </a:r>
            <a:r>
              <a:rPr lang="en-US" sz="800" dirty="0">
                <a:solidFill>
                  <a:schemeClr val="bg2"/>
                </a:solidFill>
              </a:rPr>
              <a:t> </a:t>
            </a:r>
            <a:endParaRPr lang="ru-RU" sz="800" dirty="0">
              <a:solidFill>
                <a:schemeClr val="bg2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14E8777-A111-441E-929E-F24B370902BA}"/>
              </a:ext>
            </a:extLst>
          </p:cNvPr>
          <p:cNvSpPr txBox="1"/>
          <p:nvPr/>
        </p:nvSpPr>
        <p:spPr>
          <a:xfrm>
            <a:off x="8349236" y="5029611"/>
            <a:ext cx="138857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>
                <a:solidFill>
                  <a:srgbClr val="9B7ED0"/>
                </a:solidFill>
              </a:defRPr>
            </a:pPr>
            <a:r>
              <a:rPr lang="ru-RU" sz="800" dirty="0">
                <a:solidFill>
                  <a:schemeClr val="bg2"/>
                </a:solidFill>
              </a:rPr>
              <a:t>Мобильное приложение</a:t>
            </a:r>
          </a:p>
        </p:txBody>
      </p:sp>
      <p:sp>
        <p:nvSpPr>
          <p:cNvPr id="75" name="Стрелка: вправо 74">
            <a:extLst>
              <a:ext uri="{FF2B5EF4-FFF2-40B4-BE49-F238E27FC236}">
                <a16:creationId xmlns:a16="http://schemas.microsoft.com/office/drawing/2014/main" id="{E58EF93C-9350-47EC-A657-32180FEC57C3}"/>
              </a:ext>
            </a:extLst>
          </p:cNvPr>
          <p:cNvSpPr/>
          <p:nvPr/>
        </p:nvSpPr>
        <p:spPr>
          <a:xfrm>
            <a:off x="8897161" y="2921508"/>
            <a:ext cx="243840" cy="301752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4743437-5DAB-4F13-9B5E-41A4D94877AE}"/>
              </a:ext>
            </a:extLst>
          </p:cNvPr>
          <p:cNvSpPr txBox="1"/>
          <p:nvPr/>
        </p:nvSpPr>
        <p:spPr>
          <a:xfrm>
            <a:off x="8574012" y="2263364"/>
            <a:ext cx="8175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>
                <a:solidFill>
                  <a:srgbClr val="9B7ED0"/>
                </a:solidFill>
              </a:defRPr>
            </a:pPr>
            <a:r>
              <a:rPr lang="ru-RU" sz="800" dirty="0">
                <a:solidFill>
                  <a:schemeClr val="bg2"/>
                </a:solidFill>
              </a:rPr>
              <a:t>Создание конфига и отрисовка пактов</a:t>
            </a:r>
            <a:endParaRPr sz="800" dirty="0">
              <a:solidFill>
                <a:schemeClr val="bg2"/>
              </a:solidFill>
            </a:endParaRPr>
          </a:p>
        </p:txBody>
      </p:sp>
      <p:sp>
        <p:nvSpPr>
          <p:cNvPr id="77" name="Стрелка: вправо 76">
            <a:extLst>
              <a:ext uri="{FF2B5EF4-FFF2-40B4-BE49-F238E27FC236}">
                <a16:creationId xmlns:a16="http://schemas.microsoft.com/office/drawing/2014/main" id="{A97F8C2C-5E37-4A79-A6E2-44CAD3F54BE5}"/>
              </a:ext>
            </a:extLst>
          </p:cNvPr>
          <p:cNvSpPr/>
          <p:nvPr/>
        </p:nvSpPr>
        <p:spPr>
          <a:xfrm rot="16200000">
            <a:off x="9429693" y="4444863"/>
            <a:ext cx="419181" cy="438912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2723655-C81E-40DB-BCBF-C8AE8814E743}"/>
              </a:ext>
            </a:extLst>
          </p:cNvPr>
          <p:cNvSpPr txBox="1"/>
          <p:nvPr/>
        </p:nvSpPr>
        <p:spPr>
          <a:xfrm>
            <a:off x="9737806" y="4537765"/>
            <a:ext cx="8175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>
                <a:solidFill>
                  <a:srgbClr val="9B7ED0"/>
                </a:solidFill>
              </a:defRPr>
            </a:pPr>
            <a:r>
              <a:rPr lang="ru-RU" sz="800" dirty="0">
                <a:solidFill>
                  <a:schemeClr val="bg2"/>
                </a:solidFill>
              </a:rPr>
              <a:t>Загрузка пакетов</a:t>
            </a:r>
            <a:endParaRPr sz="800" dirty="0">
              <a:solidFill>
                <a:schemeClr val="bg2"/>
              </a:solidFill>
            </a:endParaRPr>
          </a:p>
        </p:txBody>
      </p:sp>
      <p:sp>
        <p:nvSpPr>
          <p:cNvPr id="79" name="Стрелка: вправо 78">
            <a:extLst>
              <a:ext uri="{FF2B5EF4-FFF2-40B4-BE49-F238E27FC236}">
                <a16:creationId xmlns:a16="http://schemas.microsoft.com/office/drawing/2014/main" id="{4D17E906-5FCD-4D3F-ACEF-A57E2C4D9105}"/>
              </a:ext>
            </a:extLst>
          </p:cNvPr>
          <p:cNvSpPr/>
          <p:nvPr/>
        </p:nvSpPr>
        <p:spPr>
          <a:xfrm rot="5400000">
            <a:off x="8181668" y="4444864"/>
            <a:ext cx="419181" cy="438912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213DC5C-F60F-481B-9767-39DBCBAD49A3}"/>
              </a:ext>
            </a:extLst>
          </p:cNvPr>
          <p:cNvSpPr txBox="1"/>
          <p:nvPr/>
        </p:nvSpPr>
        <p:spPr>
          <a:xfrm>
            <a:off x="7250581" y="4459163"/>
            <a:ext cx="9814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>
                <a:solidFill>
                  <a:srgbClr val="9B7ED0"/>
                </a:solidFill>
              </a:defRPr>
            </a:pPr>
            <a:r>
              <a:rPr lang="ru-RU" sz="800" dirty="0">
                <a:solidFill>
                  <a:schemeClr val="bg2"/>
                </a:solidFill>
              </a:rPr>
              <a:t>Синхронизация пакетов</a:t>
            </a:r>
            <a:endParaRPr sz="8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0E18"/>
            </a:gs>
            <a:gs pos="100000">
              <a:srgbClr val="182030"/>
            </a:gs>
          </a:gsLst>
          <a:lin ang="13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097280" y="-914400"/>
            <a:ext cx="3200400" cy="3200400"/>
          </a:xfrm>
          <a:prstGeom prst="ellipse">
            <a:avLst/>
          </a:prstGeom>
          <a:solidFill>
            <a:srgbClr val="3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2560320" cy="2560320"/>
          </a:xfrm>
          <a:prstGeom prst="ellipse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836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Data Collector  ·  Epoch8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8368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04 /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11480"/>
            <a:ext cx="1645920" cy="29260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B8DEF"/>
                </a:solidFill>
              </a:defRPr>
            </a:pPr>
            <a:r>
              <a:t>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777240"/>
            <a:ext cx="10058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E8EAED"/>
                </a:solidFill>
              </a:defRPr>
            </a:pPr>
            <a:r>
              <a:t>Путь данных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490472"/>
            <a:ext cx="2011680" cy="4572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94360" y="1783080"/>
            <a:ext cx="11018520" cy="4160520"/>
          </a:xfrm>
          <a:prstGeom prst="roundRect">
            <a:avLst/>
          </a:prstGeom>
          <a:solidFill>
            <a:srgbClr val="0A0E18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2376" y="1911096"/>
            <a:ext cx="1076248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E8EAED"/>
                </a:solidFill>
              </a:defRPr>
            </a:pPr>
            <a:r>
              <a:t>Два пути: жизненный цикл конфига и жизненный цикл пакета данных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2130552"/>
            <a:ext cx="1076248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D4A84B"/>
                </a:solidFill>
              </a:defRPr>
            </a:pPr>
            <a:r>
              <a:t>Конфиг (config.json + viz.json в Git)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" y="2331720"/>
            <a:ext cx="3526536" cy="932688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r>
              <a:t>①  Настройка</a:t>
            </a:r>
            <a:br/>
            <a:r>
              <a:t>в Staff Admin</a:t>
            </a:r>
          </a:p>
          <a:p>
            <a:pPr algn="ctr">
              <a:spcBef>
                <a:spcPts val="300"/>
              </a:spcBef>
              <a:defRPr sz="700">
                <a:solidFill>
                  <a:srgbClr val="9CA3AF"/>
                </a:solidFill>
              </a:defRPr>
            </a:pPr>
            <a:r>
              <a:t>fields · flow · Git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5400">
            <a:solidFill>
              <a:srgbClr val="D4A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340352" y="2331720"/>
            <a:ext cx="3526536" cy="932688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r>
              <a:t>②  Синк</a:t>
            </a:r>
            <a:br/>
            <a:r>
              <a:t>в приложение</a:t>
            </a:r>
          </a:p>
          <a:p>
            <a:pPr algn="ctr">
              <a:spcBef>
                <a:spcPts val="300"/>
              </a:spcBef>
              <a:defRPr sz="700">
                <a:solidFill>
                  <a:srgbClr val="9CA3AF"/>
                </a:solidFill>
              </a:defRPr>
            </a:pPr>
            <a:r>
              <a:t>тот же сценарий в МП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5400">
            <a:solidFill>
              <a:srgbClr val="D4A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958328" y="2331720"/>
            <a:ext cx="3526536" cy="932688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r>
              <a:t>③  Визуализации</a:t>
            </a:r>
            <a:br/>
            <a:r>
              <a:t>в админке</a:t>
            </a:r>
          </a:p>
          <a:p>
            <a:pPr algn="ctr">
              <a:spcBef>
                <a:spcPts val="300"/>
              </a:spcBef>
              <a:defRPr sz="700">
                <a:solidFill>
                  <a:srgbClr val="9CA3AF"/>
                </a:solidFill>
              </a:defRPr>
            </a:pPr>
            <a:r>
              <a:t>viz.json → UI просмотра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" y="3611880"/>
            <a:ext cx="1076248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9B7ED0"/>
                </a:solidFill>
              </a:defRPr>
            </a:pPr>
            <a:r>
              <a:t>Пакет данных (результат сбора)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2376" y="3813048"/>
            <a:ext cx="3526536" cy="932688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9B7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r>
              <a:t>①  Сбор</a:t>
            </a:r>
            <a:br/>
            <a:r>
              <a:t>в приложении</a:t>
            </a:r>
          </a:p>
          <a:p>
            <a:pPr algn="ctr">
              <a:spcBef>
                <a:spcPts val="300"/>
              </a:spcBef>
              <a:defRPr sz="700">
                <a:solidFill>
                  <a:srgbClr val="9CA3AF"/>
                </a:solidFill>
              </a:defRPr>
            </a:pPr>
            <a:r>
              <a:t>сборщик по flow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5400">
            <a:solidFill>
              <a:srgbClr val="9B7E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340352" y="3813048"/>
            <a:ext cx="3526536" cy="932688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9B7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r>
              <a:t>②  Upload</a:t>
            </a:r>
            <a:br/>
            <a:r>
              <a:t>на сервер</a:t>
            </a:r>
          </a:p>
          <a:p>
            <a:pPr algn="ctr">
              <a:spcBef>
                <a:spcPts val="300"/>
              </a:spcBef>
              <a:defRPr sz="700">
                <a:solidFill>
                  <a:srgbClr val="9CA3AF"/>
                </a:solidFill>
              </a:defRPr>
            </a:pPr>
            <a:r>
              <a:t>поля + фото + манифест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5400">
            <a:solidFill>
              <a:srgbClr val="9B7E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958328" y="3813048"/>
            <a:ext cx="3526536" cy="932688"/>
          </a:xfrm>
          <a:prstGeom prst="roundRect">
            <a:avLst/>
          </a:prstGeom>
          <a:solidFill>
            <a:srgbClr val="1E2A3D"/>
          </a:solidFill>
          <a:ln w="19050">
            <a:solidFill>
              <a:srgbClr val="9B7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>
              <a:defRPr sz="1000" b="1">
                <a:solidFill>
                  <a:srgbClr val="E8EAED"/>
                </a:solidFill>
              </a:defRPr>
            </a:pPr>
            <a:r>
              <a:t>③  Просмотр</a:t>
            </a:r>
            <a:br/>
            <a:r>
              <a:t>в админке</a:t>
            </a:r>
          </a:p>
          <a:p>
            <a:pPr algn="ctr">
              <a:spcBef>
                <a:spcPts val="300"/>
              </a:spcBef>
              <a:defRPr sz="700">
                <a:solidFill>
                  <a:srgbClr val="9CA3AF"/>
                </a:solidFill>
              </a:defRPr>
            </a:pPr>
            <a:r>
              <a:t>фильтры · workspace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989320"/>
            <a:ext cx="11018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</a:defRPr>
            </a:pPr>
            <a:r>
              <a:t>Конфиг описывает сценарий (fields + flow + viz) · пакет — результат прохождения сценария сборщиком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0E18"/>
            </a:gs>
            <a:gs pos="100000">
              <a:srgbClr val="182030"/>
            </a:gs>
          </a:gsLst>
          <a:lin ang="13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097280" y="-914400"/>
            <a:ext cx="3200400" cy="3200400"/>
          </a:xfrm>
          <a:prstGeom prst="ellipse">
            <a:avLst/>
          </a:prstGeom>
          <a:solidFill>
            <a:srgbClr val="3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2560320" cy="2560320"/>
          </a:xfrm>
          <a:prstGeom prst="ellipse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836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Data Collector  ·  Epoch8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8368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05 /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11480"/>
            <a:ext cx="1645920" cy="29260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B8DEF"/>
                </a:solidFill>
              </a:defRPr>
            </a:pPr>
            <a:r>
              <a:t>CONFIG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777240"/>
            <a:ext cx="10058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E8EAED"/>
                </a:solidFill>
              </a:defRPr>
            </a:pPr>
            <a:r>
              <a:t>Конфиг = сценарий без кода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490472"/>
            <a:ext cx="2011680" cy="4572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64592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</a:defRPr>
            </a:pPr>
            <a:r>
              <a:t>JSON в Git — без релиза приложения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1719072"/>
            <a:ext cx="45720" cy="42062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67512" y="1664208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rPr dirty="0" err="1"/>
              <a:t>Конфиг</a:t>
            </a:r>
            <a:r>
              <a:rPr lang="ru-RU" dirty="0"/>
              <a:t> проекта</a:t>
            </a:r>
            <a:r>
              <a:rPr dirty="0"/>
              <a:t> — </a:t>
            </a:r>
            <a:r>
              <a:rPr dirty="0" err="1"/>
              <a:t>это</a:t>
            </a:r>
            <a:r>
              <a:rPr dirty="0"/>
              <a:t>  JSON</a:t>
            </a:r>
            <a:r>
              <a:rPr lang="ru-RU" dirty="0"/>
              <a:t> </a:t>
            </a:r>
            <a:r>
              <a:rPr dirty="0" err="1"/>
              <a:t>файл</a:t>
            </a:r>
            <a:r>
              <a:rPr dirty="0"/>
              <a:t> в Git-</a:t>
            </a:r>
            <a:r>
              <a:rPr dirty="0" err="1"/>
              <a:t>репозитории</a:t>
            </a:r>
            <a:r>
              <a:rPr dirty="0"/>
              <a:t> </a:t>
            </a:r>
            <a:r>
              <a:rPr dirty="0" err="1"/>
              <a:t>проекта</a:t>
            </a:r>
            <a:endParaRPr dirty="0"/>
          </a:p>
        </p:txBody>
      </p:sp>
      <p:sp>
        <p:nvSpPr>
          <p:cNvPr id="14" name="Rectangle 13"/>
          <p:cNvSpPr/>
          <p:nvPr/>
        </p:nvSpPr>
        <p:spPr>
          <a:xfrm>
            <a:off x="594360" y="2322576"/>
            <a:ext cx="45720" cy="42062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67512" y="2267712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fields — описание полей: текст, фото, дата, выбор из списка…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2926080"/>
            <a:ext cx="45720" cy="42062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67512" y="2871216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Один набор fields = один экран формы в мобильном приложении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529584"/>
            <a:ext cx="45720" cy="42062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67512" y="3474720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flow — порядок экранов: сценарий сбора = последовательность fields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4133088"/>
            <a:ext cx="45720" cy="42062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67512" y="4078224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rPr lang="ru-RU" dirty="0"/>
              <a:t>Конфиг визуализации это </a:t>
            </a:r>
            <a:r>
              <a:rPr lang="en-US" dirty="0"/>
              <a:t>JSON </a:t>
            </a:r>
            <a:r>
              <a:rPr lang="ru-RU" dirty="0"/>
              <a:t>файл который определяет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показывать</a:t>
            </a:r>
            <a:r>
              <a:rPr dirty="0"/>
              <a:t> </a:t>
            </a:r>
            <a:r>
              <a:rPr dirty="0" err="1"/>
              <a:t>пакет</a:t>
            </a:r>
            <a:r>
              <a:rPr dirty="0"/>
              <a:t> и </a:t>
            </a:r>
            <a:r>
              <a:rPr dirty="0" err="1"/>
              <a:t>визуализации</a:t>
            </a:r>
            <a:r>
              <a:rPr dirty="0"/>
              <a:t> в </a:t>
            </a:r>
            <a:r>
              <a:rPr dirty="0" err="1"/>
              <a:t>админке</a:t>
            </a:r>
            <a:endParaRPr dirty="0"/>
          </a:p>
        </p:txBody>
      </p:sp>
      <p:sp>
        <p:nvSpPr>
          <p:cNvPr id="22" name="Rectangle 21"/>
          <p:cNvSpPr/>
          <p:nvPr/>
        </p:nvSpPr>
        <p:spPr>
          <a:xfrm>
            <a:off x="594360" y="4828032"/>
            <a:ext cx="45720" cy="42062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67512" y="4773168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Новый сценарий = правка или новый JSON в Git, а не релиз приложения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37960" y="960120"/>
            <a:ext cx="5074920" cy="5349240"/>
          </a:xfrm>
          <a:prstGeom prst="roundRect">
            <a:avLst/>
          </a:prstGeom>
          <a:solidFill>
            <a:srgbClr val="0A0E18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8" name="Connector 27"/>
          <p:cNvCxnSpPr/>
          <p:nvPr/>
        </p:nvCxnSpPr>
        <p:spPr>
          <a:xfrm>
            <a:off x="0" y="2386584"/>
            <a:ext cx="0" cy="73152"/>
          </a:xfrm>
          <a:prstGeom prst="line">
            <a:avLst/>
          </a:prstGeom>
          <a:ln w="25400">
            <a:solidFill>
              <a:srgbClr val="5B8D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3246120"/>
            <a:ext cx="0" cy="73152"/>
          </a:xfrm>
          <a:prstGeom prst="line">
            <a:avLst/>
          </a:prstGeom>
          <a:ln w="25400">
            <a:solidFill>
              <a:srgbClr val="9B7E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6BD4FB02-021D-4743-BA76-F88B257BA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1310" y="1100252"/>
            <a:ext cx="3732610" cy="50689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0E18"/>
            </a:gs>
            <a:gs pos="100000">
              <a:srgbClr val="182030"/>
            </a:gs>
          </a:gsLst>
          <a:lin ang="13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097280" y="-914400"/>
            <a:ext cx="3200400" cy="3200400"/>
          </a:xfrm>
          <a:prstGeom prst="ellipse">
            <a:avLst/>
          </a:prstGeom>
          <a:solidFill>
            <a:srgbClr val="3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2560320" cy="2560320"/>
          </a:xfrm>
          <a:prstGeom prst="ellipse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836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Data Collector  ·  Epoch8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8368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06 /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11480"/>
            <a:ext cx="1645920" cy="29260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D4A84B"/>
                </a:solidFill>
              </a:defRPr>
            </a:pPr>
            <a:r>
              <a:t>STEP 01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347472"/>
            <a:ext cx="457200" cy="457200"/>
          </a:xfrm>
          <a:prstGeom prst="ellipse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21218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932688"/>
            <a:ext cx="10058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E8EAED"/>
                </a:solidFill>
              </a:defRPr>
            </a:pPr>
            <a:r>
              <a:t>Админ настраивает проект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645920"/>
            <a:ext cx="2011680" cy="4572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4360" y="1901952"/>
            <a:ext cx="45720" cy="420624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67512" y="1847088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Создаёт проект и привязывает Git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505456"/>
            <a:ext cx="45720" cy="420624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67512" y="2450592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Редактирует config.json: fields + flow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3108960"/>
            <a:ext cx="45720" cy="420624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67512" y="3054096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Назначает сборщиков на проект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712464"/>
            <a:ext cx="45720" cy="420624"/>
          </a:xfrm>
          <a:prstGeom prst="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67512" y="3657600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Сохраняет → commit + push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960120"/>
            <a:ext cx="5074920" cy="5349240"/>
          </a:xfrm>
          <a:prstGeom prst="roundRect">
            <a:avLst/>
          </a:prstGeom>
          <a:solidFill>
            <a:srgbClr val="1A202C"/>
          </a:solidFill>
          <a:ln w="12700">
            <a:solidFill>
              <a:srgbClr val="D4A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629400" y="1051560"/>
            <a:ext cx="4892040" cy="5166360"/>
          </a:xfrm>
          <a:prstGeom prst="roundRect">
            <a:avLst/>
          </a:prstGeom>
          <a:solidFill>
            <a:srgbClr val="182030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9CA3AF"/>
                </a:solidFill>
              </a:defRPr>
            </a:pPr>
            <a:r>
              <a:t>проекты · JSON-редактор · пользователи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607040" y="1033272"/>
            <a:ext cx="914400" cy="219456"/>
          </a:xfrm>
          <a:prstGeom prst="roundRect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00" b="1">
                <a:solidFill>
                  <a:srgbClr val="E8EAED"/>
                </a:solidFill>
              </a:defRPr>
            </a:pPr>
            <a:r>
              <a:t>SCREENSHOT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0E18"/>
            </a:gs>
            <a:gs pos="100000">
              <a:srgbClr val="182030"/>
            </a:gs>
          </a:gsLst>
          <a:lin ang="13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097280" y="-914400"/>
            <a:ext cx="3200400" cy="3200400"/>
          </a:xfrm>
          <a:prstGeom prst="ellipse">
            <a:avLst/>
          </a:prstGeom>
          <a:solidFill>
            <a:srgbClr val="3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2560320" cy="2560320"/>
          </a:xfrm>
          <a:prstGeom prst="ellipse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836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Data Collector  ·  Epoch8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8368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07 /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11480"/>
            <a:ext cx="1645920" cy="29260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B8DEF"/>
                </a:solidFill>
              </a:defRPr>
            </a:pPr>
            <a:r>
              <a:t>STEP 02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347472"/>
            <a:ext cx="457200" cy="457200"/>
          </a:xfrm>
          <a:prstGeom prst="ellipse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21218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932688"/>
            <a:ext cx="10058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E8EAED"/>
                </a:solidFill>
              </a:defRPr>
            </a:pPr>
            <a:r>
              <a:t>Конфиг в приложении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645920"/>
            <a:ext cx="2011680" cy="4572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4360" y="1901952"/>
            <a:ext cx="45720" cy="42062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67512" y="1847088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Сборщик логинится и видит свои проекты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505456"/>
            <a:ext cx="45720" cy="42062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67512" y="2450592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Приложение скачивает config с сервера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3108960"/>
            <a:ext cx="45720" cy="42062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67512" y="3054096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Кэширует локально — работает офлайн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712464"/>
            <a:ext cx="45720" cy="42062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67512" y="3657600"/>
            <a:ext cx="559612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Заполняет данные формы и подтверждает формирование пакета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960120"/>
            <a:ext cx="5074920" cy="5349240"/>
          </a:xfrm>
          <a:prstGeom prst="roundRect">
            <a:avLst/>
          </a:prstGeom>
          <a:solidFill>
            <a:srgbClr val="1A202C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629400" y="1051560"/>
            <a:ext cx="4892040" cy="5166360"/>
          </a:xfrm>
          <a:prstGeom prst="roundRect">
            <a:avLst/>
          </a:prstGeom>
          <a:solidFill>
            <a:srgbClr val="182030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9CA3AF"/>
                </a:solidFill>
              </a:defRPr>
            </a:pPr>
            <a:r>
              <a:t>список проектов · форма · камера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607040" y="1033272"/>
            <a:ext cx="914400" cy="219456"/>
          </a:xfrm>
          <a:prstGeom prst="round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00" b="1">
                <a:solidFill>
                  <a:srgbClr val="E8EAED"/>
                </a:solidFill>
              </a:defRPr>
            </a:pPr>
            <a:r>
              <a:t>SCREENSHOT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0E18"/>
            </a:gs>
            <a:gs pos="100000">
              <a:srgbClr val="182030"/>
            </a:gs>
          </a:gsLst>
          <a:lin ang="13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097280" y="-914400"/>
            <a:ext cx="3200400" cy="3200400"/>
          </a:xfrm>
          <a:prstGeom prst="ellipse">
            <a:avLst/>
          </a:prstGeom>
          <a:solidFill>
            <a:srgbClr val="3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2560320" cy="2560320"/>
          </a:xfrm>
          <a:prstGeom prst="ellipse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A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8368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Data Collector  ·  Epoch8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8368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08 /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11480"/>
            <a:ext cx="1645920" cy="292608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DCC85"/>
                </a:solidFill>
              </a:defRPr>
            </a:pPr>
            <a:r>
              <a:t>STEP 03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347472"/>
            <a:ext cx="457200" cy="457200"/>
          </a:xfrm>
          <a:prstGeom prst="ellipse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21218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777240"/>
            <a:ext cx="10058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E8EAED"/>
                </a:solidFill>
              </a:defRPr>
            </a:pPr>
            <a:r>
              <a:t>Просмотр принятых пакетов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490472"/>
            <a:ext cx="2011680" cy="4572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164592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</a:defRPr>
            </a:pPr>
            <a:r>
              <a:t>Админка: список → фильтр → workspace пакета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929383"/>
            <a:ext cx="45720" cy="420624"/>
          </a:xfrm>
          <a:prstGeom prst="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67512" y="1874519"/>
            <a:ext cx="523036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Список всех принятых пакетов по проектам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532887"/>
            <a:ext cx="45720" cy="420624"/>
          </a:xfrm>
          <a:prstGeom prst="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67512" y="2478023"/>
            <a:ext cx="523036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Фильтры: проект, статус, поиск по полям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136391"/>
            <a:ext cx="45720" cy="420624"/>
          </a:xfrm>
          <a:prstGeom prst="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67512" y="3081527"/>
            <a:ext cx="523036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данные · медиа · визуализации · история правок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3739895"/>
            <a:ext cx="45720" cy="420624"/>
          </a:xfrm>
          <a:prstGeom prst="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67512" y="3685031"/>
            <a:ext cx="5230368" cy="530352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E8EAED"/>
                </a:solidFill>
              </a:defRPr>
            </a:pPr>
            <a:r>
              <a:t>UI строится из тех же полей в конфиге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960120"/>
            <a:ext cx="5074920" cy="5349240"/>
          </a:xfrm>
          <a:prstGeom prst="roundRect">
            <a:avLst/>
          </a:prstGeom>
          <a:solidFill>
            <a:srgbClr val="1A202C"/>
          </a:solidFill>
          <a:ln w="1270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263640" y="1051560"/>
            <a:ext cx="4892040" cy="5166360"/>
          </a:xfrm>
          <a:prstGeom prst="roundRect">
            <a:avLst/>
          </a:prstGeom>
          <a:solidFill>
            <a:srgbClr val="182030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9CA3AF"/>
                </a:solidFill>
              </a:defRPr>
            </a:pPr>
            <a:r>
              <a:t>admin-packages.gif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41280" y="1033272"/>
            <a:ext cx="914400" cy="219456"/>
          </a:xfrm>
          <a:prstGeom prst="round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00" b="1">
                <a:solidFill>
                  <a:srgbClr val="E8EAED"/>
                </a:solidFill>
              </a:defRPr>
            </a:pPr>
            <a:r>
              <a:t>SCREENSHOT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E1828"/>
            </a:gs>
            <a:gs pos="100000">
              <a:srgbClr val="0A0E18"/>
            </a:gs>
          </a:gsLst>
          <a:lin ang="12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097280" y="-914400"/>
            <a:ext cx="3200400" cy="3200400"/>
          </a:xfrm>
          <a:prstGeom prst="ellipse">
            <a:avLst/>
          </a:prstGeom>
          <a:solidFill>
            <a:srgbClr val="3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515600" y="5303520"/>
            <a:ext cx="2560320" cy="2560320"/>
          </a:xfrm>
          <a:prstGeom prst="ellipse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97280" y="1371600"/>
            <a:ext cx="9966960" cy="4114800"/>
          </a:xfrm>
          <a:prstGeom prst="roundRect">
            <a:avLst/>
          </a:prstGeom>
          <a:solidFill>
            <a:srgbClr val="1E2A3D"/>
          </a:solidFill>
          <a:ln w="12700">
            <a:solidFill>
              <a:srgbClr val="3D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08760" y="169164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E8EAED"/>
                </a:solidFill>
              </a:defRPr>
            </a:pPr>
            <a:r>
              <a:t>Data Collector в одном предложении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423160"/>
            <a:ext cx="9144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9CA3AF"/>
                </a:solidFill>
              </a:defRPr>
            </a:pPr>
            <a:r>
              <a:t>Админ описывает сценарий в JSON → приложение проводит сборщика по шагам → пакет с медиа попадает в админку → команда видит данные без ручной склейки.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8368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</a:defRPr>
            </a:pPr>
            <a:r>
              <a:t>09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604</Words>
  <Application>Microsoft Office PowerPoint</Application>
  <PresentationFormat>Широкоэкранный</PresentationFormat>
  <Paragraphs>105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admin</dc:creator>
  <cp:keywords/>
  <dc:description>generated using python-pptx</dc:description>
  <cp:lastModifiedBy>Сметанин Артём Алексеевич</cp:lastModifiedBy>
  <cp:revision>7</cp:revision>
  <dcterms:created xsi:type="dcterms:W3CDTF">2013-01-27T09:14:16Z</dcterms:created>
  <dcterms:modified xsi:type="dcterms:W3CDTF">2026-06-11T11:27:33Z</dcterms:modified>
  <cp:category/>
</cp:coreProperties>
</file>