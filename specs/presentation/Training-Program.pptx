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41C32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85800"/>
            <a:ext cx="6720840" cy="54864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A84B"/>
                </a:solidFill>
              </a:defRPr>
            </a:pPr>
            <a:r>
              <a:t>E8 team  ·  Обучение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6217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E8EAED"/>
                </a:solidFill>
              </a:defRPr>
            </a:pPr>
            <a:r>
              <a:t>Программа обучения</a:t>
            </a:r>
            <a:br/>
            <a:r>
              <a:t>команды сопровождения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88920"/>
            <a:ext cx="2377440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План 300 ч + дорожная карта реализации</a:t>
            </a:r>
            <a:br/>
            <a:r>
              <a:t>data-collector · datapipe · бонитировка КРС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BC9F7"/>
                </a:solidFill>
              </a:defRPr>
            </a:pPr>
            <a:r>
              <a:t>Full-stack Engineer  +  ML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960120"/>
            <a:ext cx="4251960" cy="50749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4" y="1161288"/>
            <a:ext cx="3959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BC9F7"/>
                </a:solidFill>
              </a:defRPr>
            </a:pPr>
            <a:r>
              <a:t>Сквозной путь обучения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98664" y="1417320"/>
            <a:ext cx="598932" cy="749808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Предметка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бонитировка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97596.0" y="1792224.0"/>
            <a:ext cx="73152.0" cy="0.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0748" y="1417320"/>
            <a:ext cx="598932" cy="749808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data-collector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съемка · upload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.0" y="1792224.0"/>
            <a:ext cx="73152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42832" y="1417320"/>
            <a:ext cx="598932" cy="74980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datapipe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CVAT · inference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41764.0" y="1792224.0"/>
            <a:ext cx="73152.0" cy="0.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14916" y="1417320"/>
            <a:ext cx="598932" cy="74980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Админка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визуализация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13848.0" y="1792224.0"/>
            <a:ext cx="73152.0" cy="0.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87000" y="1417320"/>
            <a:ext cx="598932" cy="749808"/>
          </a:xfrm>
          <a:prstGeom prst="roundRect">
            <a:avLst/>
          </a:prstGeom>
          <a:solidFill>
            <a:srgbClr val="2A2028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Эксплуатация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инциденты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85932.0" y="1792224.0"/>
            <a:ext cx="73152.0" cy="0.0"/>
          </a:xfrm>
          <a:prstGeom prst="line">
            <a:avLst/>
          </a:prstGeom>
          <a:ln w="25400">
            <a:solidFill>
              <a:srgbClr val="E8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59084" y="1417320"/>
            <a:ext cx="598932" cy="749808"/>
          </a:xfrm>
          <a:prstGeom prst="roundRect">
            <a:avLst/>
          </a:prstGeom>
          <a:solidFill>
            <a:srgbClr val="1E2838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Аттестация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ролевые задачи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2670048"/>
            <a:ext cx="3959352" cy="566928"/>
          </a:xfrm>
          <a:prstGeom prst="roundRect">
            <a:avLst/>
          </a:prstGeom>
          <a:solidFill>
            <a:srgbClr val="14201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Reusable Core + Korovas Layer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универсальные материалы + домен заказчика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Программа в цифрах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Утвержденный план и формат реализации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74519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DCC85"/>
                </a:solidFill>
              </a:defRPr>
            </a:pPr>
            <a:r>
              <a:t>300 ч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работа e8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874519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D4A84B"/>
                </a:solidFill>
              </a:defRPr>
            </a:pPr>
            <a:r>
              <a:t>990 000 ₽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бюджет программы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874519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B8DEF"/>
                </a:solidFill>
              </a:defRPr>
            </a:pPr>
            <a:r>
              <a:t>15 нед.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календарь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73551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9B7ED0"/>
                </a:solidFill>
              </a:defRPr>
            </a:pPr>
            <a:r>
              <a:t>8 блоков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структура курса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3273551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8BC9F7"/>
                </a:solidFill>
              </a:defRPr>
            </a:pPr>
            <a:r>
              <a:t>2 роли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Full-stack +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3273551"/>
            <a:ext cx="2606040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87A7E"/>
                </a:solidFill>
              </a:defRPr>
            </a:pPr>
            <a:r>
              <a:t>~394 ч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освоение на участника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626864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4572000"/>
            <a:ext cx="108996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Цель: не лекции, а проектное погружение в реальный продуктовый цикл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230368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5175504"/>
            <a:ext cx="108996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Материалы делятся на Reusable Core, Product Layer и Korovas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833872"/>
            <a:ext cx="45720" cy="585216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" y="5779008"/>
            <a:ext cx="10899648" cy="69494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Каждый блок заканчивается проверяемым артефактом: отчет, PR, E2E, runbook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Как устроено обучение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Сценарии вместо теории ради теории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3794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7830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Участник проходит путь от предметной области до аттестации на стенде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41448"/>
            <a:ext cx="45720" cy="58521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386584"/>
            <a:ext cx="5596128" cy="69494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Короткие видео снимают повторяющееся объяснение — синхронное время для разборов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20954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1546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Практикумы и разборы инцидентов дают ощущение реальной эксплуатации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13048"/>
            <a:ext cx="45720" cy="58521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758184"/>
            <a:ext cx="5596128" cy="69494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Ревью кода и пайплайна проверяет способность вести проект самостоятельно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581144"/>
            <a:ext cx="45720" cy="58521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526280"/>
            <a:ext cx="5596128" cy="69494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Финал: перенос решений в новую предметную область — например, бонитировка баранов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1161288"/>
            <a:ext cx="4782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BC9F7"/>
                </a:solidFill>
              </a:defRPr>
            </a:pPr>
            <a:r>
              <a:t>Сквозной путь обучения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4264" y="1417320"/>
            <a:ext cx="736092" cy="749808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Предметка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бонитировка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0356.0" y="1792224.0"/>
            <a:ext cx="73152.0" cy="0.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3508" y="1417320"/>
            <a:ext cx="736092" cy="749808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data-collector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съемка · upload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0.0" y="1792224.0"/>
            <a:ext cx="73152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02752" y="1417320"/>
            <a:ext cx="736092" cy="74980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datapipe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CVAT · inference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38844.0" y="1792224.0"/>
            <a:ext cx="73152.0" cy="0.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11996" y="1417320"/>
            <a:ext cx="736092" cy="74980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Админка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визуализация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48088.0" y="1792224.0"/>
            <a:ext cx="73152.0" cy="0.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21240" y="1417320"/>
            <a:ext cx="736092" cy="749808"/>
          </a:xfrm>
          <a:prstGeom prst="roundRect">
            <a:avLst/>
          </a:prstGeom>
          <a:solidFill>
            <a:srgbClr val="2A2028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Эксплуатация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инциденты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57332.0" y="1792224.0"/>
            <a:ext cx="73152.0" cy="0.0"/>
          </a:xfrm>
          <a:prstGeom prst="line">
            <a:avLst/>
          </a:prstGeom>
          <a:ln w="25400">
            <a:solidFill>
              <a:srgbClr val="E8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730484" y="1417320"/>
            <a:ext cx="736092" cy="749808"/>
          </a:xfrm>
          <a:prstGeom prst="roundRect">
            <a:avLst/>
          </a:prstGeom>
          <a:solidFill>
            <a:srgbClr val="1E2838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E8EAED"/>
                </a:solidFill>
              </a:defRPr>
            </a:pPr>
            <a:r>
              <a:t>Аттестация</a:t>
            </a:r>
          </a:p>
          <a:p>
            <a:pPr algn="ctr">
              <a:spcBef>
                <a:spcPts val="300"/>
              </a:spcBef>
              <a:defRPr sz="600">
                <a:solidFill>
                  <a:srgbClr val="9CA3AF"/>
                </a:solidFill>
              </a:defRPr>
            </a:pPr>
            <a:r>
              <a:t>ролевые задачи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4264" y="2670048"/>
            <a:ext cx="4782312" cy="566928"/>
          </a:xfrm>
          <a:prstGeom prst="roundRect">
            <a:avLst/>
          </a:prstGeom>
          <a:solidFill>
            <a:srgbClr val="14201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Reusable Core + Korovas Layer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универсальные материалы + домен заказчика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B7ED0"/>
                </a:solidFill>
              </a:defRPr>
            </a:pPr>
            <a: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Форматы обучения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Смешанная программа: видео + live + практика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691640"/>
            <a:ext cx="5806440" cy="44348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18745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Микровидео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~35-45 на программу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6896" y="18745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Живой семинар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~20-24 на программу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8745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Практикум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~18-24 на программу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39319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Разбор инцидента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~8-12 на программу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6896" y="39319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Ролевое задание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~8-10 на программу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3931920"/>
            <a:ext cx="1801368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Ревью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~3-5 на программу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837944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02552" y="1783080"/>
            <a:ext cx="49103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Микровидео: 7-15 минут, один конкретный вопрос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441448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02552" y="2386584"/>
            <a:ext cx="49103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Живой семинар: демо, Q&amp;A, совместный разбор пакета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3044952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02552" y="2990088"/>
            <a:ext cx="49103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Практикум: участник делает руками и видит результат в системе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648456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02552" y="3593592"/>
            <a:ext cx="49103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Разбор инцидента: заранее сломанные upload, datapipe, viz,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251960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02552" y="4197096"/>
            <a:ext cx="49103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Ролевое задание и ревью: проверка самостоятельной работы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8 блоков программы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От предметки до углубления и аттестации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691640"/>
            <a:ext cx="11018520" cy="452628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856232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8 блоков · 15 недель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2130552"/>
            <a:ext cx="292608" cy="292608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2057400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Предметка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1-2</a:t>
            </a:r>
          </a:p>
        </p:txBody>
      </p:sp>
      <p:sp>
        <p:nvSpPr>
          <p:cNvPr id="16" name="Oval 15"/>
          <p:cNvSpPr/>
          <p:nvPr/>
        </p:nvSpPr>
        <p:spPr>
          <a:xfrm>
            <a:off x="3509010" y="2130552"/>
            <a:ext cx="292608" cy="29260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5858" y="2057400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Инженерия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1-2</a:t>
            </a:r>
          </a:p>
        </p:txBody>
      </p:sp>
      <p:sp>
        <p:nvSpPr>
          <p:cNvPr id="18" name="Oval 17"/>
          <p:cNvSpPr/>
          <p:nvPr/>
        </p:nvSpPr>
        <p:spPr>
          <a:xfrm>
            <a:off x="6222492" y="2130552"/>
            <a:ext cx="292608" cy="292608"/>
          </a:xfrm>
          <a:prstGeom prst="ellipse">
            <a:avLst/>
          </a:prstGeom>
          <a:solidFill>
            <a:srgbClr val="8BC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2057400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Архитектура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3-4</a:t>
            </a:r>
          </a:p>
        </p:txBody>
      </p:sp>
      <p:sp>
        <p:nvSpPr>
          <p:cNvPr id="20" name="Oval 19"/>
          <p:cNvSpPr/>
          <p:nvPr/>
        </p:nvSpPr>
        <p:spPr>
          <a:xfrm>
            <a:off x="8935974" y="2130552"/>
            <a:ext cx="292608" cy="292608"/>
          </a:xfrm>
          <a:prstGeom prst="ellipse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2822" y="2057400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Full-stack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5-7</a:t>
            </a:r>
          </a:p>
        </p:txBody>
      </p:sp>
      <p:sp>
        <p:nvSpPr>
          <p:cNvPr id="22" name="Oval 21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3026664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ML + datapipe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5-7</a:t>
            </a:r>
          </a:p>
        </p:txBody>
      </p:sp>
      <p:sp>
        <p:nvSpPr>
          <p:cNvPr id="24" name="Oval 23"/>
          <p:cNvSpPr/>
          <p:nvPr/>
        </p:nvSpPr>
        <p:spPr>
          <a:xfrm>
            <a:off x="3509010" y="3099816"/>
            <a:ext cx="292608" cy="292608"/>
          </a:xfrm>
          <a:prstGeom prst="ellipse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35858" y="3026664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Эксплуатация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8-11</a:t>
            </a:r>
          </a:p>
        </p:txBody>
      </p:sp>
      <p:sp>
        <p:nvSpPr>
          <p:cNvPr id="26" name="Oval 25"/>
          <p:cNvSpPr/>
          <p:nvPr/>
        </p:nvSpPr>
        <p:spPr>
          <a:xfrm>
            <a:off x="6222492" y="3099816"/>
            <a:ext cx="292608" cy="292608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9340" y="3026664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Прод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14-15</a:t>
            </a:r>
          </a:p>
        </p:txBody>
      </p:sp>
      <p:sp>
        <p:nvSpPr>
          <p:cNvPr id="28" name="Oval 27"/>
          <p:cNvSpPr/>
          <p:nvPr/>
        </p:nvSpPr>
        <p:spPr>
          <a:xfrm>
            <a:off x="8935974" y="3099816"/>
            <a:ext cx="292608" cy="29260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E18"/>
                </a:solidFill>
              </a:defRPr>
            </a:pPr>
            <a: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2822" y="3026664"/>
            <a:ext cx="2622042" cy="84124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Углубление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нед. 12-13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961888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B7ED0"/>
                </a:solidFill>
              </a:defRPr>
            </a:pPr>
            <a:r>
              <a:t>Блоки 4 и 5 идут параллельно на одних учебных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Блоки 1-4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Онбординг, инженерия, архитектура, full-stack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577840" cy="384048"/>
          </a:xfrm>
          <a:prstGeom prst="roundRect">
            <a:avLst/>
          </a:prstGeom>
          <a:solidFill>
            <a:srgbClr val="1A2436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Блок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Содержание и проверка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21992"/>
            <a:ext cx="5577840" cy="38404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1. Предметная область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Бонитировка, CVAT, путь пакета · квиз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60904"/>
            <a:ext cx="5577840" cy="51206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2. Инженерная база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Git/PR, API, Cursor, локальный стенд · PR + техотчет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27832"/>
            <a:ext cx="5577840" cy="38404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3. Архитектура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Компоненты, поток данных, E2E · схема + отчет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66744"/>
            <a:ext cx="5577840" cy="51206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4. Full-stack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Flutter, Django, upload, viz · E2E-сценарий + ревью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83794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1112" y="1783080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Блоки 1-3 общие для обеих ролей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441448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11112" y="2386584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Фокус: понять продукт, архитектуру и первый сквозной сценарий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044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2990088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Проверка через квиз, ревью и пошаговые отчеты со скриншотами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Блоки 5-8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ML, эксплуатация, прод, углубление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577840" cy="384048"/>
          </a:xfrm>
          <a:prstGeom prst="roundRect">
            <a:avLst/>
          </a:prstGeom>
          <a:solidFill>
            <a:srgbClr val="1A2436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Блок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Содержание и проверка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21992"/>
            <a:ext cx="5577840" cy="51206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5. ML + datapipe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Pipeline, CVAT, inference, метрики · запуск + отчет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88920"/>
            <a:ext cx="5577840" cy="51206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6. Эксплуатация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Деплой, логи, инциденты, runbook · отчет + ревью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55848"/>
            <a:ext cx="5577840" cy="38404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7. Практика в проде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3 задания из backlog · ревью + устная защита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577840" cy="38404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8EAED"/>
                </a:solidFill>
              </a:defRPr>
            </a:pPr>
            <a:r>
              <a:t>8. Углубление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Новая предметная область · PR + документация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691640"/>
            <a:ext cx="5074920" cy="46177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1856232"/>
            <a:ext cx="48188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Параллельные треки · недели 5-7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5976" y="1911096"/>
            <a:ext cx="4818888" cy="960120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Full-stack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Flutter · Django · upload · viz · datapipe overview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5976" y="3328416"/>
            <a:ext cx="4818888" cy="960120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ML Engineer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pipeline · CVAT · inference · metrics · retraining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0698.0" y="2871216"/>
            <a:ext cx="0.0" cy="22860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280142.0" y="3118104.0"/>
            <a:ext cx="0.0" cy="210312.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47864" y="4544568"/>
            <a:ext cx="3855110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Общий E2E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пакет → datapipe → визуализация в админке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.0" y="4288536"/>
            <a:ext cx="0.0" cy="256032"/>
          </a:xfrm>
          <a:prstGeom prst="line">
            <a:avLst/>
          </a:prstGeom>
          <a:ln w="25400">
            <a:solidFill>
              <a:srgbClr val="8BC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B7ED0"/>
                </a:solidFill>
              </a:defRPr>
            </a:pPr>
            <a: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Материалы: Data Collector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Сбор, upload, админка, визуализация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196596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Flutter-клиент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Сборщик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wizard · Drift · история ·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301752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Конфиг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82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175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collector/config.json · сценарий без релиза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406908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Пакет и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336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Платформа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payload.json · blobs · POST/PUT/commit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512064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Админка + viz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Заказчик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пакеты · медиа · collector/viz.json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837944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11112" y="1783080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Практикумы: изменить конфиг, разобрать payload, пройти upload protocol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441448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11112" y="2386584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Разбор инцидентов: пустая визуализация, сбой upload, роли и доступы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044952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11112" y="2990088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Материалы переиспользуются для будущих заказчиков без доменной привязки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Материалы: DataPipe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Пайплайны, CVAT, inference, метрики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196596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Карта datapipe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Обе роли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вход · шаг · артефакт · результат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301752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Project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82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175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annotations · inference · depth · CVAT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406908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CVAT round-trip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336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экспорт/импорт разметки по пакету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512064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Качество модели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PCK · версии · дообучение · rollback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837944"/>
            <a:ext cx="45720" cy="58521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11112" y="1783080"/>
            <a:ext cx="5001768" cy="694944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Отдельный пакет материалов, но те же учебные данные что и в data-collector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60604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11112" y="2551176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Практикум: запустить inference до появления результата в админке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20954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11112" y="3154680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Отчет по метрикам: сравнение GT, модели и эксперта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Korovas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Доменная специфика текущего заказчика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37944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7830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21 точка · 15 параметров · 9 признаков бонитировки КРС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41448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38658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Правила съемки: интерактивный чек-лист пригодных фото для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44952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990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Галерея кейсов: хорошие и плохие примеры съемки и разметки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48456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593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Семинар «эксперт vs модель»: объяснение расхождений результата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251960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97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Набор пакетов по коровам — основа практикумов, инцидентов и аттестации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783080"/>
            <a:ext cx="5074920" cy="46177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1488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D4A84B"/>
                </a:solidFill>
              </a:defRPr>
            </a:pPr>
            <a:r>
              <a:t>Reusable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4963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Git · API · архитектура · эксплуатация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200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D4A84B"/>
                </a:solidFill>
              </a:defRPr>
            </a:pPr>
            <a:r>
              <a:t>Product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5478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data-collector + datapipe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2519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D4A84B"/>
                </a:solidFill>
              </a:defRPr>
            </a:pPr>
            <a:r>
              <a:t>Korovas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994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бонитировка · съемка · метрики КРС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Учебный стенд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Безопасная среда для практики и инцидентов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691640"/>
            <a:ext cx="5349240" cy="46177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" y="2039112"/>
            <a:ext cx="5093208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demo-basic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универсальный сбор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551176"/>
            <a:ext cx="4910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5B8DEF"/>
                </a:solidFill>
              </a:defRPr>
            </a:pPr>
            <a:r>
              <a:t>5-10 пакетов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2843784"/>
            <a:ext cx="5093208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demo-cv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CV без КРС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355848"/>
            <a:ext cx="4910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t>YOLO · depth · keypoints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648456"/>
            <a:ext cx="5093208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korovas-training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основной проект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4160520"/>
            <a:ext cx="4910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3DCC85"/>
                </a:solidFill>
              </a:defRPr>
            </a:pPr>
            <a:r>
              <a:t>30-50 пакетов · GT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453128"/>
            <a:ext cx="5093208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korovas-broken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инциденты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965192"/>
            <a:ext cx="4910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E87A7E"/>
                </a:solidFill>
              </a:defRPr>
            </a:pPr>
            <a:r>
              <a:t>сломанные кейсы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37944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1783080"/>
            <a:ext cx="53675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mobile / emulator → staging API → project DB +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441448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5352" y="2386584"/>
            <a:ext cx="53675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datapipe staging → CVAT → визуализация в админке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044952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45352" y="2990088"/>
            <a:ext cx="53675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Frozen packages для повторяемых labs, mutable — для заданий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648456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45352" y="3593592"/>
            <a:ext cx="53675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korovas-broken: набор намеренно сломанных кейсов для блока эксплуатации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51960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45352" y="4197096"/>
            <a:ext cx="53675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Reset-инструкция для менторов перед каждой неделей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C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C9F7"/>
                </a:solidFill>
              </a:defRPr>
            </a:pPr>
            <a:r>
              <a:t>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Сценарии на стенде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Что участник должен уметь воспроизвести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19656"/>
            <a:ext cx="347472" cy="347472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7830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Снять пакет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83080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локально готов к upload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386584"/>
            <a:ext cx="347472" cy="347472"/>
          </a:xfrm>
          <a:prstGeom prst="ellipse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5000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Загрузить пакет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50008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session · blobs · manifest · completed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953512"/>
            <a:ext cx="347472" cy="347472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916936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Проверить хранилище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16936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blob + запись в project DB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520440"/>
            <a:ext cx="347472" cy="347472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83864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Запустить datapipe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8386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inference / depth / CVAT rows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087368"/>
            <a:ext cx="347472" cy="347472"/>
          </a:xfrm>
          <a:prstGeom prst="ellipse">
            <a:avLst/>
          </a:prstGeom>
          <a:solidFill>
            <a:srgbClr val="8BC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50792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8BC9F7"/>
                </a:solidFill>
              </a:defRPr>
            </a:pPr>
            <a:r>
              <a:t>Открыть визуализацию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050792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слои GT · inference · CVAT · depth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654296"/>
            <a:ext cx="347472" cy="347472"/>
          </a:xfrm>
          <a:prstGeom prst="ellipse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61772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87A7E"/>
                </a:solidFill>
              </a:defRPr>
            </a:pPr>
            <a:r>
              <a:t>Разобрать сбой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17720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гипотеза · логи · фикс · эскалация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5221224"/>
            <a:ext cx="347472" cy="347472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8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1846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Сравнить модель и эксперта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184648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отчет по метрикам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87A7E"/>
                </a:solidFill>
              </a:defRPr>
            </a:pPr>
            <a:r>
              <a:t>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Проверка и аттестация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Артефакты, ревью, устная защита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196596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Квиз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Блок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предметная область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301752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Ревью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82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Блоки 2-8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175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PR · pipeline · отчеты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406908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Техотчет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336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Все блоки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симптомы · логи · фикс · проверка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512064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Аттестация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Блок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3 задания + устная защита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837944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11112" y="1783080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Full-stack: E2E, upload, viz, деплой, роли и доступы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441448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11112" y="2386584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ML: pipeline run, CVAT, метрики, сравнение моделей, план дообучения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044952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11112" y="2990088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Финал: перенос решений в смежную предметную область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648456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11112" y="3593592"/>
            <a:ext cx="50017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Критерий: участник объясняет свой участок и границы соседних систем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4282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8EAED"/>
                </a:solidFill>
              </a:defRPr>
            </a:pPr>
            <a:r>
              <a:t>Что получаем на выходе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2194560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478024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423160"/>
            <a:ext cx="67848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Команда заказчика умеет вести data-collector и datapipe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81528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3026664"/>
            <a:ext cx="67848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Готовый пакет reusable-материалов для следующих клиентов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685032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3630168"/>
            <a:ext cx="67848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Runbooks, шаблоны техотчетов и учебный стенд для повторного запуска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288536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" y="4233672"/>
            <a:ext cx="678484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Понятные критерии приемки по ролям Full-stack и 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Epoch8  ·  Training Program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8368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