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af219d9c3_4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af219d9c3_4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af219d9c3_4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af219d9c3_4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af219d9c3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af219d9c3_9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af219d9c3_9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eaf219d9c3_9_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af219d9c3_4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af219d9c3_4_2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af219d9c3_4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eaf219d9c3_4_2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af219d9c3_4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af219d9c3_4_2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af219d9c3_4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eaf219d9c3_4_2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A0E18"/>
            </a:gs>
            <a:gs pos="100000">
              <a:srgbClr val="141C32"/>
            </a:gs>
          </a:gsLst>
          <a:lin ang="12900000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-822960" y="-685800"/>
            <a:ext cx="2400300" cy="2400300"/>
          </a:xfrm>
          <a:prstGeom prst="ellipse">
            <a:avLst/>
          </a:prstGeom>
          <a:solidFill>
            <a:srgbClr val="3A5A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7886700" y="3977640"/>
            <a:ext cx="1920240" cy="1920240"/>
          </a:xfrm>
          <a:prstGeom prst="ellipse">
            <a:avLst/>
          </a:prstGeom>
          <a:solidFill>
            <a:srgbClr val="2A3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0" y="0"/>
            <a:ext cx="9143771" cy="54864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377189" y="514350"/>
            <a:ext cx="6545498" cy="4114800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651510" y="720090"/>
            <a:ext cx="1371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D4A84B"/>
                </a:solidFill>
                <a:latin typeface="Calibri"/>
                <a:ea typeface="Calibri"/>
                <a:cs typeface="Calibri"/>
                <a:sym typeface="Calibri"/>
              </a:rPr>
              <a:t>EPOCH8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651510" y="1062990"/>
            <a:ext cx="44577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Data Collector</a:t>
            </a:r>
            <a:endParaRPr sz="1100"/>
          </a:p>
        </p:txBody>
      </p:sp>
      <p:sp>
        <p:nvSpPr>
          <p:cNvPr id="135" name="Google Shape;135;p25"/>
          <p:cNvSpPr/>
          <p:nvPr/>
        </p:nvSpPr>
        <p:spPr>
          <a:xfrm>
            <a:off x="651510" y="1885950"/>
            <a:ext cx="1645920" cy="4114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651510" y="2057400"/>
            <a:ext cx="53071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Платформа сбора и визуализации полевых данных</a:t>
            </a:r>
            <a:br>
              <a:rPr b="0" i="0" lang="en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Один бэкенд · мобильное приложение · конфигурируемые сценарции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25"/>
          <p:cNvCxnSpPr/>
          <p:nvPr/>
        </p:nvCxnSpPr>
        <p:spPr>
          <a:xfrm>
            <a:off x="0" y="0"/>
            <a:ext cx="0" cy="0"/>
          </a:xfrm>
          <a:prstGeom prst="straightConnector1">
            <a:avLst/>
          </a:prstGeom>
          <a:noFill/>
          <a:ln cap="flat" cmpd="sng" w="25400">
            <a:solidFill>
              <a:srgbClr val="9B7ED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/>
          <p:nvPr/>
        </p:nvSpPr>
        <p:spPr>
          <a:xfrm>
            <a:off x="-822960" y="-685800"/>
            <a:ext cx="2400300" cy="2400300"/>
          </a:xfrm>
          <a:prstGeom prst="ellipse">
            <a:avLst/>
          </a:prstGeom>
          <a:solidFill>
            <a:srgbClr val="3A5A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7886700" y="3977640"/>
            <a:ext cx="1920240" cy="1920240"/>
          </a:xfrm>
          <a:prstGeom prst="ellipse">
            <a:avLst/>
          </a:prstGeom>
          <a:solidFill>
            <a:srgbClr val="2A3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0" y="0"/>
            <a:ext cx="9143771" cy="4114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0" y="4924044"/>
            <a:ext cx="9143771" cy="219456"/>
          </a:xfrm>
          <a:prstGeom prst="rect">
            <a:avLst/>
          </a:prstGeom>
          <a:solidFill>
            <a:srgbClr val="0A0E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445770" y="4937760"/>
            <a:ext cx="2743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Collector  ·  Epoch8</a:t>
            </a:r>
            <a:endParaRPr sz="1100"/>
          </a:p>
        </p:txBody>
      </p:sp>
      <p:sp>
        <p:nvSpPr>
          <p:cNvPr id="147" name="Google Shape;147;p26"/>
          <p:cNvSpPr txBox="1"/>
          <p:nvPr/>
        </p:nvSpPr>
        <p:spPr>
          <a:xfrm>
            <a:off x="8229600" y="4937760"/>
            <a:ext cx="6172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02 / 11</a:t>
            </a:r>
            <a:endParaRPr sz="1100"/>
          </a:p>
        </p:txBody>
      </p:sp>
      <p:sp>
        <p:nvSpPr>
          <p:cNvPr id="148" name="Google Shape;148;p26"/>
          <p:cNvSpPr/>
          <p:nvPr/>
        </p:nvSpPr>
        <p:spPr>
          <a:xfrm>
            <a:off x="445770" y="308610"/>
            <a:ext cx="1234440" cy="219456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1100"/>
          </a:p>
        </p:txBody>
      </p:sp>
      <p:sp>
        <p:nvSpPr>
          <p:cNvPr id="149" name="Google Shape;149;p26"/>
          <p:cNvSpPr txBox="1"/>
          <p:nvPr/>
        </p:nvSpPr>
        <p:spPr>
          <a:xfrm>
            <a:off x="445770" y="582930"/>
            <a:ext cx="754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Зачем это нужно</a:t>
            </a:r>
            <a:endParaRPr sz="1100"/>
          </a:p>
        </p:txBody>
      </p:sp>
      <p:sp>
        <p:nvSpPr>
          <p:cNvPr id="150" name="Google Shape;150;p26"/>
          <p:cNvSpPr/>
          <p:nvPr/>
        </p:nvSpPr>
        <p:spPr>
          <a:xfrm>
            <a:off x="445770" y="1117854"/>
            <a:ext cx="1508760" cy="34290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2315546" y="1474470"/>
            <a:ext cx="34290" cy="315468"/>
          </a:xfrm>
          <a:prstGeom prst="rect">
            <a:avLst/>
          </a:prstGeom>
          <a:solidFill>
            <a:srgbClr val="E87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2370410" y="1433322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Проблема: каждый сценарий сбора = нов</a:t>
            </a:r>
            <a:r>
              <a:rPr lang="en" sz="100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ое написание пайплайна </a:t>
            </a:r>
            <a:endParaRPr sz="1100"/>
          </a:p>
        </p:txBody>
      </p:sp>
      <p:sp>
        <p:nvSpPr>
          <p:cNvPr id="153" name="Google Shape;153;p26"/>
          <p:cNvSpPr/>
          <p:nvPr/>
        </p:nvSpPr>
        <p:spPr>
          <a:xfrm>
            <a:off x="2315546" y="1927098"/>
            <a:ext cx="34290" cy="315468"/>
          </a:xfrm>
          <a:prstGeom prst="rect">
            <a:avLst/>
          </a:prstGeom>
          <a:solidFill>
            <a:srgbClr val="E87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2370410" y="1885950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Проблема: фото и метаданные теряются в мессенджерах и Excel</a:t>
            </a:r>
            <a:endParaRPr sz="1100"/>
          </a:p>
        </p:txBody>
      </p:sp>
      <p:sp>
        <p:nvSpPr>
          <p:cNvPr id="155" name="Google Shape;155;p26"/>
          <p:cNvSpPr/>
          <p:nvPr/>
        </p:nvSpPr>
        <p:spPr>
          <a:xfrm>
            <a:off x="2315546" y="2379726"/>
            <a:ext cx="34290" cy="315468"/>
          </a:xfrm>
          <a:prstGeom prst="rect">
            <a:avLst/>
          </a:prstGeom>
          <a:solidFill>
            <a:srgbClr val="E87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2370410" y="2338578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Проблема: нет единого места «что собрали» и «что дальше»</a:t>
            </a:r>
            <a:endParaRPr sz="1100"/>
          </a:p>
        </p:txBody>
      </p:sp>
      <p:sp>
        <p:nvSpPr>
          <p:cNvPr id="157" name="Google Shape;157;p26"/>
          <p:cNvSpPr/>
          <p:nvPr/>
        </p:nvSpPr>
        <p:spPr>
          <a:xfrm>
            <a:off x="2315475" y="2900925"/>
            <a:ext cx="34200" cy="671100"/>
          </a:xfrm>
          <a:prstGeom prst="rect">
            <a:avLst/>
          </a:prstGeom>
          <a:solidFill>
            <a:srgbClr val="3DCC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2370400" y="2859775"/>
            <a:ext cx="4197000" cy="797700"/>
          </a:xfrm>
          <a:prstGeom prst="roundRect">
            <a:avLst>
              <a:gd fmla="val 16667" name="adj"/>
            </a:avLst>
          </a:prstGeom>
          <a:solidFill>
            <a:srgbClr val="142822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rgbClr val="3DCC85"/>
                </a:solidFill>
                <a:highlight>
                  <a:srgbClr val="181818"/>
                </a:highlight>
              </a:rPr>
              <a:t>Решение: один раз в админке описываем сценарий сбора (поля + порядок экранов) → UI формы появляется в мобилке автоматически → сборщик сдаёт пакет → данные видны в админке по проектам</a:t>
            </a:r>
            <a:r>
              <a:rPr lang="en" sz="1000">
                <a:solidFill>
                  <a:srgbClr val="3DCC85"/>
                </a:solidFill>
              </a:rPr>
              <a:t> </a:t>
            </a:r>
            <a:endParaRPr b="0" i="0" sz="1000" u="none" cap="none" strike="noStrike">
              <a:solidFill>
                <a:srgbClr val="3DCC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/>
          <p:nvPr/>
        </p:nvSpPr>
        <p:spPr>
          <a:xfrm>
            <a:off x="-822960" y="-685800"/>
            <a:ext cx="2400300" cy="2400300"/>
          </a:xfrm>
          <a:prstGeom prst="ellipse">
            <a:avLst/>
          </a:prstGeom>
          <a:solidFill>
            <a:srgbClr val="3A5A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7886700" y="3977640"/>
            <a:ext cx="1920240" cy="1920240"/>
          </a:xfrm>
          <a:prstGeom prst="ellipse">
            <a:avLst/>
          </a:prstGeom>
          <a:solidFill>
            <a:srgbClr val="2A3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0" y="0"/>
            <a:ext cx="9143771" cy="4114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7"/>
          <p:cNvSpPr/>
          <p:nvPr/>
        </p:nvSpPr>
        <p:spPr>
          <a:xfrm>
            <a:off x="0" y="4924044"/>
            <a:ext cx="9143771" cy="219456"/>
          </a:xfrm>
          <a:prstGeom prst="rect">
            <a:avLst/>
          </a:prstGeom>
          <a:solidFill>
            <a:srgbClr val="0A0E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445770" y="4937760"/>
            <a:ext cx="2671482" cy="1731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Collector  ·  Epoch8</a:t>
            </a:r>
            <a:endParaRPr sz="1100"/>
          </a:p>
        </p:txBody>
      </p:sp>
      <p:sp>
        <p:nvSpPr>
          <p:cNvPr id="168" name="Google Shape;168;p27"/>
          <p:cNvSpPr txBox="1"/>
          <p:nvPr/>
        </p:nvSpPr>
        <p:spPr>
          <a:xfrm>
            <a:off x="8229600" y="4937760"/>
            <a:ext cx="6172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03 / 9</a:t>
            </a:r>
            <a:endParaRPr sz="1100"/>
          </a:p>
        </p:txBody>
      </p:sp>
      <p:sp>
        <p:nvSpPr>
          <p:cNvPr id="169" name="Google Shape;169;p27"/>
          <p:cNvSpPr/>
          <p:nvPr/>
        </p:nvSpPr>
        <p:spPr>
          <a:xfrm>
            <a:off x="445770" y="308610"/>
            <a:ext cx="1234440" cy="219456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sz="1100"/>
          </a:p>
        </p:txBody>
      </p:sp>
      <p:sp>
        <p:nvSpPr>
          <p:cNvPr id="170" name="Google Shape;170;p27"/>
          <p:cNvSpPr txBox="1"/>
          <p:nvPr/>
        </p:nvSpPr>
        <p:spPr>
          <a:xfrm>
            <a:off x="445770" y="582930"/>
            <a:ext cx="754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Из чего состоит продукт</a:t>
            </a:r>
            <a:endParaRPr sz="1100"/>
          </a:p>
        </p:txBody>
      </p:sp>
      <p:sp>
        <p:nvSpPr>
          <p:cNvPr id="171" name="Google Shape;171;p27"/>
          <p:cNvSpPr/>
          <p:nvPr/>
        </p:nvSpPr>
        <p:spPr>
          <a:xfrm>
            <a:off x="445770" y="1117854"/>
            <a:ext cx="1469315" cy="34289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445770" y="1234440"/>
            <a:ext cx="75438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Одна платформа — N проектов · 1 проект = 1 конфиг</a:t>
            </a:r>
            <a:endParaRPr sz="1100"/>
          </a:p>
        </p:txBody>
      </p:sp>
      <p:sp>
        <p:nvSpPr>
          <p:cNvPr id="173" name="Google Shape;173;p27"/>
          <p:cNvSpPr/>
          <p:nvPr/>
        </p:nvSpPr>
        <p:spPr>
          <a:xfrm>
            <a:off x="445770" y="1289304"/>
            <a:ext cx="34289" cy="703463"/>
          </a:xfrm>
          <a:prstGeom prst="rect">
            <a:avLst/>
          </a:prstGeom>
          <a:solidFill>
            <a:srgbClr val="D4A8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500634" y="1248156"/>
            <a:ext cx="4087368" cy="770460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569214" y="1344168"/>
            <a:ext cx="280506" cy="234488"/>
          </a:xfrm>
          <a:prstGeom prst="roundRect">
            <a:avLst>
              <a:gd fmla="val 16667" name="adj"/>
            </a:avLst>
          </a:prstGeom>
          <a:solidFill>
            <a:srgbClr val="283248"/>
          </a:solidFill>
          <a:ln cap="flat" cmpd="sng" w="12700">
            <a:solidFill>
              <a:srgbClr val="D4A8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sz="1100"/>
          </a:p>
        </p:txBody>
      </p:sp>
      <p:sp>
        <p:nvSpPr>
          <p:cNvPr id="176" name="Google Shape;176;p27"/>
          <p:cNvSpPr txBox="1"/>
          <p:nvPr/>
        </p:nvSpPr>
        <p:spPr>
          <a:xfrm>
            <a:off x="939546" y="1316736"/>
            <a:ext cx="355307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D4A84B"/>
                </a:solidFill>
                <a:latin typeface="Calibri"/>
                <a:ea typeface="Calibri"/>
                <a:cs typeface="Calibri"/>
                <a:sym typeface="Calibri"/>
              </a:rPr>
              <a:t>Staff Admin</a:t>
            </a:r>
            <a:endParaRPr sz="1100"/>
          </a:p>
        </p:txBody>
      </p:sp>
      <p:sp>
        <p:nvSpPr>
          <p:cNvPr id="177" name="Google Shape;177;p27"/>
          <p:cNvSpPr txBox="1"/>
          <p:nvPr/>
        </p:nvSpPr>
        <p:spPr>
          <a:xfrm>
            <a:off x="939546" y="1481328"/>
            <a:ext cx="3553072" cy="1731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Управление проектами и доступами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939546" y="1618488"/>
            <a:ext cx="3553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Администратор заходит в веб-админку: создаёт проект сбора под конкретную задачу, привязывает Git-репозитории (там версионируются config.json и артефакты админки), настраивает доступ — какие пользователи видят какие проекты.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445770" y="2276856"/>
            <a:ext cx="34289" cy="703463"/>
          </a:xfrm>
          <a:prstGeom prst="rect">
            <a:avLst/>
          </a:prstGeom>
          <a:solidFill>
            <a:srgbClr val="3DCC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500634" y="2235708"/>
            <a:ext cx="4087368" cy="770460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569214" y="2331720"/>
            <a:ext cx="280506" cy="234488"/>
          </a:xfrm>
          <a:prstGeom prst="roundRect">
            <a:avLst>
              <a:gd fmla="val 16667" name="adj"/>
            </a:avLst>
          </a:prstGeom>
          <a:solidFill>
            <a:srgbClr val="283248"/>
          </a:solidFill>
          <a:ln cap="flat" cmpd="sng" w="12700">
            <a:solidFill>
              <a:srgbClr val="3DCC8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👁</a:t>
            </a:r>
            <a:endParaRPr sz="1100"/>
          </a:p>
        </p:txBody>
      </p:sp>
      <p:sp>
        <p:nvSpPr>
          <p:cNvPr id="182" name="Google Shape;182;p27"/>
          <p:cNvSpPr txBox="1"/>
          <p:nvPr/>
        </p:nvSpPr>
        <p:spPr>
          <a:xfrm>
            <a:off x="939546" y="2304288"/>
            <a:ext cx="355307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3DCC85"/>
                </a:solidFill>
                <a:latin typeface="Calibri"/>
                <a:ea typeface="Calibri"/>
                <a:cs typeface="Calibri"/>
                <a:sym typeface="Calibri"/>
              </a:rPr>
              <a:t>Client Admin</a:t>
            </a:r>
            <a:endParaRPr sz="1100"/>
          </a:p>
        </p:txBody>
      </p:sp>
      <p:sp>
        <p:nvSpPr>
          <p:cNvPr id="183" name="Google Shape;183;p27"/>
          <p:cNvSpPr txBox="1"/>
          <p:nvPr/>
        </p:nvSpPr>
        <p:spPr>
          <a:xfrm>
            <a:off x="939546" y="2468880"/>
            <a:ext cx="3553072" cy="1731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Заказчик · просмотр данных</a:t>
            </a:r>
            <a:endParaRPr sz="1100"/>
          </a:p>
        </p:txBody>
      </p:sp>
      <p:sp>
        <p:nvSpPr>
          <p:cNvPr id="184" name="Google Shape;184;p27"/>
          <p:cNvSpPr txBox="1"/>
          <p:nvPr/>
        </p:nvSpPr>
        <p:spPr>
          <a:xfrm>
            <a:off x="939546" y="2606040"/>
            <a:ext cx="3553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Аналитик или заказчик открывает Client Admin: видит принятые пакеты по своим проектам, фильтрует по полям формы, просматривает медиа и визуализации пайплайнов поверх данных.</a:t>
            </a:r>
            <a:endParaRPr sz="1000"/>
          </a:p>
        </p:txBody>
      </p:sp>
      <p:sp>
        <p:nvSpPr>
          <p:cNvPr id="185" name="Google Shape;185;p27"/>
          <p:cNvSpPr/>
          <p:nvPr/>
        </p:nvSpPr>
        <p:spPr>
          <a:xfrm>
            <a:off x="450386" y="3208889"/>
            <a:ext cx="34289" cy="703463"/>
          </a:xfrm>
          <a:prstGeom prst="rect">
            <a:avLst/>
          </a:prstGeom>
          <a:solidFill>
            <a:srgbClr val="9B7ED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505249" y="3167741"/>
            <a:ext cx="4087368" cy="770460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573830" y="3263752"/>
            <a:ext cx="280506" cy="234487"/>
          </a:xfrm>
          <a:prstGeom prst="roundRect">
            <a:avLst>
              <a:gd fmla="val 16667" name="adj"/>
            </a:avLst>
          </a:prstGeom>
          <a:solidFill>
            <a:srgbClr val="283248"/>
          </a:solidFill>
          <a:ln cap="flat" cmpd="sng" w="12700">
            <a:solidFill>
              <a:srgbClr val="9B7E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sz="1100"/>
          </a:p>
        </p:txBody>
      </p:sp>
      <p:sp>
        <p:nvSpPr>
          <p:cNvPr id="188" name="Google Shape;188;p27"/>
          <p:cNvSpPr txBox="1"/>
          <p:nvPr/>
        </p:nvSpPr>
        <p:spPr>
          <a:xfrm>
            <a:off x="944161" y="3236321"/>
            <a:ext cx="355307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9B7ED0"/>
                </a:solidFill>
                <a:latin typeface="Calibri"/>
                <a:ea typeface="Calibri"/>
                <a:cs typeface="Calibri"/>
                <a:sym typeface="Calibri"/>
              </a:rPr>
              <a:t>Flutter App</a:t>
            </a:r>
            <a:endParaRPr sz="1100"/>
          </a:p>
        </p:txBody>
      </p:sp>
      <p:sp>
        <p:nvSpPr>
          <p:cNvPr id="189" name="Google Shape;189;p27"/>
          <p:cNvSpPr txBox="1"/>
          <p:nvPr/>
        </p:nvSpPr>
        <p:spPr>
          <a:xfrm>
            <a:off x="944161" y="3400913"/>
            <a:ext cx="3553072" cy="1731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Сборщик · полевой сбор</a:t>
            </a:r>
            <a:endParaRPr sz="1100"/>
          </a:p>
        </p:txBody>
      </p:sp>
      <p:sp>
        <p:nvSpPr>
          <p:cNvPr id="190" name="Google Shape;190;p27"/>
          <p:cNvSpPr txBox="1"/>
          <p:nvPr/>
        </p:nvSpPr>
        <p:spPr>
          <a:xfrm>
            <a:off x="944161" y="3538073"/>
            <a:ext cx="3553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Сборщик логинится в мобильном приложении, получает актуальный конфиг с сервера, проходит сценарий офлайн, формирует пакет и отправляет на сервер при появлении сети.</a:t>
            </a:r>
            <a:endParaRPr sz="1000"/>
          </a:p>
        </p:txBody>
      </p:sp>
      <p:sp>
        <p:nvSpPr>
          <p:cNvPr id="191" name="Google Shape;191;p27"/>
          <p:cNvSpPr/>
          <p:nvPr/>
        </p:nvSpPr>
        <p:spPr>
          <a:xfrm>
            <a:off x="450386" y="4172508"/>
            <a:ext cx="34289" cy="591803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505249" y="4131360"/>
            <a:ext cx="4087368" cy="658799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573830" y="4227372"/>
            <a:ext cx="280506" cy="234488"/>
          </a:xfrm>
          <a:prstGeom prst="roundRect">
            <a:avLst>
              <a:gd fmla="val 16667" name="adj"/>
            </a:avLst>
          </a:prstGeom>
          <a:solidFill>
            <a:srgbClr val="283248"/>
          </a:solidFill>
          <a:ln cap="flat" cmpd="sng" w="1270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☁</a:t>
            </a:r>
            <a:endParaRPr sz="1100"/>
          </a:p>
        </p:txBody>
      </p:sp>
      <p:sp>
        <p:nvSpPr>
          <p:cNvPr id="194" name="Google Shape;194;p27"/>
          <p:cNvSpPr txBox="1"/>
          <p:nvPr/>
        </p:nvSpPr>
        <p:spPr>
          <a:xfrm>
            <a:off x="944161" y="4199940"/>
            <a:ext cx="3553072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Django + storage</a:t>
            </a:r>
            <a:endParaRPr sz="1100"/>
          </a:p>
        </p:txBody>
      </p:sp>
      <p:sp>
        <p:nvSpPr>
          <p:cNvPr id="195" name="Google Shape;195;p27"/>
          <p:cNvSpPr txBox="1"/>
          <p:nvPr/>
        </p:nvSpPr>
        <p:spPr>
          <a:xfrm>
            <a:off x="944161" y="4364532"/>
            <a:ext cx="3553072" cy="1731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Платформа · единый бэкенд</a:t>
            </a:r>
            <a:endParaRPr sz="1100"/>
          </a:p>
        </p:txBody>
      </p:sp>
      <p:sp>
        <p:nvSpPr>
          <p:cNvPr id="196" name="Google Shape;196;p27"/>
          <p:cNvSpPr txBox="1"/>
          <p:nvPr/>
        </p:nvSpPr>
        <p:spPr>
          <a:xfrm>
            <a:off x="944161" y="4501692"/>
            <a:ext cx="3553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Связывает все части: API для приложения и админок, хранение пакетов и медиа, синхронизация конфигов из Git, привязка данных к проектам.</a:t>
            </a:r>
            <a:endParaRPr sz="1000"/>
          </a:p>
        </p:txBody>
      </p:sp>
      <p:sp>
        <p:nvSpPr>
          <p:cNvPr id="197" name="Google Shape;197;p27"/>
          <p:cNvSpPr/>
          <p:nvPr/>
        </p:nvSpPr>
        <p:spPr>
          <a:xfrm>
            <a:off x="4871423" y="832247"/>
            <a:ext cx="3806190" cy="4011930"/>
          </a:xfrm>
          <a:prstGeom prst="roundRect">
            <a:avLst>
              <a:gd fmla="val 16667" name="adj"/>
            </a:avLst>
          </a:prstGeom>
          <a:solidFill>
            <a:srgbClr val="0A0E18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27"/>
          <p:cNvCxnSpPr/>
          <p:nvPr/>
        </p:nvCxnSpPr>
        <p:spPr>
          <a:xfrm>
            <a:off x="0" y="0"/>
            <a:ext cx="0" cy="0"/>
          </a:xfrm>
          <a:prstGeom prst="straightConnector1">
            <a:avLst/>
          </a:prstGeom>
          <a:noFill/>
          <a:ln cap="flat" cmpd="sng" w="25400">
            <a:solidFill>
              <a:srgbClr val="8BC9F7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9" name="Google Shape;199;p27"/>
          <p:cNvSpPr/>
          <p:nvPr/>
        </p:nvSpPr>
        <p:spPr>
          <a:xfrm>
            <a:off x="5867201" y="3985879"/>
            <a:ext cx="1794219" cy="429102"/>
          </a:xfrm>
          <a:prstGeom prst="roundRect">
            <a:avLst>
              <a:gd fmla="val 16667" name="adj"/>
            </a:avLst>
          </a:prstGeom>
          <a:solidFill>
            <a:srgbClr val="2A2438"/>
          </a:solidFill>
          <a:ln cap="flat" cmpd="sng" w="19050">
            <a:solidFill>
              <a:srgbClr val="9B7E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76200" spcFirstLastPara="1" rIns="762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Flutter App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Сбор данных через мобильное приложение, приложение умеет рендерить и отрисовывать собранные проекты в админке </a:t>
            </a:r>
            <a:endParaRPr sz="1100"/>
          </a:p>
        </p:txBody>
      </p:sp>
      <p:sp>
        <p:nvSpPr>
          <p:cNvPr id="200" name="Google Shape;200;p27"/>
          <p:cNvSpPr txBox="1"/>
          <p:nvPr/>
        </p:nvSpPr>
        <p:spPr>
          <a:xfrm>
            <a:off x="5426863" y="1505168"/>
            <a:ext cx="655468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UI   </a:t>
            </a:r>
            <a:endParaRPr b="0" i="0" sz="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6984130" y="1562170"/>
            <a:ext cx="1605140" cy="1511090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905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76200" spcFirstLastPara="1" rIns="762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7109075" y="1779772"/>
            <a:ext cx="1355251" cy="479942"/>
          </a:xfrm>
          <a:prstGeom prst="roundRect">
            <a:avLst>
              <a:gd fmla="val 16667" name="adj"/>
            </a:avLst>
          </a:prstGeom>
          <a:solidFill>
            <a:srgbClr val="142018"/>
          </a:solidFill>
          <a:ln cap="flat" cmpd="sng" w="19050">
            <a:solidFill>
              <a:srgbClr val="3DCC8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76200" spcFirstLastPara="1" rIns="762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Проект × N Git repo 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Под каждый проект создается свой гит репозеторий в котором хранится конфиг проекта и визуализаций данных  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7109075" y="2352413"/>
            <a:ext cx="1410629" cy="542163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905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76200" spcFirstLastPara="1" rIns="762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Django + хранилище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Серверная часть проекта взаимодействие по средствам API, БД под каждый проект для храненя пакетов и медиа файлов загруженных из приложения</a:t>
            </a:r>
            <a:endParaRPr sz="1100"/>
          </a:p>
        </p:txBody>
      </p:sp>
      <p:sp>
        <p:nvSpPr>
          <p:cNvPr id="204" name="Google Shape;204;p27"/>
          <p:cNvSpPr/>
          <p:nvPr/>
        </p:nvSpPr>
        <p:spPr>
          <a:xfrm>
            <a:off x="5012579" y="1713269"/>
            <a:ext cx="1483471" cy="1292900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905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76200" spcFirstLastPara="1" rIns="762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5097631" y="2409161"/>
            <a:ext cx="1281483" cy="438911"/>
          </a:xfrm>
          <a:prstGeom prst="roundRect">
            <a:avLst>
              <a:gd fmla="val 16667" name="adj"/>
            </a:avLst>
          </a:prstGeom>
          <a:solidFill>
            <a:srgbClr val="3D3420"/>
          </a:solidFill>
          <a:ln cap="flat" cmpd="sng" w="19050">
            <a:solidFill>
              <a:srgbClr val="D4A8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76200" spcFirstLastPara="1" rIns="762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Staff Admin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Полные права,  возможность просмотра и редактирования всех проектов, а также создание новых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5104024" y="1905116"/>
            <a:ext cx="1281482" cy="445734"/>
          </a:xfrm>
          <a:prstGeom prst="roundRect">
            <a:avLst>
              <a:gd fmla="val 16667" name="adj"/>
            </a:avLst>
          </a:prstGeom>
          <a:solidFill>
            <a:srgbClr val="1A2E28"/>
          </a:solidFill>
          <a:ln cap="flat" cmpd="sng" w="19050">
            <a:solidFill>
              <a:srgbClr val="3DCC8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76200" spcFirstLastPara="1" rIns="76200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Client Admin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Отдельная роль в интерфейсе доступен только просмотр проектов к которым есть доступ </a:t>
            </a:r>
            <a:endParaRPr sz="1100"/>
          </a:p>
        </p:txBody>
      </p:sp>
      <p:sp>
        <p:nvSpPr>
          <p:cNvPr id="207" name="Google Shape;207;p27"/>
          <p:cNvSpPr txBox="1"/>
          <p:nvPr/>
        </p:nvSpPr>
        <p:spPr>
          <a:xfrm>
            <a:off x="7459961" y="1365720"/>
            <a:ext cx="853478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БД и серверная часть   </a:t>
            </a:r>
            <a:endParaRPr b="0" i="0" sz="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7"/>
          <p:cNvSpPr txBox="1"/>
          <p:nvPr/>
        </p:nvSpPr>
        <p:spPr>
          <a:xfrm>
            <a:off x="6261927" y="3772208"/>
            <a:ext cx="1041428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Мобильное приложение</a:t>
            </a:r>
            <a:endParaRPr sz="1100"/>
          </a:p>
        </p:txBody>
      </p:sp>
      <p:sp>
        <p:nvSpPr>
          <p:cNvPr id="209" name="Google Shape;209;p27"/>
          <p:cNvSpPr/>
          <p:nvPr/>
        </p:nvSpPr>
        <p:spPr>
          <a:xfrm>
            <a:off x="6672871" y="2191131"/>
            <a:ext cx="182880" cy="2263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7"/>
          <p:cNvSpPr txBox="1"/>
          <p:nvPr/>
        </p:nvSpPr>
        <p:spPr>
          <a:xfrm>
            <a:off x="6430509" y="1697523"/>
            <a:ext cx="613161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Создание конфига и отрисовка пактов</a:t>
            </a:r>
            <a:endParaRPr b="0" i="0" sz="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7"/>
          <p:cNvSpPr/>
          <p:nvPr/>
        </p:nvSpPr>
        <p:spPr>
          <a:xfrm rot="-5400000">
            <a:off x="7072270" y="3333647"/>
            <a:ext cx="314386" cy="32918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7303354" y="3403324"/>
            <a:ext cx="613161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Загрузка пакетов</a:t>
            </a:r>
            <a:endParaRPr b="0" i="0" sz="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7"/>
          <p:cNvSpPr/>
          <p:nvPr/>
        </p:nvSpPr>
        <p:spPr>
          <a:xfrm rot="5400000">
            <a:off x="6136251" y="3333648"/>
            <a:ext cx="314386" cy="32918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5437936" y="3344372"/>
            <a:ext cx="736091" cy="2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Синхронизация пакетов</a:t>
            </a:r>
            <a:endParaRPr b="0" i="0" sz="6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/>
          <p:nvPr/>
        </p:nvSpPr>
        <p:spPr>
          <a:xfrm>
            <a:off x="-822960" y="-685800"/>
            <a:ext cx="2400300" cy="2400300"/>
          </a:xfrm>
          <a:prstGeom prst="ellipse">
            <a:avLst/>
          </a:prstGeom>
          <a:solidFill>
            <a:srgbClr val="3A5A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7886700" y="3977640"/>
            <a:ext cx="1920240" cy="1920240"/>
          </a:xfrm>
          <a:prstGeom prst="ellipse">
            <a:avLst/>
          </a:prstGeom>
          <a:solidFill>
            <a:srgbClr val="2A3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0" y="0"/>
            <a:ext cx="9143771" cy="4114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0" y="4924044"/>
            <a:ext cx="9143771" cy="219456"/>
          </a:xfrm>
          <a:prstGeom prst="rect">
            <a:avLst/>
          </a:prstGeom>
          <a:solidFill>
            <a:srgbClr val="0A0E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445770" y="4937760"/>
            <a:ext cx="2743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Collector  ·  Epoch8</a:t>
            </a:r>
            <a:endParaRPr sz="1100"/>
          </a:p>
        </p:txBody>
      </p:sp>
      <p:sp>
        <p:nvSpPr>
          <p:cNvPr id="224" name="Google Shape;224;p28"/>
          <p:cNvSpPr txBox="1"/>
          <p:nvPr/>
        </p:nvSpPr>
        <p:spPr>
          <a:xfrm>
            <a:off x="8229600" y="4937760"/>
            <a:ext cx="6172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05 / 9</a:t>
            </a:r>
            <a:endParaRPr sz="1100"/>
          </a:p>
        </p:txBody>
      </p:sp>
      <p:sp>
        <p:nvSpPr>
          <p:cNvPr id="225" name="Google Shape;225;p28"/>
          <p:cNvSpPr/>
          <p:nvPr/>
        </p:nvSpPr>
        <p:spPr>
          <a:xfrm>
            <a:off x="445770" y="308610"/>
            <a:ext cx="1234440" cy="219456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endParaRPr sz="1100"/>
          </a:p>
        </p:txBody>
      </p:sp>
      <p:sp>
        <p:nvSpPr>
          <p:cNvPr id="226" name="Google Shape;226;p28"/>
          <p:cNvSpPr txBox="1"/>
          <p:nvPr/>
        </p:nvSpPr>
        <p:spPr>
          <a:xfrm>
            <a:off x="445770" y="582930"/>
            <a:ext cx="754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Конфиг = сценарий без кода</a:t>
            </a:r>
            <a:endParaRPr sz="1100"/>
          </a:p>
        </p:txBody>
      </p:sp>
      <p:sp>
        <p:nvSpPr>
          <p:cNvPr id="227" name="Google Shape;227;p28"/>
          <p:cNvSpPr/>
          <p:nvPr/>
        </p:nvSpPr>
        <p:spPr>
          <a:xfrm>
            <a:off x="445770" y="1117854"/>
            <a:ext cx="1508760" cy="34290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445770" y="1234440"/>
            <a:ext cx="75438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JSON в Git — без релиза приложения</a:t>
            </a:r>
            <a:endParaRPr sz="1100"/>
          </a:p>
        </p:txBody>
      </p:sp>
      <p:sp>
        <p:nvSpPr>
          <p:cNvPr id="229" name="Google Shape;229;p28"/>
          <p:cNvSpPr/>
          <p:nvPr/>
        </p:nvSpPr>
        <p:spPr>
          <a:xfrm>
            <a:off x="445770" y="1289304"/>
            <a:ext cx="34290" cy="31546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500634" y="1248156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Конфиг проекта — это  JSON файл в Git-репозитории проекта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8"/>
          <p:cNvSpPr/>
          <p:nvPr/>
        </p:nvSpPr>
        <p:spPr>
          <a:xfrm>
            <a:off x="445770" y="1741932"/>
            <a:ext cx="34290" cy="31546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500634" y="1700784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fields — описание полей: текст, фото, дата, выбор из списка…</a:t>
            </a:r>
            <a:endParaRPr sz="1100"/>
          </a:p>
        </p:txBody>
      </p:sp>
      <p:sp>
        <p:nvSpPr>
          <p:cNvPr id="233" name="Google Shape;233;p28"/>
          <p:cNvSpPr/>
          <p:nvPr/>
        </p:nvSpPr>
        <p:spPr>
          <a:xfrm>
            <a:off x="445770" y="2194560"/>
            <a:ext cx="34290" cy="31546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500634" y="2153412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Один набор fields = один экран формы в мобильном приложении</a:t>
            </a:r>
            <a:endParaRPr sz="1100"/>
          </a:p>
        </p:txBody>
      </p:sp>
      <p:sp>
        <p:nvSpPr>
          <p:cNvPr id="235" name="Google Shape;235;p28"/>
          <p:cNvSpPr/>
          <p:nvPr/>
        </p:nvSpPr>
        <p:spPr>
          <a:xfrm>
            <a:off x="445770" y="2647188"/>
            <a:ext cx="34290" cy="31546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500634" y="2606040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flow — порядок экранов: сценарий сбора = последовательность fields</a:t>
            </a:r>
            <a:endParaRPr sz="1100"/>
          </a:p>
        </p:txBody>
      </p:sp>
      <p:sp>
        <p:nvSpPr>
          <p:cNvPr id="237" name="Google Shape;237;p28"/>
          <p:cNvSpPr/>
          <p:nvPr/>
        </p:nvSpPr>
        <p:spPr>
          <a:xfrm>
            <a:off x="445770" y="3099816"/>
            <a:ext cx="34290" cy="31546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500634" y="3058668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Конфиг визуализации это JSON файл который определяет как показывать пакет и визуализации в админке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445770" y="3621024"/>
            <a:ext cx="34290" cy="31546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500634" y="3579876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Новый сценарий = правка или новый JSON в Git, а не релиз приложения</a:t>
            </a:r>
            <a:endParaRPr sz="1100"/>
          </a:p>
        </p:txBody>
      </p:sp>
      <p:sp>
        <p:nvSpPr>
          <p:cNvPr id="241" name="Google Shape;241;p28"/>
          <p:cNvSpPr/>
          <p:nvPr/>
        </p:nvSpPr>
        <p:spPr>
          <a:xfrm>
            <a:off x="4903470" y="720090"/>
            <a:ext cx="3806190" cy="4011930"/>
          </a:xfrm>
          <a:prstGeom prst="roundRect">
            <a:avLst>
              <a:gd fmla="val 16667" name="adj"/>
            </a:avLst>
          </a:prstGeom>
          <a:solidFill>
            <a:srgbClr val="0A0E18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28"/>
          <p:cNvCxnSpPr/>
          <p:nvPr/>
        </p:nvCxnSpPr>
        <p:spPr>
          <a:xfrm>
            <a:off x="0" y="1789938"/>
            <a:ext cx="0" cy="54864"/>
          </a:xfrm>
          <a:prstGeom prst="straightConnector1">
            <a:avLst/>
          </a:prstGeom>
          <a:noFill/>
          <a:ln cap="flat" cmpd="sng" w="2540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43" name="Google Shape;243;p28"/>
          <p:cNvCxnSpPr/>
          <p:nvPr/>
        </p:nvCxnSpPr>
        <p:spPr>
          <a:xfrm>
            <a:off x="0" y="2434590"/>
            <a:ext cx="0" cy="54864"/>
          </a:xfrm>
          <a:prstGeom prst="straightConnector1">
            <a:avLst/>
          </a:prstGeom>
          <a:noFill/>
          <a:ln cap="flat" cmpd="sng" w="25400">
            <a:solidFill>
              <a:srgbClr val="9B7E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id="244" name="Google Shape;2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3483" y="825189"/>
            <a:ext cx="2799457" cy="3801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/>
          <p:nvPr/>
        </p:nvSpPr>
        <p:spPr>
          <a:xfrm>
            <a:off x="-822960" y="-685800"/>
            <a:ext cx="2400300" cy="2400300"/>
          </a:xfrm>
          <a:prstGeom prst="ellipse">
            <a:avLst/>
          </a:prstGeom>
          <a:solidFill>
            <a:srgbClr val="3A5A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7886700" y="3977640"/>
            <a:ext cx="1920240" cy="1920240"/>
          </a:xfrm>
          <a:prstGeom prst="ellipse">
            <a:avLst/>
          </a:prstGeom>
          <a:solidFill>
            <a:srgbClr val="2A3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0" y="0"/>
            <a:ext cx="9143771" cy="41148"/>
          </a:xfrm>
          <a:prstGeom prst="rect">
            <a:avLst/>
          </a:prstGeom>
          <a:solidFill>
            <a:srgbClr val="D4A8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0" y="4924044"/>
            <a:ext cx="9143771" cy="219456"/>
          </a:xfrm>
          <a:prstGeom prst="rect">
            <a:avLst/>
          </a:prstGeom>
          <a:solidFill>
            <a:srgbClr val="0A0E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445770" y="4937760"/>
            <a:ext cx="2743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Collector  ·  Epoch8</a:t>
            </a:r>
            <a:endParaRPr sz="1100"/>
          </a:p>
        </p:txBody>
      </p:sp>
      <p:sp>
        <p:nvSpPr>
          <p:cNvPr id="254" name="Google Shape;254;p29"/>
          <p:cNvSpPr txBox="1"/>
          <p:nvPr/>
        </p:nvSpPr>
        <p:spPr>
          <a:xfrm>
            <a:off x="8229600" y="4937760"/>
            <a:ext cx="6172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06 / 11</a:t>
            </a:r>
            <a:endParaRPr sz="1100"/>
          </a:p>
        </p:txBody>
      </p:sp>
      <p:sp>
        <p:nvSpPr>
          <p:cNvPr id="255" name="Google Shape;255;p29"/>
          <p:cNvSpPr/>
          <p:nvPr/>
        </p:nvSpPr>
        <p:spPr>
          <a:xfrm>
            <a:off x="445770" y="308610"/>
            <a:ext cx="1234440" cy="219456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D4A8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D4A84B"/>
                </a:solidFill>
                <a:latin typeface="Calibri"/>
                <a:ea typeface="Calibri"/>
                <a:cs typeface="Calibri"/>
                <a:sym typeface="Calibri"/>
              </a:rPr>
              <a:t>STEP 01</a:t>
            </a:r>
            <a:endParaRPr sz="1100"/>
          </a:p>
        </p:txBody>
      </p:sp>
      <p:sp>
        <p:nvSpPr>
          <p:cNvPr id="256" name="Google Shape;256;p29"/>
          <p:cNvSpPr/>
          <p:nvPr/>
        </p:nvSpPr>
        <p:spPr>
          <a:xfrm>
            <a:off x="445770" y="260604"/>
            <a:ext cx="342900" cy="342900"/>
          </a:xfrm>
          <a:prstGeom prst="ellipse">
            <a:avLst/>
          </a:prstGeom>
          <a:solidFill>
            <a:srgbClr val="D4A8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2121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257" name="Google Shape;257;p29"/>
          <p:cNvSpPr txBox="1"/>
          <p:nvPr/>
        </p:nvSpPr>
        <p:spPr>
          <a:xfrm>
            <a:off x="445770" y="699516"/>
            <a:ext cx="754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Админ настраивает проект</a:t>
            </a:r>
            <a:endParaRPr sz="1100"/>
          </a:p>
        </p:txBody>
      </p:sp>
      <p:sp>
        <p:nvSpPr>
          <p:cNvPr id="258" name="Google Shape;258;p29"/>
          <p:cNvSpPr/>
          <p:nvPr/>
        </p:nvSpPr>
        <p:spPr>
          <a:xfrm>
            <a:off x="445770" y="1234440"/>
            <a:ext cx="1508760" cy="34290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9"/>
          <p:cNvSpPr/>
          <p:nvPr/>
        </p:nvSpPr>
        <p:spPr>
          <a:xfrm>
            <a:off x="445770" y="1426464"/>
            <a:ext cx="34290" cy="315468"/>
          </a:xfrm>
          <a:prstGeom prst="rect">
            <a:avLst/>
          </a:prstGeom>
          <a:solidFill>
            <a:srgbClr val="D4A8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500634" y="1385316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Создаёт проект и привязывает Git</a:t>
            </a:r>
            <a:endParaRPr sz="1100"/>
          </a:p>
        </p:txBody>
      </p:sp>
      <p:sp>
        <p:nvSpPr>
          <p:cNvPr id="261" name="Google Shape;261;p29"/>
          <p:cNvSpPr/>
          <p:nvPr/>
        </p:nvSpPr>
        <p:spPr>
          <a:xfrm>
            <a:off x="445770" y="1879092"/>
            <a:ext cx="34290" cy="315468"/>
          </a:xfrm>
          <a:prstGeom prst="rect">
            <a:avLst/>
          </a:prstGeom>
          <a:solidFill>
            <a:srgbClr val="D4A8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500634" y="1837944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Редактирует config.json: fields + flow</a:t>
            </a:r>
            <a:endParaRPr sz="1100"/>
          </a:p>
        </p:txBody>
      </p:sp>
      <p:sp>
        <p:nvSpPr>
          <p:cNvPr id="263" name="Google Shape;263;p29"/>
          <p:cNvSpPr/>
          <p:nvPr/>
        </p:nvSpPr>
        <p:spPr>
          <a:xfrm>
            <a:off x="445770" y="2331720"/>
            <a:ext cx="34290" cy="315468"/>
          </a:xfrm>
          <a:prstGeom prst="rect">
            <a:avLst/>
          </a:prstGeom>
          <a:solidFill>
            <a:srgbClr val="D4A8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500634" y="2290572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Назначает сборщиков на проект</a:t>
            </a:r>
            <a:endParaRPr sz="1100"/>
          </a:p>
        </p:txBody>
      </p:sp>
      <p:sp>
        <p:nvSpPr>
          <p:cNvPr id="265" name="Google Shape;265;p29"/>
          <p:cNvSpPr/>
          <p:nvPr/>
        </p:nvSpPr>
        <p:spPr>
          <a:xfrm>
            <a:off x="445770" y="2784348"/>
            <a:ext cx="34290" cy="315468"/>
          </a:xfrm>
          <a:prstGeom prst="rect">
            <a:avLst/>
          </a:prstGeom>
          <a:solidFill>
            <a:srgbClr val="D4A8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9"/>
          <p:cNvSpPr/>
          <p:nvPr/>
        </p:nvSpPr>
        <p:spPr>
          <a:xfrm>
            <a:off x="500634" y="2743200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Сохраняет → commit + push</a:t>
            </a:r>
            <a:endParaRPr sz="1100"/>
          </a:p>
        </p:txBody>
      </p:sp>
      <p:sp>
        <p:nvSpPr>
          <p:cNvPr id="267" name="Google Shape;267;p29"/>
          <p:cNvSpPr/>
          <p:nvPr/>
        </p:nvSpPr>
        <p:spPr>
          <a:xfrm>
            <a:off x="4903470" y="720090"/>
            <a:ext cx="3806190" cy="4011930"/>
          </a:xfrm>
          <a:prstGeom prst="roundRect">
            <a:avLst>
              <a:gd fmla="val 16667" name="adj"/>
            </a:avLst>
          </a:prstGeom>
          <a:solidFill>
            <a:srgbClr val="1A202C"/>
          </a:solidFill>
          <a:ln cap="flat" cmpd="sng" w="12700">
            <a:solidFill>
              <a:srgbClr val="D4A8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7955280" y="774954"/>
            <a:ext cx="685800" cy="164592"/>
          </a:xfrm>
          <a:prstGeom prst="roundRect">
            <a:avLst>
              <a:gd fmla="val 16667" name="adj"/>
            </a:avLst>
          </a:prstGeom>
          <a:solidFill>
            <a:srgbClr val="D4A8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SCREENSHOT</a:t>
            </a:r>
            <a:endParaRPr sz="1100"/>
          </a:p>
        </p:txBody>
      </p:sp>
      <p:pic>
        <p:nvPicPr>
          <p:cNvPr id="269" name="Google Shape;2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9020" y="960120"/>
            <a:ext cx="3379963" cy="3562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/>
          <p:cNvSpPr/>
          <p:nvPr/>
        </p:nvSpPr>
        <p:spPr>
          <a:xfrm>
            <a:off x="-822960" y="-685800"/>
            <a:ext cx="2400300" cy="2400300"/>
          </a:xfrm>
          <a:prstGeom prst="ellipse">
            <a:avLst/>
          </a:prstGeom>
          <a:solidFill>
            <a:srgbClr val="3A5A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0"/>
          <p:cNvSpPr/>
          <p:nvPr/>
        </p:nvSpPr>
        <p:spPr>
          <a:xfrm>
            <a:off x="7886700" y="3977640"/>
            <a:ext cx="1920240" cy="1920240"/>
          </a:xfrm>
          <a:prstGeom prst="ellipse">
            <a:avLst/>
          </a:prstGeom>
          <a:solidFill>
            <a:srgbClr val="2A3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0"/>
          <p:cNvSpPr/>
          <p:nvPr/>
        </p:nvSpPr>
        <p:spPr>
          <a:xfrm>
            <a:off x="0" y="0"/>
            <a:ext cx="9143771" cy="4114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0"/>
          <p:cNvSpPr/>
          <p:nvPr/>
        </p:nvSpPr>
        <p:spPr>
          <a:xfrm>
            <a:off x="0" y="4924044"/>
            <a:ext cx="9143771" cy="219456"/>
          </a:xfrm>
          <a:prstGeom prst="rect">
            <a:avLst/>
          </a:prstGeom>
          <a:solidFill>
            <a:srgbClr val="0A0E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0"/>
          <p:cNvSpPr txBox="1"/>
          <p:nvPr/>
        </p:nvSpPr>
        <p:spPr>
          <a:xfrm>
            <a:off x="445770" y="4937760"/>
            <a:ext cx="2743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Collector  ·  Epoch8</a:t>
            </a:r>
            <a:endParaRPr sz="1100"/>
          </a:p>
        </p:txBody>
      </p:sp>
      <p:sp>
        <p:nvSpPr>
          <p:cNvPr id="279" name="Google Shape;279;p30"/>
          <p:cNvSpPr txBox="1"/>
          <p:nvPr/>
        </p:nvSpPr>
        <p:spPr>
          <a:xfrm>
            <a:off x="8229600" y="4937760"/>
            <a:ext cx="6172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07 / 11</a:t>
            </a:r>
            <a:endParaRPr sz="1100"/>
          </a:p>
        </p:txBody>
      </p:sp>
      <p:sp>
        <p:nvSpPr>
          <p:cNvPr id="280" name="Google Shape;280;p30"/>
          <p:cNvSpPr/>
          <p:nvPr/>
        </p:nvSpPr>
        <p:spPr>
          <a:xfrm>
            <a:off x="445770" y="308610"/>
            <a:ext cx="1234440" cy="219456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5B8DEF"/>
                </a:solidFill>
                <a:latin typeface="Calibri"/>
                <a:ea typeface="Calibri"/>
                <a:cs typeface="Calibri"/>
                <a:sym typeface="Calibri"/>
              </a:rPr>
              <a:t>STEP 02</a:t>
            </a:r>
            <a:endParaRPr sz="1100"/>
          </a:p>
        </p:txBody>
      </p:sp>
      <p:sp>
        <p:nvSpPr>
          <p:cNvPr id="281" name="Google Shape;281;p30"/>
          <p:cNvSpPr/>
          <p:nvPr/>
        </p:nvSpPr>
        <p:spPr>
          <a:xfrm>
            <a:off x="445770" y="260604"/>
            <a:ext cx="342900" cy="342900"/>
          </a:xfrm>
          <a:prstGeom prst="ellipse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2121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282" name="Google Shape;282;p30"/>
          <p:cNvSpPr txBox="1"/>
          <p:nvPr/>
        </p:nvSpPr>
        <p:spPr>
          <a:xfrm>
            <a:off x="445770" y="699516"/>
            <a:ext cx="75438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Конфиг в приложении</a:t>
            </a:r>
            <a:endParaRPr sz="1100"/>
          </a:p>
        </p:txBody>
      </p:sp>
      <p:sp>
        <p:nvSpPr>
          <p:cNvPr id="283" name="Google Shape;283;p30"/>
          <p:cNvSpPr/>
          <p:nvPr/>
        </p:nvSpPr>
        <p:spPr>
          <a:xfrm>
            <a:off x="445770" y="1234440"/>
            <a:ext cx="1508760" cy="34290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445770" y="1426464"/>
            <a:ext cx="34290" cy="31546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0"/>
          <p:cNvSpPr/>
          <p:nvPr/>
        </p:nvSpPr>
        <p:spPr>
          <a:xfrm>
            <a:off x="500634" y="1385316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Сборщик логинится и видит свои проекты</a:t>
            </a:r>
            <a:endParaRPr sz="1100"/>
          </a:p>
        </p:txBody>
      </p:sp>
      <p:sp>
        <p:nvSpPr>
          <p:cNvPr id="286" name="Google Shape;286;p30"/>
          <p:cNvSpPr/>
          <p:nvPr/>
        </p:nvSpPr>
        <p:spPr>
          <a:xfrm>
            <a:off x="445770" y="1879092"/>
            <a:ext cx="34290" cy="31546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500634" y="1837944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Приложение скачивает config с сервера</a:t>
            </a:r>
            <a:endParaRPr sz="1100"/>
          </a:p>
        </p:txBody>
      </p:sp>
      <p:sp>
        <p:nvSpPr>
          <p:cNvPr id="288" name="Google Shape;288;p30"/>
          <p:cNvSpPr/>
          <p:nvPr/>
        </p:nvSpPr>
        <p:spPr>
          <a:xfrm>
            <a:off x="445770" y="2331720"/>
            <a:ext cx="34290" cy="31546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434340" y="2756916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Кэширует локально — работает офлайн</a:t>
            </a:r>
            <a:endParaRPr sz="1100"/>
          </a:p>
        </p:txBody>
      </p:sp>
      <p:sp>
        <p:nvSpPr>
          <p:cNvPr id="290" name="Google Shape;290;p30"/>
          <p:cNvSpPr/>
          <p:nvPr/>
        </p:nvSpPr>
        <p:spPr>
          <a:xfrm>
            <a:off x="445770" y="2784348"/>
            <a:ext cx="34290" cy="315468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500634" y="2297430"/>
            <a:ext cx="419709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Заполняет данные формы и подтверждает формирование пакета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0"/>
          <p:cNvSpPr/>
          <p:nvPr/>
        </p:nvSpPr>
        <p:spPr>
          <a:xfrm>
            <a:off x="4903470" y="720090"/>
            <a:ext cx="3806190" cy="4011930"/>
          </a:xfrm>
          <a:prstGeom prst="roundRect">
            <a:avLst>
              <a:gd fmla="val 16667" name="adj"/>
            </a:avLst>
          </a:prstGeom>
          <a:solidFill>
            <a:srgbClr val="1A202C"/>
          </a:solidFill>
          <a:ln cap="flat" cmpd="sng" w="12700">
            <a:solidFill>
              <a:srgbClr val="5B8D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0"/>
          <p:cNvSpPr/>
          <p:nvPr/>
        </p:nvSpPr>
        <p:spPr>
          <a:xfrm>
            <a:off x="4972050" y="788670"/>
            <a:ext cx="3669030" cy="3874770"/>
          </a:xfrm>
          <a:prstGeom prst="roundRect">
            <a:avLst>
              <a:gd fmla="val 16667" name="adj"/>
            </a:avLst>
          </a:prstGeom>
          <a:solidFill>
            <a:srgbClr val="182030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список проектов · форма · камера</a:t>
            </a:r>
            <a:endParaRPr sz="1100"/>
          </a:p>
        </p:txBody>
      </p:sp>
      <p:sp>
        <p:nvSpPr>
          <p:cNvPr id="294" name="Google Shape;294;p30"/>
          <p:cNvSpPr/>
          <p:nvPr/>
        </p:nvSpPr>
        <p:spPr>
          <a:xfrm>
            <a:off x="7955280" y="774954"/>
            <a:ext cx="685800" cy="164592"/>
          </a:xfrm>
          <a:prstGeom prst="roundRect">
            <a:avLst>
              <a:gd fmla="val 16667" name="adj"/>
            </a:avLst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SCREENSHOT</a:t>
            </a:r>
            <a:endParaRPr sz="1100"/>
          </a:p>
        </p:txBody>
      </p:sp>
      <p:sp>
        <p:nvSpPr>
          <p:cNvPr id="295" name="Google Shape;295;p30"/>
          <p:cNvSpPr/>
          <p:nvPr/>
        </p:nvSpPr>
        <p:spPr>
          <a:xfrm>
            <a:off x="125730" y="4162967"/>
            <a:ext cx="4572000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Более подробно https://app.notion.com/p/epoch8/360facc20beb80d086e1fda6582bf52f</a:t>
            </a:r>
            <a:endParaRPr sz="1100"/>
          </a:p>
        </p:txBody>
      </p:sp>
      <p:pic>
        <p:nvPicPr>
          <p:cNvPr id="296" name="Google Shape;2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0563" y="1038928"/>
            <a:ext cx="3256463" cy="343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A0E18"/>
            </a:gs>
            <a:gs pos="100000">
              <a:srgbClr val="182030"/>
            </a:gs>
          </a:gsLst>
          <a:lin ang="13500000" scaled="0"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1"/>
          <p:cNvSpPr/>
          <p:nvPr/>
        </p:nvSpPr>
        <p:spPr>
          <a:xfrm>
            <a:off x="-822960" y="-685800"/>
            <a:ext cx="2400300" cy="2400300"/>
          </a:xfrm>
          <a:prstGeom prst="ellipse">
            <a:avLst/>
          </a:prstGeom>
          <a:solidFill>
            <a:srgbClr val="3A5A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7886700" y="3977640"/>
            <a:ext cx="1920240" cy="1920240"/>
          </a:xfrm>
          <a:prstGeom prst="ellipse">
            <a:avLst/>
          </a:prstGeom>
          <a:solidFill>
            <a:srgbClr val="2A3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0" y="0"/>
            <a:ext cx="9143771" cy="41148"/>
          </a:xfrm>
          <a:prstGeom prst="rect">
            <a:avLst/>
          </a:prstGeom>
          <a:solidFill>
            <a:srgbClr val="3DCC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0" y="4924044"/>
            <a:ext cx="9143771" cy="219456"/>
          </a:xfrm>
          <a:prstGeom prst="rect">
            <a:avLst/>
          </a:prstGeom>
          <a:solidFill>
            <a:srgbClr val="0A0E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1"/>
          <p:cNvSpPr txBox="1"/>
          <p:nvPr/>
        </p:nvSpPr>
        <p:spPr>
          <a:xfrm>
            <a:off x="445770" y="4937760"/>
            <a:ext cx="2743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Collector  ·  Epoch8</a:t>
            </a:r>
            <a:endParaRPr sz="1100"/>
          </a:p>
        </p:txBody>
      </p:sp>
      <p:sp>
        <p:nvSpPr>
          <p:cNvPr id="306" name="Google Shape;306;p31"/>
          <p:cNvSpPr txBox="1"/>
          <p:nvPr/>
        </p:nvSpPr>
        <p:spPr>
          <a:xfrm>
            <a:off x="8229600" y="4937760"/>
            <a:ext cx="617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/ 11</a:t>
            </a:r>
            <a:endParaRPr sz="1100"/>
          </a:p>
        </p:txBody>
      </p:sp>
      <p:sp>
        <p:nvSpPr>
          <p:cNvPr id="307" name="Google Shape;307;p31"/>
          <p:cNvSpPr/>
          <p:nvPr/>
        </p:nvSpPr>
        <p:spPr>
          <a:xfrm>
            <a:off x="445770" y="308610"/>
            <a:ext cx="1234440" cy="219456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DCC8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3DCC85"/>
                </a:solidFill>
                <a:latin typeface="Calibri"/>
                <a:ea typeface="Calibri"/>
                <a:cs typeface="Calibri"/>
                <a:sym typeface="Calibri"/>
              </a:rPr>
              <a:t>STEP 03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445770" y="260604"/>
            <a:ext cx="342900" cy="342900"/>
          </a:xfrm>
          <a:prstGeom prst="ellipse">
            <a:avLst/>
          </a:prstGeom>
          <a:solidFill>
            <a:srgbClr val="3DCC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2121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445770" y="582930"/>
            <a:ext cx="4013414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Просмотр принятых пакетов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445770" y="1117854"/>
            <a:ext cx="1508760" cy="34290"/>
          </a:xfrm>
          <a:prstGeom prst="rect">
            <a:avLst/>
          </a:prstGeom>
          <a:solidFill>
            <a:srgbClr val="5B8DE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445770" y="1447037"/>
            <a:ext cx="34290" cy="315468"/>
          </a:xfrm>
          <a:prstGeom prst="rect">
            <a:avLst/>
          </a:prstGeom>
          <a:solidFill>
            <a:srgbClr val="3DCC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500634" y="1405889"/>
            <a:ext cx="392277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Список всех принятых пакетов по проектам проекта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445770" y="1899665"/>
            <a:ext cx="34290" cy="315468"/>
          </a:xfrm>
          <a:prstGeom prst="rect">
            <a:avLst/>
          </a:prstGeom>
          <a:solidFill>
            <a:srgbClr val="3DCC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500634" y="1858517"/>
            <a:ext cx="392277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Фильтры: проект, статус, поиск по полям</a:t>
            </a:r>
            <a:endParaRPr sz="1100"/>
          </a:p>
        </p:txBody>
      </p:sp>
      <p:sp>
        <p:nvSpPr>
          <p:cNvPr id="315" name="Google Shape;315;p31"/>
          <p:cNvSpPr/>
          <p:nvPr/>
        </p:nvSpPr>
        <p:spPr>
          <a:xfrm>
            <a:off x="445770" y="2352293"/>
            <a:ext cx="34290" cy="315468"/>
          </a:xfrm>
          <a:prstGeom prst="rect">
            <a:avLst/>
          </a:prstGeom>
          <a:solidFill>
            <a:srgbClr val="3DCC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500634" y="2311145"/>
            <a:ext cx="392277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данные · медиа · визуализации · история правок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445770" y="2804921"/>
            <a:ext cx="34290" cy="315468"/>
          </a:xfrm>
          <a:prstGeom prst="rect">
            <a:avLst/>
          </a:prstGeom>
          <a:solidFill>
            <a:srgbClr val="3DCC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500634" y="2763773"/>
            <a:ext cx="3922776" cy="397764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A45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UI строится из тех же полей в конфиге 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4903470" y="720090"/>
            <a:ext cx="3806190" cy="4011930"/>
          </a:xfrm>
          <a:prstGeom prst="roundRect">
            <a:avLst>
              <a:gd fmla="val 16667" name="adj"/>
            </a:avLst>
          </a:prstGeom>
          <a:solidFill>
            <a:srgbClr val="1A202C"/>
          </a:solidFill>
          <a:ln cap="flat" cmpd="sng" w="12700">
            <a:solidFill>
              <a:srgbClr val="3DCC8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7955280" y="774954"/>
            <a:ext cx="685800" cy="164592"/>
          </a:xfrm>
          <a:prstGeom prst="roundRect">
            <a:avLst>
              <a:gd fmla="val 16667" name="adj"/>
            </a:avLst>
          </a:prstGeom>
          <a:solidFill>
            <a:srgbClr val="3DCC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SCREENSHOT</a:t>
            </a:r>
            <a:endParaRPr sz="1100"/>
          </a:p>
        </p:txBody>
      </p:sp>
      <p:pic>
        <p:nvPicPr>
          <p:cNvPr id="321" name="Google Shape;3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1854" y="987552"/>
            <a:ext cx="3349421" cy="3530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E1828"/>
            </a:gs>
            <a:gs pos="100000">
              <a:srgbClr val="0A0E18"/>
            </a:gs>
          </a:gsLst>
          <a:lin ang="12000000" scaled="0"/>
        </a:gra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"/>
          <p:cNvSpPr/>
          <p:nvPr/>
        </p:nvSpPr>
        <p:spPr>
          <a:xfrm>
            <a:off x="-822960" y="-685800"/>
            <a:ext cx="2400300" cy="2400300"/>
          </a:xfrm>
          <a:prstGeom prst="ellipse">
            <a:avLst/>
          </a:prstGeom>
          <a:solidFill>
            <a:srgbClr val="3A5A9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7886700" y="3977640"/>
            <a:ext cx="1920240" cy="1920240"/>
          </a:xfrm>
          <a:prstGeom prst="ellipse">
            <a:avLst/>
          </a:prstGeom>
          <a:solidFill>
            <a:srgbClr val="2A35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2"/>
          <p:cNvSpPr/>
          <p:nvPr/>
        </p:nvSpPr>
        <p:spPr>
          <a:xfrm>
            <a:off x="0" y="0"/>
            <a:ext cx="9143771" cy="54864"/>
          </a:xfrm>
          <a:prstGeom prst="rect">
            <a:avLst/>
          </a:prstGeom>
          <a:solidFill>
            <a:srgbClr val="3DCC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822960" y="1028700"/>
            <a:ext cx="7475220" cy="3086100"/>
          </a:xfrm>
          <a:prstGeom prst="roundRect">
            <a:avLst>
              <a:gd fmla="val 16667" name="adj"/>
            </a:avLst>
          </a:prstGeom>
          <a:solidFill>
            <a:srgbClr val="1E2A3D"/>
          </a:solidFill>
          <a:ln cap="flat" cmpd="sng" w="12700">
            <a:solidFill>
              <a:srgbClr val="3DCC8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2"/>
          <p:cNvSpPr txBox="1"/>
          <p:nvPr/>
        </p:nvSpPr>
        <p:spPr>
          <a:xfrm>
            <a:off x="1131570" y="126873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E8EAED"/>
                </a:solidFill>
                <a:latin typeface="Calibri"/>
                <a:ea typeface="Calibri"/>
                <a:cs typeface="Calibri"/>
                <a:sym typeface="Calibri"/>
              </a:rPr>
              <a:t>Data Collector в одном предложении</a:t>
            </a:r>
            <a:endParaRPr sz="1100"/>
          </a:p>
        </p:txBody>
      </p:sp>
      <p:sp>
        <p:nvSpPr>
          <p:cNvPr id="331" name="Google Shape;331;p32"/>
          <p:cNvSpPr txBox="1"/>
          <p:nvPr/>
        </p:nvSpPr>
        <p:spPr>
          <a:xfrm>
            <a:off x="1131570" y="1817370"/>
            <a:ext cx="6858000" cy="7617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Админ описывает сценарий в JSON → приложение проводит сборщика по шагам → пакет с медиа попадает в админку → команда видит данные без ручной склейки.</a:t>
            </a:r>
            <a:endParaRPr sz="1100"/>
          </a:p>
        </p:txBody>
      </p:sp>
      <p:sp>
        <p:nvSpPr>
          <p:cNvPr id="332" name="Google Shape;332;p32"/>
          <p:cNvSpPr txBox="1"/>
          <p:nvPr/>
        </p:nvSpPr>
        <p:spPr>
          <a:xfrm>
            <a:off x="8229600" y="4937760"/>
            <a:ext cx="6172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 / 11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