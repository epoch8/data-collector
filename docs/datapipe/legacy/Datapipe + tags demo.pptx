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7FCEDC-9BF2-42B4-97C5-0A3A151C46D2}">
  <a:tblStyle styleId="{987FCEDC-9BF2-42B4-97C5-0A3A151C46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6aa6b1ee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56aa6b1ee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Datapipe builds durable, incremental ML data pipelines.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Today’s demo: a cat/dog detector that fails at night. We will add tagged data, retrain, and watch the night metric rise — live, with full observability.</a:t>
            </a:r>
            <a:endParaRPr/>
          </a:p>
        </p:txBody>
      </p:sp>
      <p:sp>
        <p:nvSpPr>
          <p:cNvPr id="128" name="Google Shape;128;g3f56aa6b1ee_2_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56aa6b1ee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56aa6b1ee_2_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A pipeline is a graph of tables connected by transforms.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Datapipe tracks dependencies per record: change one input row → only its downstream steps re-run. State is persisted, so a crash resumes where it left off.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at the callouts: new images restart from load; a train-config change can leave earlier stages cached.</a:t>
            </a:r>
            <a:endParaRPr/>
          </a:p>
        </p:txBody>
      </p:sp>
      <p:sp>
        <p:nvSpPr>
          <p:cNvPr id="141" name="Google Shape;141;g3f56aa6b1ee_2_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6aa6b1ee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56aa6b1ee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One pipeline, three surfaces.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Python — you define tables, transforms, stages.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Agentic Skills — the agent sets up the env, loads data, verifies it’s in the pipe, then hands off. It does not run training.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Datapipe UI — graph, training curves, metric tables, and the Run button you press.</a:t>
            </a:r>
            <a:endParaRPr/>
          </a:p>
        </p:txBody>
      </p:sp>
      <p:sp>
        <p:nvSpPr>
          <p:cNvPr id="172" name="Google Shape;172;g3f56aa6b1ee_2_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6aa6b1ee_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56aa6b1ee_2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Two building blocks in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Catalog = the tables (images, ground truth, tags, subsets).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= the transforms that move data between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load → split → freeze → train briefly; this is what the UI graph will show.</a:t>
            </a:r>
            <a:endParaRPr/>
          </a:p>
        </p:txBody>
      </p:sp>
      <p:sp>
        <p:nvSpPr>
          <p:cNvPr id="194" name="Google Shape;194;g3f56aa6b1ee_2_1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6aa6b1ee_2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f56aa6b1ee_2_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Before installing anything, the skill checks ports, Compose, DB/schema, and the venv — and reuses what is already there.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it loads part-1 data (base + night-val), verifies counts, and stops.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trigger model-A training yourself from the UI.</a:t>
            </a:r>
            <a:endParaRPr/>
          </a:p>
        </p:txBody>
      </p:sp>
      <p:sp>
        <p:nvSpPr>
          <p:cNvPr id="208" name="Google Shape;208;g3f56aa6b1ee_2_1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6aa6b1ee_2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56aa6b1ee_2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Open the live UI (localhost:8000, tunnel if remote).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Show: pipeline graph, Run steps, training status/curves, and the cat/dog metrics pages.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A was launched from here; model B will be too — same surface.</a:t>
            </a:r>
            <a:endParaRPr/>
          </a:p>
        </p:txBody>
      </p:sp>
      <p:sp>
        <p:nvSpPr>
          <p:cNvPr id="228" name="Google Shape;228;g3f56aa6b1ee_2_1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56aa6b1ee_2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f56aa6b1ee_2_1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Datapipe wires the usual ML stack so they stay in sync.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demo: YOLO for train/infer, FiftyOne for visual QA, Postgres + MinIO underneath.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Studio / CVAT are available for real annotation — not used today because ground truth is injected.</a:t>
            </a:r>
            <a:endParaRPr/>
          </a:p>
        </p:txBody>
      </p:sp>
      <p:sp>
        <p:nvSpPr>
          <p:cNvPr id="239" name="Google Shape;239;g3f56aa6b1ee_2_1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56aa6b1ee_2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f56aa6b1ee_2_2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Live demo starts now.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Promise in one line: find the weak scenario (night) → add tagged train data → retrain → prove the lift on the same frozen validation set.</a:t>
            </a:r>
            <a:endParaRPr/>
          </a:p>
        </p:txBody>
      </p:sp>
      <p:sp>
        <p:nvSpPr>
          <p:cNvPr id="273" name="Google Shape;273;g3f56aa6b1ee_2_2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56aa6b1ee_2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f56aa6b1ee_2_2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SAY: We already have a model, data, and overall metrics that look fine — but production fails at night.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Aggregate metric hides that. Tags slice metrics by scenario so the blind spot becomes a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how do we automate retrain without losing transparency? Datapipe.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THEN: FiftyOne — filter fields tag_id=night and subset_id=val (not native tags). Show GT vs predictions_model_a misses.</a:t>
            </a:r>
            <a:endParaRPr/>
          </a:p>
        </p:txBody>
      </p:sp>
      <p:sp>
        <p:nvSpPr>
          <p:cNvPr id="284" name="Google Shape;284;g3f56aa6b1ee_2_2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56aa6b1ee_2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f56aa6b1ee_2_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Why this load order matters.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 is frozen up front: 150 base-val + 150 night-val. If val changed between A and B, the metric would move even with an identical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2 only adds night-train (300). Optional beat: three darkness levels so B generalizes low light instead of memorizing one gamma.</a:t>
            </a:r>
            <a:endParaRPr/>
          </a:p>
        </p:txBody>
      </p:sp>
      <p:sp>
        <p:nvSpPr>
          <p:cNvPr id="305" name="Google Shape;305;g3f56aa6b1ee_2_2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56aa6b1ee_2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f56aa6b1ee_2_2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Switch to UI metrics — model_metrics and tag_metrics.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at night/val for model A: low. That is the failure mode.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Remind: we will remeasure on the exact same val after retrain.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(if not done on slide 9): quick FiftyOne night-val false negatives.</a:t>
            </a:r>
            <a:endParaRPr/>
          </a:p>
        </p:txBody>
      </p:sp>
      <p:sp>
        <p:nvSpPr>
          <p:cNvPr id="341" name="Google Shape;341;g3f56aa6b1ee_2_2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56aa6b1ee_2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f56aa6b1ee_2_2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 while executing: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Ask the agent to load night-train (part 2). Skill loads + verifies, then stops.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You press Run train in the UI → model B. Point audience at training curves / log.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Run count-metrics (re-run once if it reports 0 batches).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Refresh FiftyOne for predictions_model_b.</a:t>
            </a:r>
            <a:endParaRPr/>
          </a:p>
        </p:txBody>
      </p:sp>
      <p:sp>
        <p:nvSpPr>
          <p:cNvPr id="354" name="Google Shape;354;g3f56aa6b1ee_2_2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56aa6b1ee_2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56aa6b1ee_2_3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Same 150 night-val images — so A→B is fair.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the table from the live UI (prefer weighted F1; recall is fine as secondary). night/val should rise; overall should not regress.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THEN: FiftyOne — predictions_model_b vs model_a on night-val. Quote this run’s delta; don’t promise a fixed number.</a:t>
            </a:r>
            <a:endParaRPr/>
          </a:p>
        </p:txBody>
      </p:sp>
      <p:sp>
        <p:nvSpPr>
          <p:cNvPr id="383" name="Google Shape;383;g3f56aa6b1ee_2_3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56aa6b1ee_2_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f56aa6b1ee_2_3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SAY: Recap the loop as the strip: night fails → tags expose it → freeze val → add data &amp; retrain → prove the lift.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hit the three UVPs: incremental (cheap iteration), tags (actionable blind spots), one pipeline across code / agent / UI.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Close: same pipeline for real data — drop demo-only bits; keep frozen val and tags.</a:t>
            </a:r>
            <a:endParaRPr/>
          </a:p>
        </p:txBody>
      </p:sp>
      <p:sp>
        <p:nvSpPr>
          <p:cNvPr id="402" name="Google Shape;402;g3f56aa6b1ee_2_3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617220" y="130302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DATAPIPE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617220" y="1611630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Incremental ML data pipelines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617220" y="222885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Live demo — teaching a detector to see in the dark</a:t>
            </a:r>
            <a:endParaRPr sz="1100"/>
          </a:p>
        </p:txBody>
      </p:sp>
      <p:sp>
        <p:nvSpPr>
          <p:cNvPr id="135" name="Google Shape;135;p25"/>
          <p:cNvSpPr/>
          <p:nvPr/>
        </p:nvSpPr>
        <p:spPr>
          <a:xfrm>
            <a:off x="617220" y="2708910"/>
            <a:ext cx="13716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617220" y="2948940"/>
            <a:ext cx="7543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·  Cat/dog detection that fails at night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·  Fix it live: add tagged data → retrain → watch the metric rise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·  Reproducible · observable · resumable</a:t>
            </a:r>
            <a:endParaRPr sz="1100"/>
          </a:p>
        </p:txBody>
      </p:sp>
      <p:sp>
        <p:nvSpPr>
          <p:cNvPr id="137" name="Google Shape;137;p25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/ 14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is Datapipe?</a:t>
            </a:r>
            <a:endParaRPr sz="1100"/>
          </a:p>
        </p:txBody>
      </p:sp>
      <p:sp>
        <p:nvSpPr>
          <p:cNvPr id="145" name="Google Shape;145;p26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Python framework for durable, incremental batch processing</a:t>
            </a:r>
            <a:endParaRPr sz="1100"/>
          </a:p>
        </p:txBody>
      </p:sp>
      <p:sp>
        <p:nvSpPr>
          <p:cNvPr id="147" name="Google Shape;147;p26"/>
          <p:cNvSpPr/>
          <p:nvPr/>
        </p:nvSpPr>
        <p:spPr>
          <a:xfrm>
            <a:off x="548640" y="1577340"/>
            <a:ext cx="1062990" cy="54864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endParaRPr sz="1100"/>
          </a:p>
        </p:txBody>
      </p:sp>
      <p:sp>
        <p:nvSpPr>
          <p:cNvPr id="148" name="Google Shape;148;p26"/>
          <p:cNvSpPr/>
          <p:nvPr/>
        </p:nvSpPr>
        <p:spPr>
          <a:xfrm>
            <a:off x="1680210" y="1776222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1940814" y="1577340"/>
            <a:ext cx="1062990" cy="54864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3072384" y="1776222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3332988" y="1577340"/>
            <a:ext cx="1062990" cy="54864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100"/>
          </a:p>
        </p:txBody>
      </p:sp>
      <p:sp>
        <p:nvSpPr>
          <p:cNvPr id="152" name="Google Shape;152;p26"/>
          <p:cNvSpPr/>
          <p:nvPr/>
        </p:nvSpPr>
        <p:spPr>
          <a:xfrm>
            <a:off x="4464558" y="1776222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4725162" y="1577340"/>
            <a:ext cx="1062990" cy="54864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sz="1100"/>
          </a:p>
        </p:txBody>
      </p:sp>
      <p:sp>
        <p:nvSpPr>
          <p:cNvPr id="154" name="Google Shape;154;p26"/>
          <p:cNvSpPr/>
          <p:nvPr/>
        </p:nvSpPr>
        <p:spPr>
          <a:xfrm>
            <a:off x="5856732" y="1776222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6117336" y="1577340"/>
            <a:ext cx="1062990" cy="54864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1100"/>
          </a:p>
        </p:txBody>
      </p:sp>
      <p:sp>
        <p:nvSpPr>
          <p:cNvPr id="156" name="Google Shape;156;p26"/>
          <p:cNvSpPr/>
          <p:nvPr/>
        </p:nvSpPr>
        <p:spPr>
          <a:xfrm>
            <a:off x="7248906" y="1776222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7509510" y="1577340"/>
            <a:ext cx="1062990" cy="54864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fiftyone</a:t>
            </a:r>
            <a:endParaRPr sz="1100"/>
          </a:p>
        </p:txBody>
      </p:sp>
      <p:sp>
        <p:nvSpPr>
          <p:cNvPr id="158" name="Google Shape;158;p26"/>
          <p:cNvSpPr/>
          <p:nvPr/>
        </p:nvSpPr>
        <p:spPr>
          <a:xfrm>
            <a:off x="548640" y="2331720"/>
            <a:ext cx="2537460" cy="75438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672084" y="2400300"/>
            <a:ext cx="2290572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New images arrive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Rerun from here — only changed rows recompute downstream</a:t>
            </a:r>
            <a:endParaRPr sz="1100"/>
          </a:p>
        </p:txBody>
      </p:sp>
      <p:sp>
        <p:nvSpPr>
          <p:cNvPr id="160" name="Google Shape;160;p26"/>
          <p:cNvSpPr/>
          <p:nvPr/>
        </p:nvSpPr>
        <p:spPr>
          <a:xfrm>
            <a:off x="3291840" y="2331720"/>
            <a:ext cx="2537460" cy="75438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3415284" y="2400300"/>
            <a:ext cx="22905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Config / hyperparams change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Rerun from train </a:t>
            </a:r>
            <a:r>
              <a:rPr b="0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b="0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earlier stages stay cached</a:t>
            </a:r>
            <a:endParaRPr sz="1100"/>
          </a:p>
        </p:txBody>
      </p:sp>
      <p:sp>
        <p:nvSpPr>
          <p:cNvPr id="162" name="Google Shape;162;p26"/>
          <p:cNvSpPr/>
          <p:nvPr/>
        </p:nvSpPr>
        <p:spPr>
          <a:xfrm>
            <a:off x="548640" y="3291840"/>
            <a:ext cx="2537460" cy="11658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699516" y="3429000"/>
            <a:ext cx="22357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Record-level tracking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Change one input row → only its downstream steps re-run</a:t>
            </a:r>
            <a:endParaRPr sz="1100"/>
          </a:p>
        </p:txBody>
      </p:sp>
      <p:sp>
        <p:nvSpPr>
          <p:cNvPr id="164" name="Google Shape;164;p26"/>
          <p:cNvSpPr/>
          <p:nvPr/>
        </p:nvSpPr>
        <p:spPr>
          <a:xfrm>
            <a:off x="3291840" y="3291840"/>
            <a:ext cx="2537460" cy="11658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3442716" y="3429000"/>
            <a:ext cx="22357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Durable state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Interrupted run resumes where it stopped</a:t>
            </a:r>
            <a:endParaRPr sz="1100"/>
          </a:p>
        </p:txBody>
      </p:sp>
      <p:sp>
        <p:nvSpPr>
          <p:cNvPr id="166" name="Google Shape;166;p26"/>
          <p:cNvSpPr/>
          <p:nvPr/>
        </p:nvSpPr>
        <p:spPr>
          <a:xfrm>
            <a:off x="6035040" y="3291840"/>
            <a:ext cx="2537460" cy="11658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6185916" y="3429000"/>
            <a:ext cx="22357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Cheap iteration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“rerun everything” — safe to fail and retry</a:t>
            </a:r>
            <a:endParaRPr sz="1100"/>
          </a:p>
        </p:txBody>
      </p:sp>
      <p:sp>
        <p:nvSpPr>
          <p:cNvPr id="168" name="Google Shape;168;p26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we work with Datapipe</a:t>
            </a:r>
            <a:endParaRPr sz="1100"/>
          </a:p>
        </p:txBody>
      </p:sp>
      <p:sp>
        <p:nvSpPr>
          <p:cNvPr id="176" name="Google Shape;176;p27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surfaces, one pipeline</a:t>
            </a:r>
            <a:endParaRPr sz="1100"/>
          </a:p>
        </p:txBody>
      </p:sp>
      <p:sp>
        <p:nvSpPr>
          <p:cNvPr id="178" name="Google Shape;178;p27"/>
          <p:cNvSpPr/>
          <p:nvPr/>
        </p:nvSpPr>
        <p:spPr>
          <a:xfrm>
            <a:off x="480060" y="1508760"/>
            <a:ext cx="2640330" cy="260604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685800" y="174879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180" name="Google Shape;180;p27"/>
          <p:cNvSpPr txBox="1"/>
          <p:nvPr/>
        </p:nvSpPr>
        <p:spPr>
          <a:xfrm>
            <a:off x="685800" y="2400300"/>
            <a:ext cx="2228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100"/>
          </a:p>
        </p:txBody>
      </p:sp>
      <p:sp>
        <p:nvSpPr>
          <p:cNvPr id="181" name="Google Shape;181;p27"/>
          <p:cNvSpPr txBox="1"/>
          <p:nvPr/>
        </p:nvSpPr>
        <p:spPr>
          <a:xfrm>
            <a:off x="685800" y="2846070"/>
            <a:ext cx="222885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Define the pipeline as code: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tables, transforms, stages.</a:t>
            </a:r>
            <a:endParaRPr sz="1100"/>
          </a:p>
        </p:txBody>
      </p:sp>
      <p:sp>
        <p:nvSpPr>
          <p:cNvPr id="182" name="Google Shape;182;p27"/>
          <p:cNvSpPr/>
          <p:nvPr/>
        </p:nvSpPr>
        <p:spPr>
          <a:xfrm>
            <a:off x="3257550" y="1508760"/>
            <a:ext cx="2640330" cy="260604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463290" y="174879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/>
          </a:p>
        </p:txBody>
      </p:sp>
      <p:sp>
        <p:nvSpPr>
          <p:cNvPr id="184" name="Google Shape;184;p27"/>
          <p:cNvSpPr txBox="1"/>
          <p:nvPr/>
        </p:nvSpPr>
        <p:spPr>
          <a:xfrm>
            <a:off x="3463290" y="2400300"/>
            <a:ext cx="2228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Agentic Skills</a:t>
            </a:r>
            <a:endParaRPr sz="1100"/>
          </a:p>
        </p:txBody>
      </p:sp>
      <p:sp>
        <p:nvSpPr>
          <p:cNvPr id="185" name="Google Shape;185;p27"/>
          <p:cNvSpPr txBox="1"/>
          <p:nvPr/>
        </p:nvSpPr>
        <p:spPr>
          <a:xfrm>
            <a:off x="3463290" y="2846070"/>
            <a:ext cx="222885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Agent sets up, loads data,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verifies, and hands off.</a:t>
            </a:r>
            <a:endParaRPr sz="1100"/>
          </a:p>
        </p:txBody>
      </p:sp>
      <p:sp>
        <p:nvSpPr>
          <p:cNvPr id="186" name="Google Shape;186;p27"/>
          <p:cNvSpPr/>
          <p:nvPr/>
        </p:nvSpPr>
        <p:spPr>
          <a:xfrm>
            <a:off x="6035040" y="1508760"/>
            <a:ext cx="2640330" cy="260604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6240780" y="174879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/>
          </a:p>
        </p:txBody>
      </p:sp>
      <p:sp>
        <p:nvSpPr>
          <p:cNvPr id="188" name="Google Shape;188;p27"/>
          <p:cNvSpPr txBox="1"/>
          <p:nvPr/>
        </p:nvSpPr>
        <p:spPr>
          <a:xfrm>
            <a:off x="6240780" y="2400300"/>
            <a:ext cx="2228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Datapipe UI</a:t>
            </a:r>
            <a:endParaRPr sz="1100"/>
          </a:p>
        </p:txBody>
      </p:sp>
      <p:sp>
        <p:nvSpPr>
          <p:cNvPr id="189" name="Google Shape;189;p27"/>
          <p:cNvSpPr txBox="1"/>
          <p:nvPr/>
        </p:nvSpPr>
        <p:spPr>
          <a:xfrm>
            <a:off x="6240780" y="2846070"/>
            <a:ext cx="222885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Graph, training, metrics,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run triggers — live.</a:t>
            </a:r>
            <a:endParaRPr sz="1100"/>
          </a:p>
        </p:txBody>
      </p:sp>
      <p:sp>
        <p:nvSpPr>
          <p:cNvPr id="190" name="Google Shape;190;p27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Python — define the pipeline</a:t>
            </a:r>
            <a:endParaRPr sz="1100"/>
          </a:p>
        </p:txBody>
      </p:sp>
      <p:sp>
        <p:nvSpPr>
          <p:cNvPr id="198" name="Google Shape;198;p28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Catalog (tables) + Pipeline (transforms)</a:t>
            </a:r>
            <a:endParaRPr sz="1100"/>
          </a:p>
        </p:txBody>
      </p:sp>
      <p:sp>
        <p:nvSpPr>
          <p:cNvPr id="200" name="Google Shape;200;p28"/>
          <p:cNvSpPr/>
          <p:nvPr/>
        </p:nvSpPr>
        <p:spPr>
          <a:xfrm>
            <a:off x="480060" y="1268730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F1F5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Catalog</a:t>
            </a:r>
            <a:endParaRPr sz="1100"/>
          </a:p>
        </p:txBody>
      </p:sp>
      <p:sp>
        <p:nvSpPr>
          <p:cNvPr id="201" name="Google Shape;201;p28"/>
          <p:cNvSpPr/>
          <p:nvPr/>
        </p:nvSpPr>
        <p:spPr>
          <a:xfrm>
            <a:off x="4800600" y="1268730"/>
            <a:ext cx="891540" cy="219456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1100"/>
          </a:p>
        </p:txBody>
      </p:sp>
      <p:pic>
        <p:nvPicPr>
          <p:cNvPr descr="slide4_Google Shape_86_p6.png" id="202" name="Google Shape;2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543050"/>
            <a:ext cx="3248849" cy="31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ide4_Google Shape_85_p6.png" id="203" name="Google Shape;2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543050"/>
            <a:ext cx="3069917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8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/>
          <p:nvPr/>
        </p:nvSpPr>
        <p:spPr>
          <a:xfrm>
            <a:off x="0" y="24003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Agentic Skills — environment setup</a:t>
            </a:r>
            <a:endParaRPr sz="1100"/>
          </a:p>
        </p:txBody>
      </p:sp>
      <p:sp>
        <p:nvSpPr>
          <p:cNvPr id="212" name="Google Shape;212;p29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Skill checks what is already running before it installs or changes anything</a:t>
            </a:r>
            <a:endParaRPr sz="1100"/>
          </a:p>
        </p:txBody>
      </p:sp>
      <p:sp>
        <p:nvSpPr>
          <p:cNvPr id="214" name="Google Shape;214;p29"/>
          <p:cNvSpPr/>
          <p:nvPr/>
        </p:nvSpPr>
        <p:spPr>
          <a:xfrm>
            <a:off x="480060" y="1868805"/>
            <a:ext cx="3600450" cy="58293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617220" y="2005965"/>
            <a:ext cx="308610" cy="30861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16" name="Google Shape;216;p29"/>
          <p:cNvSpPr txBox="1"/>
          <p:nvPr/>
        </p:nvSpPr>
        <p:spPr>
          <a:xfrm>
            <a:off x="1062990" y="1951101"/>
            <a:ext cx="30175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Prebuilt environment activated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torch + FiftyOne already available</a:t>
            </a:r>
            <a:endParaRPr sz="1100"/>
          </a:p>
        </p:txBody>
      </p:sp>
      <p:sp>
        <p:nvSpPr>
          <p:cNvPr id="217" name="Google Shape;217;p29"/>
          <p:cNvSpPr/>
          <p:nvPr/>
        </p:nvSpPr>
        <p:spPr>
          <a:xfrm>
            <a:off x="480060" y="2554605"/>
            <a:ext cx="3600450" cy="58293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617220" y="2691765"/>
            <a:ext cx="308610" cy="30861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19" name="Google Shape;219;p29"/>
          <p:cNvSpPr txBox="1"/>
          <p:nvPr/>
        </p:nvSpPr>
        <p:spPr>
          <a:xfrm>
            <a:off x="1062990" y="2636901"/>
            <a:ext cx="30175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Services responding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Postgres, MinIO, MongoDB</a:t>
            </a:r>
            <a:endParaRPr sz="1100"/>
          </a:p>
        </p:txBody>
      </p:sp>
      <p:sp>
        <p:nvSpPr>
          <p:cNvPr id="220" name="Google Shape;220;p29"/>
          <p:cNvSpPr/>
          <p:nvPr/>
        </p:nvSpPr>
        <p:spPr>
          <a:xfrm>
            <a:off x="480060" y="3240405"/>
            <a:ext cx="3600450" cy="58293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617220" y="3377565"/>
            <a:ext cx="308610" cy="30861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22" name="Google Shape;222;p29"/>
          <p:cNvSpPr txBox="1"/>
          <p:nvPr/>
        </p:nvSpPr>
        <p:spPr>
          <a:xfrm>
            <a:off x="1062990" y="3322701"/>
            <a:ext cx="30175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Ports &amp; schema confirmed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Nothing overwritten blindly</a:t>
            </a:r>
            <a:endParaRPr sz="1100"/>
          </a:p>
        </p:txBody>
      </p:sp>
      <p:sp>
        <p:nvSpPr>
          <p:cNvPr id="223" name="Google Shape;223;p29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14</a:t>
            </a:r>
            <a:endParaRPr sz="1100"/>
          </a:p>
        </p:txBody>
      </p:sp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4345" y="1881243"/>
            <a:ext cx="4395682" cy="1942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Retrain from the UI</a:t>
            </a:r>
            <a:endParaRPr sz="1100"/>
          </a:p>
        </p:txBody>
      </p:sp>
      <p:sp>
        <p:nvSpPr>
          <p:cNvPr id="232" name="Google Shape;232;p30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Graph · observability · metric tables · run triggers</a:t>
            </a:r>
            <a:endParaRPr sz="1100"/>
          </a:p>
        </p:txBody>
      </p:sp>
      <p:pic>
        <p:nvPicPr>
          <p:cNvPr descr="slide6_Google Shape_117_p8.png" id="234" name="Google Shape;2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268730"/>
            <a:ext cx="8161020" cy="376969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sz="1100"/>
          </a:p>
        </p:txBody>
      </p:sp>
      <p:sp>
        <p:nvSpPr>
          <p:cNvPr id="243" name="Google Shape;243;p31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Batteries included for ML data work</a:t>
            </a:r>
            <a:endParaRPr sz="1100"/>
          </a:p>
        </p:txBody>
      </p:sp>
      <p:sp>
        <p:nvSpPr>
          <p:cNvPr id="245" name="Google Shape;245;p31"/>
          <p:cNvSpPr/>
          <p:nvPr/>
        </p:nvSpPr>
        <p:spPr>
          <a:xfrm>
            <a:off x="480060" y="1337310"/>
            <a:ext cx="2640330" cy="15087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651510" y="1460754"/>
            <a:ext cx="22974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ANNOTATION</a:t>
            </a:r>
            <a:endParaRPr sz="1100"/>
          </a:p>
        </p:txBody>
      </p:sp>
      <p:sp>
        <p:nvSpPr>
          <p:cNvPr id="247" name="Google Shape;247;p31"/>
          <p:cNvSpPr txBox="1"/>
          <p:nvPr/>
        </p:nvSpPr>
        <p:spPr>
          <a:xfrm>
            <a:off x="651510" y="250317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Label Studio</a:t>
            </a:r>
            <a:endParaRPr sz="1100"/>
          </a:p>
        </p:txBody>
      </p:sp>
      <p:sp>
        <p:nvSpPr>
          <p:cNvPr id="248" name="Google Shape;248;p31"/>
          <p:cNvSpPr/>
          <p:nvPr/>
        </p:nvSpPr>
        <p:spPr>
          <a:xfrm>
            <a:off x="3257550" y="1337310"/>
            <a:ext cx="2640330" cy="15087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3429000" y="1460754"/>
            <a:ext cx="22974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ANNOTATION</a:t>
            </a:r>
            <a:endParaRPr sz="1100"/>
          </a:p>
        </p:txBody>
      </p:sp>
      <p:sp>
        <p:nvSpPr>
          <p:cNvPr id="250" name="Google Shape;250;p31"/>
          <p:cNvSpPr txBox="1"/>
          <p:nvPr/>
        </p:nvSpPr>
        <p:spPr>
          <a:xfrm>
            <a:off x="3429000" y="250317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CVAT</a:t>
            </a:r>
            <a:endParaRPr sz="1100"/>
          </a:p>
        </p:txBody>
      </p:sp>
      <p:sp>
        <p:nvSpPr>
          <p:cNvPr id="251" name="Google Shape;251;p31"/>
          <p:cNvSpPr/>
          <p:nvPr/>
        </p:nvSpPr>
        <p:spPr>
          <a:xfrm>
            <a:off x="6035040" y="1337310"/>
            <a:ext cx="2640330" cy="15087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6206490" y="1460754"/>
            <a:ext cx="22974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sz="1100"/>
          </a:p>
        </p:txBody>
      </p:sp>
      <p:pic>
        <p:nvPicPr>
          <p:cNvPr descr="fiftyone.png" id="253" name="Google Shape;2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651" y="1833982"/>
            <a:ext cx="2011109" cy="48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1"/>
          <p:cNvSpPr txBox="1"/>
          <p:nvPr/>
        </p:nvSpPr>
        <p:spPr>
          <a:xfrm>
            <a:off x="6206490" y="250317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FiftyOne</a:t>
            </a:r>
            <a:endParaRPr sz="1100"/>
          </a:p>
        </p:txBody>
      </p:sp>
      <p:sp>
        <p:nvSpPr>
          <p:cNvPr id="255" name="Google Shape;255;p31"/>
          <p:cNvSpPr/>
          <p:nvPr/>
        </p:nvSpPr>
        <p:spPr>
          <a:xfrm>
            <a:off x="480060" y="3017520"/>
            <a:ext cx="2640330" cy="15087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651510" y="3140964"/>
            <a:ext cx="22974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100"/>
          </a:p>
        </p:txBody>
      </p:sp>
      <p:pic>
        <p:nvPicPr>
          <p:cNvPr descr="yolo.png" id="257" name="Google Shape;2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671" y="3485690"/>
            <a:ext cx="2011109" cy="53812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 txBox="1"/>
          <p:nvPr/>
        </p:nvSpPr>
        <p:spPr>
          <a:xfrm>
            <a:off x="651510" y="418338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YOLO / Ultralytics</a:t>
            </a:r>
            <a:endParaRPr sz="1100"/>
          </a:p>
        </p:txBody>
      </p:sp>
      <p:sp>
        <p:nvSpPr>
          <p:cNvPr id="259" name="Google Shape;259;p31"/>
          <p:cNvSpPr/>
          <p:nvPr/>
        </p:nvSpPr>
        <p:spPr>
          <a:xfrm>
            <a:off x="3257550" y="3017520"/>
            <a:ext cx="2640330" cy="15087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3429000" y="3140964"/>
            <a:ext cx="22974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100"/>
          </a:p>
        </p:txBody>
      </p:sp>
      <p:pic>
        <p:nvPicPr>
          <p:cNvPr descr="postgres.png" id="261" name="Google Shape;26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7670" y="3394710"/>
            <a:ext cx="720090" cy="72009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1"/>
          <p:cNvSpPr txBox="1"/>
          <p:nvPr/>
        </p:nvSpPr>
        <p:spPr>
          <a:xfrm>
            <a:off x="3429000" y="418338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100"/>
          </a:p>
        </p:txBody>
      </p:sp>
      <p:sp>
        <p:nvSpPr>
          <p:cNvPr id="263" name="Google Shape;263;p31"/>
          <p:cNvSpPr/>
          <p:nvPr/>
        </p:nvSpPr>
        <p:spPr>
          <a:xfrm>
            <a:off x="6035040" y="3017520"/>
            <a:ext cx="2640330" cy="15087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6206490" y="3140964"/>
            <a:ext cx="22974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endParaRPr sz="1100"/>
          </a:p>
        </p:txBody>
      </p:sp>
      <p:sp>
        <p:nvSpPr>
          <p:cNvPr id="265" name="Google Shape;265;p31"/>
          <p:cNvSpPr txBox="1"/>
          <p:nvPr/>
        </p:nvSpPr>
        <p:spPr>
          <a:xfrm>
            <a:off x="6206490" y="4183380"/>
            <a:ext cx="22974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MinIO / S3</a:t>
            </a:r>
            <a:endParaRPr sz="1100"/>
          </a:p>
        </p:txBody>
      </p:sp>
      <p:sp>
        <p:nvSpPr>
          <p:cNvPr id="266" name="Google Shape;266;p31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14</a:t>
            </a:r>
            <a:endParaRPr sz="1100"/>
          </a:p>
        </p:txBody>
      </p:sp>
      <p:pic>
        <p:nvPicPr>
          <p:cNvPr id="267" name="Google Shape;26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1488" y="1776225"/>
            <a:ext cx="1578148" cy="61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 title="image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512" y="1891662"/>
            <a:ext cx="2297425" cy="38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 title="image-removebg-preview (3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52375" y="3384975"/>
            <a:ext cx="1805643" cy="7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617220" y="171450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1100"/>
          </a:p>
        </p:txBody>
      </p:sp>
      <p:sp>
        <p:nvSpPr>
          <p:cNvPr id="278" name="Google Shape;278;p32"/>
          <p:cNvSpPr txBox="1"/>
          <p:nvPr/>
        </p:nvSpPr>
        <p:spPr>
          <a:xfrm>
            <a:off x="617220" y="2057400"/>
            <a:ext cx="78867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Teaching a detector to see in the dark</a:t>
            </a:r>
            <a:endParaRPr sz="1100"/>
          </a:p>
        </p:txBody>
      </p:sp>
      <p:sp>
        <p:nvSpPr>
          <p:cNvPr id="279" name="Google Shape;279;p32"/>
          <p:cNvSpPr txBox="1"/>
          <p:nvPr/>
        </p:nvSpPr>
        <p:spPr>
          <a:xfrm>
            <a:off x="617220" y="294894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Find a weak scenario → add tagged data → retrain → prove the lift</a:t>
            </a:r>
            <a:endParaRPr sz="1100"/>
          </a:p>
        </p:txBody>
      </p:sp>
      <p:sp>
        <p:nvSpPr>
          <p:cNvPr id="280" name="Google Shape;280;p32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100"/>
          </a:p>
        </p:txBody>
      </p:sp>
      <p:sp>
        <p:nvSpPr>
          <p:cNvPr id="288" name="Google Shape;288;p33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have a model, a dataset, and metrics — but it underperforms in production</a:t>
            </a:r>
            <a:endParaRPr sz="1100"/>
          </a:p>
        </p:txBody>
      </p:sp>
      <p:sp>
        <p:nvSpPr>
          <p:cNvPr id="290" name="Google Shape;290;p33"/>
          <p:cNvSpPr/>
          <p:nvPr/>
        </p:nvSpPr>
        <p:spPr>
          <a:xfrm>
            <a:off x="480060" y="1337310"/>
            <a:ext cx="4046220" cy="322326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3"/>
          <p:cNvSpPr txBox="1"/>
          <p:nvPr/>
        </p:nvSpPr>
        <p:spPr>
          <a:xfrm>
            <a:off x="720090" y="1474470"/>
            <a:ext cx="35661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WHAT WE HAVE</a:t>
            </a:r>
            <a:endParaRPr sz="1100"/>
          </a:p>
        </p:txBody>
      </p:sp>
      <p:sp>
        <p:nvSpPr>
          <p:cNvPr id="292" name="Google Shape;292;p33"/>
          <p:cNvSpPr txBox="1"/>
          <p:nvPr/>
        </p:nvSpPr>
        <p:spPr>
          <a:xfrm>
            <a:off x="720090" y="1783080"/>
            <a:ext cx="35661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Cat &amp; dog detection model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Trained on COCO images with injected ground truth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Overall metrics look fine</a:t>
            </a:r>
            <a:endParaRPr sz="1100"/>
          </a:p>
        </p:txBody>
      </p:sp>
      <p:sp>
        <p:nvSpPr>
          <p:cNvPr id="293" name="Google Shape;293;p33"/>
          <p:cNvSpPr/>
          <p:nvPr/>
        </p:nvSpPr>
        <p:spPr>
          <a:xfrm>
            <a:off x="720090" y="2846070"/>
            <a:ext cx="3566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3"/>
          <p:cNvSpPr txBox="1"/>
          <p:nvPr/>
        </p:nvSpPr>
        <p:spPr>
          <a:xfrm>
            <a:off x="720090" y="3017520"/>
            <a:ext cx="35661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WHAT WE FOUND</a:t>
            </a:r>
            <a:endParaRPr sz="1100"/>
          </a:p>
        </p:txBody>
      </p:sp>
      <p:sp>
        <p:nvSpPr>
          <p:cNvPr id="295" name="Google Shape;295;p33"/>
          <p:cNvSpPr txBox="1"/>
          <p:nvPr/>
        </p:nvSpPr>
        <p:spPr>
          <a:xfrm>
            <a:off x="720090" y="3326130"/>
            <a:ext cx="3566160" cy="6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 is less accurate at night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Aggregate metric hides the failure — we need per-scenario metrics (tags)</a:t>
            </a:r>
            <a:endParaRPr sz="1100"/>
          </a:p>
        </p:txBody>
      </p:sp>
      <p:sp>
        <p:nvSpPr>
          <p:cNvPr id="296" name="Google Shape;296;p33"/>
          <p:cNvSpPr/>
          <p:nvPr/>
        </p:nvSpPr>
        <p:spPr>
          <a:xfrm>
            <a:off x="4766310" y="1337310"/>
            <a:ext cx="3840480" cy="322326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5006340" y="1577340"/>
            <a:ext cx="34290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QUESTION</a:t>
            </a:r>
            <a:endParaRPr sz="1100"/>
          </a:p>
        </p:txBody>
      </p:sp>
      <p:sp>
        <p:nvSpPr>
          <p:cNvPr id="298" name="Google Shape;298;p33"/>
          <p:cNvSpPr txBox="1"/>
          <p:nvPr/>
        </p:nvSpPr>
        <p:spPr>
          <a:xfrm>
            <a:off x="5006340" y="192024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do we automate retrain without losing transparency?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Annotate new examples → add to training → retrain → measure again — and repeat.</a:t>
            </a:r>
            <a:endParaRPr sz="1100"/>
          </a:p>
        </p:txBody>
      </p:sp>
      <p:sp>
        <p:nvSpPr>
          <p:cNvPr id="299" name="Google Shape;299;p33"/>
          <p:cNvSpPr/>
          <p:nvPr/>
        </p:nvSpPr>
        <p:spPr>
          <a:xfrm>
            <a:off x="5006340" y="3634740"/>
            <a:ext cx="3429000" cy="617220"/>
          </a:xfrm>
          <a:prstGeom prst="roundRect">
            <a:avLst>
              <a:gd fmla="val 8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 txBox="1"/>
          <p:nvPr/>
        </p:nvSpPr>
        <p:spPr>
          <a:xfrm>
            <a:off x="5006340" y="377190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answer — Datapipe</a:t>
            </a:r>
            <a:endParaRPr sz="1100"/>
          </a:p>
        </p:txBody>
      </p:sp>
      <p:sp>
        <p:nvSpPr>
          <p:cNvPr id="301" name="Google Shape;301;p33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4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layout</a:t>
            </a:r>
            <a:endParaRPr sz="1100"/>
          </a:p>
        </p:txBody>
      </p:sp>
      <p:sp>
        <p:nvSpPr>
          <p:cNvPr id="309" name="Google Shape;309;p34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4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 frozen up front — only TRAIN grows between model A and model B</a:t>
            </a:r>
            <a:endParaRPr sz="1100"/>
          </a:p>
        </p:txBody>
      </p:sp>
      <p:sp>
        <p:nvSpPr>
          <p:cNvPr id="311" name="Google Shape;311;p34"/>
          <p:cNvSpPr/>
          <p:nvPr/>
        </p:nvSpPr>
        <p:spPr>
          <a:xfrm>
            <a:off x="480060" y="1440180"/>
            <a:ext cx="1988820" cy="267462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4"/>
          <p:cNvSpPr/>
          <p:nvPr/>
        </p:nvSpPr>
        <p:spPr>
          <a:xfrm>
            <a:off x="617220" y="1577340"/>
            <a:ext cx="685800" cy="192024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100"/>
          </a:p>
        </p:txBody>
      </p:sp>
      <p:sp>
        <p:nvSpPr>
          <p:cNvPr id="313" name="Google Shape;313;p34"/>
          <p:cNvSpPr txBox="1"/>
          <p:nvPr/>
        </p:nvSpPr>
        <p:spPr>
          <a:xfrm>
            <a:off x="617220" y="1954530"/>
            <a:ext cx="17145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 sz="1100"/>
          </a:p>
        </p:txBody>
      </p:sp>
      <p:sp>
        <p:nvSpPr>
          <p:cNvPr id="314" name="Google Shape;314;p34"/>
          <p:cNvSpPr txBox="1"/>
          <p:nvPr/>
        </p:nvSpPr>
        <p:spPr>
          <a:xfrm>
            <a:off x="617220" y="246888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base-train</a:t>
            </a:r>
            <a:endParaRPr sz="1100"/>
          </a:p>
        </p:txBody>
      </p:sp>
      <p:sp>
        <p:nvSpPr>
          <p:cNvPr id="315" name="Google Shape;315;p34"/>
          <p:cNvSpPr/>
          <p:nvPr/>
        </p:nvSpPr>
        <p:spPr>
          <a:xfrm>
            <a:off x="754380" y="2846070"/>
            <a:ext cx="144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4"/>
          <p:cNvSpPr txBox="1"/>
          <p:nvPr/>
        </p:nvSpPr>
        <p:spPr>
          <a:xfrm>
            <a:off x="651510" y="30175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subset = train</a:t>
            </a:r>
            <a:endParaRPr sz="11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standard images</a:t>
            </a:r>
            <a:endParaRPr sz="1100"/>
          </a:p>
        </p:txBody>
      </p:sp>
      <p:sp>
        <p:nvSpPr>
          <p:cNvPr id="317" name="Google Shape;317;p34"/>
          <p:cNvSpPr/>
          <p:nvPr/>
        </p:nvSpPr>
        <p:spPr>
          <a:xfrm>
            <a:off x="2571750" y="1440180"/>
            <a:ext cx="1988820" cy="267462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2708910" y="1577340"/>
            <a:ext cx="685800" cy="192024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100"/>
          </a:p>
        </p:txBody>
      </p:sp>
      <p:sp>
        <p:nvSpPr>
          <p:cNvPr id="319" name="Google Shape;319;p34"/>
          <p:cNvSpPr txBox="1"/>
          <p:nvPr/>
        </p:nvSpPr>
        <p:spPr>
          <a:xfrm>
            <a:off x="2708910" y="1954530"/>
            <a:ext cx="17145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 sz="1100"/>
          </a:p>
        </p:txBody>
      </p:sp>
      <p:sp>
        <p:nvSpPr>
          <p:cNvPr id="320" name="Google Shape;320;p34"/>
          <p:cNvSpPr txBox="1"/>
          <p:nvPr/>
        </p:nvSpPr>
        <p:spPr>
          <a:xfrm>
            <a:off x="2708910" y="246888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base-val</a:t>
            </a:r>
            <a:endParaRPr sz="1100"/>
          </a:p>
        </p:txBody>
      </p:sp>
      <p:sp>
        <p:nvSpPr>
          <p:cNvPr id="321" name="Google Shape;321;p34"/>
          <p:cNvSpPr/>
          <p:nvPr/>
        </p:nvSpPr>
        <p:spPr>
          <a:xfrm>
            <a:off x="2846070" y="2846070"/>
            <a:ext cx="144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2743200" y="30175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subset = val</a:t>
            </a:r>
            <a:endParaRPr sz="11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validation</a:t>
            </a:r>
            <a:endParaRPr sz="1100"/>
          </a:p>
        </p:txBody>
      </p:sp>
      <p:sp>
        <p:nvSpPr>
          <p:cNvPr id="323" name="Google Shape;323;p34"/>
          <p:cNvSpPr/>
          <p:nvPr/>
        </p:nvSpPr>
        <p:spPr>
          <a:xfrm>
            <a:off x="4663440" y="1440180"/>
            <a:ext cx="1988820" cy="267462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4800600" y="1577340"/>
            <a:ext cx="685800" cy="19202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100"/>
          </a:p>
        </p:txBody>
      </p:sp>
      <p:sp>
        <p:nvSpPr>
          <p:cNvPr id="325" name="Google Shape;325;p34"/>
          <p:cNvSpPr txBox="1"/>
          <p:nvPr/>
        </p:nvSpPr>
        <p:spPr>
          <a:xfrm>
            <a:off x="4800600" y="1954530"/>
            <a:ext cx="17145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 sz="1100"/>
          </a:p>
        </p:txBody>
      </p:sp>
      <p:sp>
        <p:nvSpPr>
          <p:cNvPr id="326" name="Google Shape;326;p34"/>
          <p:cNvSpPr txBox="1"/>
          <p:nvPr/>
        </p:nvSpPr>
        <p:spPr>
          <a:xfrm>
            <a:off x="4800600" y="246888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night-val</a:t>
            </a:r>
            <a:endParaRPr sz="1100"/>
          </a:p>
        </p:txBody>
      </p:sp>
      <p:sp>
        <p:nvSpPr>
          <p:cNvPr id="327" name="Google Shape;327;p34"/>
          <p:cNvSpPr/>
          <p:nvPr/>
        </p:nvSpPr>
        <p:spPr>
          <a:xfrm>
            <a:off x="4937760" y="2846070"/>
            <a:ext cx="1440180" cy="9525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4"/>
          <p:cNvSpPr txBox="1"/>
          <p:nvPr/>
        </p:nvSpPr>
        <p:spPr>
          <a:xfrm>
            <a:off x="4834890" y="30175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subset = val</a:t>
            </a:r>
            <a:endParaRPr sz="11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tag = night</a:t>
            </a:r>
            <a:endParaRPr sz="1100"/>
          </a:p>
        </p:txBody>
      </p:sp>
      <p:sp>
        <p:nvSpPr>
          <p:cNvPr id="329" name="Google Shape;329;p34"/>
          <p:cNvSpPr/>
          <p:nvPr/>
        </p:nvSpPr>
        <p:spPr>
          <a:xfrm>
            <a:off x="6755130" y="1440180"/>
            <a:ext cx="1988820" cy="267462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4"/>
          <p:cNvSpPr/>
          <p:nvPr/>
        </p:nvSpPr>
        <p:spPr>
          <a:xfrm>
            <a:off x="6892290" y="1577340"/>
            <a:ext cx="685800" cy="19202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100"/>
          </a:p>
        </p:txBody>
      </p:sp>
      <p:sp>
        <p:nvSpPr>
          <p:cNvPr id="331" name="Google Shape;331;p34"/>
          <p:cNvSpPr txBox="1"/>
          <p:nvPr/>
        </p:nvSpPr>
        <p:spPr>
          <a:xfrm>
            <a:off x="6892290" y="1954530"/>
            <a:ext cx="17145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sz="1100"/>
          </a:p>
        </p:txBody>
      </p:sp>
      <p:sp>
        <p:nvSpPr>
          <p:cNvPr id="332" name="Google Shape;332;p34"/>
          <p:cNvSpPr txBox="1"/>
          <p:nvPr/>
        </p:nvSpPr>
        <p:spPr>
          <a:xfrm>
            <a:off x="6892290" y="246888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night-train</a:t>
            </a:r>
            <a:endParaRPr sz="1100"/>
          </a:p>
        </p:txBody>
      </p:sp>
      <p:sp>
        <p:nvSpPr>
          <p:cNvPr id="333" name="Google Shape;333;p34"/>
          <p:cNvSpPr/>
          <p:nvPr/>
        </p:nvSpPr>
        <p:spPr>
          <a:xfrm>
            <a:off x="7029450" y="2846070"/>
            <a:ext cx="1440180" cy="9525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4"/>
          <p:cNvSpPr txBox="1"/>
          <p:nvPr/>
        </p:nvSpPr>
        <p:spPr>
          <a:xfrm>
            <a:off x="6926580" y="30175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subset = train</a:t>
            </a:r>
            <a:endParaRPr sz="11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tag = night</a:t>
            </a:r>
            <a:endParaRPr sz="1100"/>
          </a:p>
        </p:txBody>
      </p:sp>
      <p:sp>
        <p:nvSpPr>
          <p:cNvPr id="335" name="Google Shape;335;p34"/>
          <p:cNvSpPr/>
          <p:nvPr/>
        </p:nvSpPr>
        <p:spPr>
          <a:xfrm>
            <a:off x="480060" y="4286250"/>
            <a:ext cx="8161020" cy="411480"/>
          </a:xfrm>
          <a:prstGeom prst="roundRect">
            <a:avLst>
              <a:gd fmla="val 8000" name="adj"/>
            </a:avLst>
          </a:prstGeom>
          <a:solidFill>
            <a:srgbClr val="ECFDF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685800" y="4375404"/>
            <a:ext cx="7749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Val stays frozen (150 + 150). Part 2 only adds night-train → fair A-vs-B comparison.</a:t>
            </a:r>
            <a:endParaRPr sz="1100"/>
          </a:p>
        </p:txBody>
      </p:sp>
      <p:sp>
        <p:nvSpPr>
          <p:cNvPr id="337" name="Google Shape;337;p34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Metrics after 1st training run</a:t>
            </a:r>
            <a:endParaRPr sz="1100"/>
          </a:p>
        </p:txBody>
      </p:sp>
      <p:sp>
        <p:nvSpPr>
          <p:cNvPr id="345" name="Google Shape;345;p35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A baseline — switch to the live UI</a:t>
            </a:r>
            <a:endParaRPr sz="1100"/>
          </a:p>
        </p:txBody>
      </p:sp>
      <p:sp>
        <p:nvSpPr>
          <p:cNvPr id="347" name="Google Shape;347;p35"/>
          <p:cNvSpPr/>
          <p:nvPr/>
        </p:nvSpPr>
        <p:spPr>
          <a:xfrm>
            <a:off x="480060" y="1371600"/>
            <a:ext cx="8161020" cy="301752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480060" y="226314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  Open Metrics in Datapipe UI</a:t>
            </a:r>
            <a:endParaRPr sz="1100"/>
          </a:p>
        </p:txBody>
      </p:sp>
      <p:sp>
        <p:nvSpPr>
          <p:cNvPr id="349" name="Google Shape;349;p35"/>
          <p:cNvSpPr txBox="1"/>
          <p:nvPr/>
        </p:nvSpPr>
        <p:spPr>
          <a:xfrm>
            <a:off x="480060" y="2743200"/>
            <a:ext cx="81610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model_metrics + tag_metrics</a:t>
            </a:r>
            <a:b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Focus: night / val is low — the blind spot</a:t>
            </a:r>
            <a:endParaRPr sz="1100"/>
          </a:p>
        </p:txBody>
      </p:sp>
      <p:sp>
        <p:nvSpPr>
          <p:cNvPr id="350" name="Google Shape;350;p35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should we do next?</a:t>
            </a:r>
            <a:endParaRPr sz="1100"/>
          </a:p>
        </p:txBody>
      </p:sp>
      <p:sp>
        <p:nvSpPr>
          <p:cNvPr id="358" name="Google Shape;358;p36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 steps — happening live now</a:t>
            </a:r>
            <a:endParaRPr sz="1100"/>
          </a:p>
        </p:txBody>
      </p:sp>
      <p:sp>
        <p:nvSpPr>
          <p:cNvPr id="360" name="Google Shape;360;p36"/>
          <p:cNvSpPr/>
          <p:nvPr/>
        </p:nvSpPr>
        <p:spPr>
          <a:xfrm>
            <a:off x="514350" y="1611630"/>
            <a:ext cx="1748790" cy="243459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1148715" y="181737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362" name="Google Shape;362;p36"/>
          <p:cNvSpPr txBox="1"/>
          <p:nvPr/>
        </p:nvSpPr>
        <p:spPr>
          <a:xfrm>
            <a:off x="596646" y="2468880"/>
            <a:ext cx="158419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Ask the agent</a:t>
            </a:r>
            <a:endParaRPr sz="1100"/>
          </a:p>
        </p:txBody>
      </p:sp>
      <p:sp>
        <p:nvSpPr>
          <p:cNvPr id="363" name="Google Shape;363;p36"/>
          <p:cNvSpPr txBox="1"/>
          <p:nvPr/>
        </p:nvSpPr>
        <p:spPr>
          <a:xfrm>
            <a:off x="617220" y="2880360"/>
            <a:ext cx="15430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 night-train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(part 2)</a:t>
            </a:r>
            <a:endParaRPr sz="1100"/>
          </a:p>
        </p:txBody>
      </p:sp>
      <p:sp>
        <p:nvSpPr>
          <p:cNvPr id="364" name="Google Shape;364;p36"/>
          <p:cNvSpPr/>
          <p:nvPr/>
        </p:nvSpPr>
        <p:spPr>
          <a:xfrm>
            <a:off x="2355723" y="2753487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2640330" y="1611630"/>
            <a:ext cx="1748790" cy="243459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3274695" y="181737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367" name="Google Shape;367;p36"/>
          <p:cNvSpPr txBox="1"/>
          <p:nvPr/>
        </p:nvSpPr>
        <p:spPr>
          <a:xfrm>
            <a:off x="2722626" y="2468880"/>
            <a:ext cx="158419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Run training</a:t>
            </a:r>
            <a:endParaRPr sz="1100"/>
          </a:p>
        </p:txBody>
      </p:sp>
      <p:sp>
        <p:nvSpPr>
          <p:cNvPr id="368" name="Google Shape;368;p36"/>
          <p:cNvSpPr txBox="1"/>
          <p:nvPr/>
        </p:nvSpPr>
        <p:spPr>
          <a:xfrm>
            <a:off x="2743200" y="2880360"/>
            <a:ext cx="15430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Trigger model B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the UI</a:t>
            </a:r>
            <a:endParaRPr sz="1100"/>
          </a:p>
        </p:txBody>
      </p:sp>
      <p:sp>
        <p:nvSpPr>
          <p:cNvPr id="369" name="Google Shape;369;p36"/>
          <p:cNvSpPr/>
          <p:nvPr/>
        </p:nvSpPr>
        <p:spPr>
          <a:xfrm>
            <a:off x="4481703" y="2753487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4766310" y="1611630"/>
            <a:ext cx="1748790" cy="243459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400675" y="181737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372" name="Google Shape;372;p36"/>
          <p:cNvSpPr txBox="1"/>
          <p:nvPr/>
        </p:nvSpPr>
        <p:spPr>
          <a:xfrm>
            <a:off x="4848606" y="2468880"/>
            <a:ext cx="158419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Check metrics</a:t>
            </a:r>
            <a:endParaRPr sz="1100"/>
          </a:p>
        </p:txBody>
      </p:sp>
      <p:sp>
        <p:nvSpPr>
          <p:cNvPr id="373" name="Google Shape;373;p36"/>
          <p:cNvSpPr txBox="1"/>
          <p:nvPr/>
        </p:nvSpPr>
        <p:spPr>
          <a:xfrm>
            <a:off x="4869180" y="2880360"/>
            <a:ext cx="15430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tag_metrics in UI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night / val ↑</a:t>
            </a:r>
            <a:endParaRPr sz="1100"/>
          </a:p>
        </p:txBody>
      </p:sp>
      <p:sp>
        <p:nvSpPr>
          <p:cNvPr id="374" name="Google Shape;374;p36"/>
          <p:cNvSpPr/>
          <p:nvPr/>
        </p:nvSpPr>
        <p:spPr>
          <a:xfrm>
            <a:off x="6607683" y="2753487"/>
            <a:ext cx="192024" cy="150876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6892290" y="1611630"/>
            <a:ext cx="1748790" cy="243459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7526655" y="181737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377" name="Google Shape;377;p36"/>
          <p:cNvSpPr txBox="1"/>
          <p:nvPr/>
        </p:nvSpPr>
        <p:spPr>
          <a:xfrm>
            <a:off x="6974586" y="2468880"/>
            <a:ext cx="158419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 sz="1100"/>
          </a:p>
        </p:txBody>
      </p:sp>
      <p:sp>
        <p:nvSpPr>
          <p:cNvPr id="378" name="Google Shape;378;p36"/>
          <p:cNvSpPr txBox="1"/>
          <p:nvPr/>
        </p:nvSpPr>
        <p:spPr>
          <a:xfrm>
            <a:off x="6995160" y="2880360"/>
            <a:ext cx="15430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FiftyOne: model B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model A</a:t>
            </a:r>
            <a:endParaRPr sz="1100"/>
          </a:p>
        </p:txBody>
      </p:sp>
      <p:sp>
        <p:nvSpPr>
          <p:cNvPr id="379" name="Google Shape;379;p36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480060" y="240030"/>
            <a:ext cx="81610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 B improves night / val</a:t>
            </a:r>
            <a:endParaRPr sz="1100"/>
          </a:p>
        </p:txBody>
      </p:sp>
      <p:sp>
        <p:nvSpPr>
          <p:cNvPr id="387" name="Google Shape;387;p37"/>
          <p:cNvSpPr/>
          <p:nvPr/>
        </p:nvSpPr>
        <p:spPr>
          <a:xfrm>
            <a:off x="480060" y="72009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480060" y="822960"/>
            <a:ext cx="81610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frozen validation set — fair comparison</a:t>
            </a:r>
            <a:endParaRPr sz="1100"/>
          </a:p>
        </p:txBody>
      </p:sp>
      <p:sp>
        <p:nvSpPr>
          <p:cNvPr id="389" name="Google Shape;389;p37"/>
          <p:cNvSpPr/>
          <p:nvPr/>
        </p:nvSpPr>
        <p:spPr>
          <a:xfrm>
            <a:off x="480060" y="1337310"/>
            <a:ext cx="2880360" cy="308610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685800" y="164592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  →  B</a:t>
            </a:r>
            <a:endParaRPr sz="1100"/>
          </a:p>
        </p:txBody>
      </p:sp>
      <p:sp>
        <p:nvSpPr>
          <p:cNvPr id="391" name="Google Shape;391;p37"/>
          <p:cNvSpPr txBox="1"/>
          <p:nvPr/>
        </p:nvSpPr>
        <p:spPr>
          <a:xfrm>
            <a:off x="685800" y="2331720"/>
            <a:ext cx="2468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night / val metric ↑</a:t>
            </a:r>
            <a:endParaRPr sz="1100"/>
          </a:p>
        </p:txBody>
      </p:sp>
      <p:sp>
        <p:nvSpPr>
          <p:cNvPr id="392" name="Google Shape;392;p37"/>
          <p:cNvSpPr txBox="1"/>
          <p:nvPr/>
        </p:nvSpPr>
        <p:spPr>
          <a:xfrm>
            <a:off x="685800" y="2811779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Measured on the same</a:t>
            </a:r>
            <a:b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150 night-val images</a:t>
            </a:r>
            <a:endParaRPr sz="1100"/>
          </a:p>
        </p:txBody>
      </p:sp>
      <p:sp>
        <p:nvSpPr>
          <p:cNvPr id="393" name="Google Shape;393;p37"/>
          <p:cNvSpPr txBox="1"/>
          <p:nvPr/>
        </p:nvSpPr>
        <p:spPr>
          <a:xfrm>
            <a:off x="685800" y="36347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Fill live numbers from UI</a:t>
            </a:r>
            <a:endParaRPr sz="1100"/>
          </a:p>
        </p:txBody>
      </p:sp>
      <p:sp>
        <p:nvSpPr>
          <p:cNvPr id="394" name="Google Shape;394;p37"/>
          <p:cNvSpPr txBox="1"/>
          <p:nvPr/>
        </p:nvSpPr>
        <p:spPr>
          <a:xfrm>
            <a:off x="3703320" y="133731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Comparison: tag = night  ·  subset = val</a:t>
            </a:r>
            <a:endParaRPr sz="1100"/>
          </a:p>
        </p:txBody>
      </p:sp>
      <p:graphicFrame>
        <p:nvGraphicFramePr>
          <p:cNvPr id="395" name="Google Shape;395;p37"/>
          <p:cNvGraphicFramePr/>
          <p:nvPr/>
        </p:nvGraphicFramePr>
        <p:xfrm>
          <a:off x="3703320" y="1714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{987FCEDC-9BF2-42B4-97C5-0A3A151C46D2}</a:tableStyleId>
              </a:tblPr>
              <a:tblGrid>
                <a:gridCol w="1645900"/>
                <a:gridCol w="1645900"/>
                <a:gridCol w="16459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A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B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2563E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(overall)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live UI —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live UI —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1F5F9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 · night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live UI —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live UI —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396" name="Google Shape;396;p37"/>
          <p:cNvSpPr/>
          <p:nvPr/>
        </p:nvSpPr>
        <p:spPr>
          <a:xfrm>
            <a:off x="3703320" y="3840480"/>
            <a:ext cx="4937760" cy="582930"/>
          </a:xfrm>
          <a:prstGeom prst="roundRect">
            <a:avLst>
              <a:gd fmla="val 8000" name="adj"/>
            </a:avLst>
          </a:prstGeom>
          <a:solidFill>
            <a:srgbClr val="ECFDF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3840480" y="3977640"/>
            <a:ext cx="4663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Then FiftyOne: predictions_model_b catches what model A missed</a:t>
            </a:r>
            <a:endParaRPr sz="1100"/>
          </a:p>
        </p:txBody>
      </p:sp>
      <p:sp>
        <p:nvSpPr>
          <p:cNvPr id="398" name="Google Shape;398;p37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8"/>
          <p:cNvSpPr txBox="1"/>
          <p:nvPr/>
        </p:nvSpPr>
        <p:spPr>
          <a:xfrm>
            <a:off x="480060" y="240030"/>
            <a:ext cx="8161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Why Datapipe</a:t>
            </a:r>
            <a:endParaRPr sz="1100"/>
          </a:p>
        </p:txBody>
      </p:sp>
      <p:sp>
        <p:nvSpPr>
          <p:cNvPr id="406" name="Google Shape;406;p38"/>
          <p:cNvSpPr/>
          <p:nvPr/>
        </p:nvSpPr>
        <p:spPr>
          <a:xfrm>
            <a:off x="480060" y="685800"/>
            <a:ext cx="7543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8"/>
          <p:cNvSpPr txBox="1"/>
          <p:nvPr/>
        </p:nvSpPr>
        <p:spPr>
          <a:xfrm>
            <a:off x="480060" y="788670"/>
            <a:ext cx="81610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Unique value — and what you just saw</a:t>
            </a:r>
            <a:endParaRPr sz="1100"/>
          </a:p>
        </p:txBody>
      </p:sp>
      <p:sp>
        <p:nvSpPr>
          <p:cNvPr id="408" name="Google Shape;408;p38"/>
          <p:cNvSpPr/>
          <p:nvPr/>
        </p:nvSpPr>
        <p:spPr>
          <a:xfrm>
            <a:off x="480060" y="1165860"/>
            <a:ext cx="2640330" cy="174879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8"/>
          <p:cNvSpPr txBox="1"/>
          <p:nvPr/>
        </p:nvSpPr>
        <p:spPr>
          <a:xfrm>
            <a:off x="651510" y="1303020"/>
            <a:ext cx="22974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Incremental by design</a:t>
            </a:r>
            <a:endParaRPr sz="1100"/>
          </a:p>
        </p:txBody>
      </p:sp>
      <p:sp>
        <p:nvSpPr>
          <p:cNvPr id="410" name="Google Shape;410;p38"/>
          <p:cNvSpPr txBox="1"/>
          <p:nvPr/>
        </p:nvSpPr>
        <p:spPr>
          <a:xfrm>
            <a:off x="651510" y="1748790"/>
            <a:ext cx="229743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changed rows recompute.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 a batch, retrain — don’t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rebuild the world.</a:t>
            </a:r>
            <a:endParaRPr sz="1100"/>
          </a:p>
        </p:txBody>
      </p:sp>
      <p:sp>
        <p:nvSpPr>
          <p:cNvPr id="411" name="Google Shape;411;p38"/>
          <p:cNvSpPr/>
          <p:nvPr/>
        </p:nvSpPr>
        <p:spPr>
          <a:xfrm>
            <a:off x="3257550" y="1165860"/>
            <a:ext cx="2640330" cy="174879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8"/>
          <p:cNvSpPr txBox="1"/>
          <p:nvPr/>
        </p:nvSpPr>
        <p:spPr>
          <a:xfrm>
            <a:off x="3429000" y="1303020"/>
            <a:ext cx="22974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Per-scenario metrics (tags)</a:t>
            </a:r>
            <a:endParaRPr sz="1100"/>
          </a:p>
        </p:txBody>
      </p:sp>
      <p:sp>
        <p:nvSpPr>
          <p:cNvPr id="413" name="Google Shape;413;p38"/>
          <p:cNvSpPr txBox="1"/>
          <p:nvPr/>
        </p:nvSpPr>
        <p:spPr>
          <a:xfrm>
            <a:off x="3429000" y="1748790"/>
            <a:ext cx="2297430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Blind spots become numbers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 can move — night/val,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 just overall metric.</a:t>
            </a:r>
            <a:endParaRPr sz="1100"/>
          </a:p>
        </p:txBody>
      </p:sp>
      <p:sp>
        <p:nvSpPr>
          <p:cNvPr id="414" name="Google Shape;414;p38"/>
          <p:cNvSpPr/>
          <p:nvPr/>
        </p:nvSpPr>
        <p:spPr>
          <a:xfrm>
            <a:off x="6035040" y="1165860"/>
            <a:ext cx="2640330" cy="174879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8"/>
          <p:cNvSpPr txBox="1"/>
          <p:nvPr/>
        </p:nvSpPr>
        <p:spPr>
          <a:xfrm>
            <a:off x="6206490" y="1303020"/>
            <a:ext cx="22974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One pipeline, three surfaces</a:t>
            </a:r>
            <a:endParaRPr sz="1100"/>
          </a:p>
        </p:txBody>
      </p:sp>
      <p:sp>
        <p:nvSpPr>
          <p:cNvPr id="416" name="Google Shape;416;p38"/>
          <p:cNvSpPr txBox="1"/>
          <p:nvPr/>
        </p:nvSpPr>
        <p:spPr>
          <a:xfrm>
            <a:off x="6206490" y="1748790"/>
            <a:ext cx="229743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defines it.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Skills operate it.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UI observes and triggers runs.</a:t>
            </a:r>
            <a:endParaRPr sz="1100"/>
          </a:p>
        </p:txBody>
      </p:sp>
      <p:sp>
        <p:nvSpPr>
          <p:cNvPr id="417" name="Google Shape;417;p38"/>
          <p:cNvSpPr txBox="1"/>
          <p:nvPr/>
        </p:nvSpPr>
        <p:spPr>
          <a:xfrm>
            <a:off x="480060" y="3086100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WHAT YOU JUST SAW</a:t>
            </a:r>
            <a:endParaRPr sz="1100"/>
          </a:p>
        </p:txBody>
      </p:sp>
      <p:sp>
        <p:nvSpPr>
          <p:cNvPr id="418" name="Google Shape;418;p38"/>
          <p:cNvSpPr/>
          <p:nvPr/>
        </p:nvSpPr>
        <p:spPr>
          <a:xfrm>
            <a:off x="480060" y="3360420"/>
            <a:ext cx="1405889" cy="92583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562356" y="3483864"/>
            <a:ext cx="246888" cy="24688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420" name="Google Shape;420;p38"/>
          <p:cNvSpPr txBox="1"/>
          <p:nvPr/>
        </p:nvSpPr>
        <p:spPr>
          <a:xfrm>
            <a:off x="857250" y="3483864"/>
            <a:ext cx="9601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Night fails</a:t>
            </a:r>
            <a:endParaRPr sz="1100"/>
          </a:p>
        </p:txBody>
      </p:sp>
      <p:sp>
        <p:nvSpPr>
          <p:cNvPr id="421" name="Google Shape;421;p38"/>
          <p:cNvSpPr txBox="1"/>
          <p:nvPr/>
        </p:nvSpPr>
        <p:spPr>
          <a:xfrm>
            <a:off x="582930" y="3840480"/>
            <a:ext cx="12001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overall looked fine</a:t>
            </a:r>
            <a:endParaRPr sz="1100"/>
          </a:p>
        </p:txBody>
      </p:sp>
      <p:sp>
        <p:nvSpPr>
          <p:cNvPr id="422" name="Google Shape;422;p38"/>
          <p:cNvSpPr/>
          <p:nvPr/>
        </p:nvSpPr>
        <p:spPr>
          <a:xfrm>
            <a:off x="1940813" y="3761613"/>
            <a:ext cx="150876" cy="123444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2146553" y="3360420"/>
            <a:ext cx="1405889" cy="92583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2228849" y="3483864"/>
            <a:ext cx="246888" cy="24688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425" name="Google Shape;425;p38"/>
          <p:cNvSpPr txBox="1"/>
          <p:nvPr/>
        </p:nvSpPr>
        <p:spPr>
          <a:xfrm>
            <a:off x="2523743" y="3483864"/>
            <a:ext cx="9601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Tags expose it</a:t>
            </a:r>
            <a:endParaRPr sz="1100"/>
          </a:p>
        </p:txBody>
      </p:sp>
      <p:sp>
        <p:nvSpPr>
          <p:cNvPr id="426" name="Google Shape;426;p38"/>
          <p:cNvSpPr txBox="1"/>
          <p:nvPr/>
        </p:nvSpPr>
        <p:spPr>
          <a:xfrm>
            <a:off x="2249423" y="3840480"/>
            <a:ext cx="12001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night / val low</a:t>
            </a:r>
            <a:endParaRPr sz="1100"/>
          </a:p>
        </p:txBody>
      </p:sp>
      <p:sp>
        <p:nvSpPr>
          <p:cNvPr id="427" name="Google Shape;427;p38"/>
          <p:cNvSpPr/>
          <p:nvPr/>
        </p:nvSpPr>
        <p:spPr>
          <a:xfrm>
            <a:off x="3607307" y="3761613"/>
            <a:ext cx="150876" cy="123444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3813047" y="3360420"/>
            <a:ext cx="1405889" cy="92583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3895343" y="3483864"/>
            <a:ext cx="246888" cy="24688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430" name="Google Shape;430;p38"/>
          <p:cNvSpPr txBox="1"/>
          <p:nvPr/>
        </p:nvSpPr>
        <p:spPr>
          <a:xfrm>
            <a:off x="4190237" y="3483864"/>
            <a:ext cx="9601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Freeze val</a:t>
            </a:r>
            <a:endParaRPr sz="1100"/>
          </a:p>
        </p:txBody>
      </p:sp>
      <p:sp>
        <p:nvSpPr>
          <p:cNvPr id="431" name="Google Shape;431;p38"/>
          <p:cNvSpPr txBox="1"/>
          <p:nvPr/>
        </p:nvSpPr>
        <p:spPr>
          <a:xfrm>
            <a:off x="3915917" y="3840480"/>
            <a:ext cx="12001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fair A → B</a:t>
            </a:r>
            <a:endParaRPr sz="1100"/>
          </a:p>
        </p:txBody>
      </p:sp>
      <p:sp>
        <p:nvSpPr>
          <p:cNvPr id="432" name="Google Shape;432;p38"/>
          <p:cNvSpPr/>
          <p:nvPr/>
        </p:nvSpPr>
        <p:spPr>
          <a:xfrm>
            <a:off x="5273800" y="3761613"/>
            <a:ext cx="150876" cy="123444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5479540" y="3360420"/>
            <a:ext cx="1405889" cy="92583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5561836" y="3483864"/>
            <a:ext cx="246888" cy="24688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435" name="Google Shape;435;p38"/>
          <p:cNvSpPr txBox="1"/>
          <p:nvPr/>
        </p:nvSpPr>
        <p:spPr>
          <a:xfrm>
            <a:off x="5856730" y="3483864"/>
            <a:ext cx="9601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+ retrain</a:t>
            </a:r>
            <a:endParaRPr sz="1100"/>
          </a:p>
        </p:txBody>
      </p:sp>
      <p:sp>
        <p:nvSpPr>
          <p:cNvPr id="436" name="Google Shape;436;p38"/>
          <p:cNvSpPr txBox="1"/>
          <p:nvPr/>
        </p:nvSpPr>
        <p:spPr>
          <a:xfrm>
            <a:off x="5582410" y="3840480"/>
            <a:ext cx="12001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night-train → model B</a:t>
            </a:r>
            <a:endParaRPr sz="1100"/>
          </a:p>
        </p:txBody>
      </p:sp>
      <p:sp>
        <p:nvSpPr>
          <p:cNvPr id="437" name="Google Shape;437;p38"/>
          <p:cNvSpPr/>
          <p:nvPr/>
        </p:nvSpPr>
        <p:spPr>
          <a:xfrm>
            <a:off x="6940293" y="3761613"/>
            <a:ext cx="150876" cy="123444"/>
          </a:xfrm>
          <a:prstGeom prst="rightArrow">
            <a:avLst>
              <a:gd fmla="val 35000" name="adj1"/>
              <a:gd fmla="val 45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7146033" y="3360420"/>
            <a:ext cx="1405889" cy="92583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7228329" y="3483864"/>
            <a:ext cx="246888" cy="24688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440" name="Google Shape;440;p38"/>
          <p:cNvSpPr txBox="1"/>
          <p:nvPr/>
        </p:nvSpPr>
        <p:spPr>
          <a:xfrm>
            <a:off x="7523223" y="3483864"/>
            <a:ext cx="9601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Prove lift</a:t>
            </a:r>
            <a:endParaRPr sz="1100"/>
          </a:p>
        </p:txBody>
      </p:sp>
      <p:sp>
        <p:nvSpPr>
          <p:cNvPr id="441" name="Google Shape;441;p38"/>
          <p:cNvSpPr txBox="1"/>
          <p:nvPr/>
        </p:nvSpPr>
        <p:spPr>
          <a:xfrm>
            <a:off x="7248903" y="3840480"/>
            <a:ext cx="12001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val, metric ↑</a:t>
            </a:r>
            <a:endParaRPr sz="1100"/>
          </a:p>
        </p:txBody>
      </p:sp>
      <p:sp>
        <p:nvSpPr>
          <p:cNvPr id="442" name="Google Shape;442;p38"/>
          <p:cNvSpPr/>
          <p:nvPr/>
        </p:nvSpPr>
        <p:spPr>
          <a:xfrm>
            <a:off x="480060" y="4423410"/>
            <a:ext cx="8161020" cy="342900"/>
          </a:xfrm>
          <a:prstGeom prst="roundRect">
            <a:avLst>
              <a:gd fmla="val 8000" name="adj"/>
            </a:avLst>
          </a:prstGeom>
          <a:solidFill>
            <a:srgbClr val="ECFDF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 txBox="1"/>
          <p:nvPr/>
        </p:nvSpPr>
        <p:spPr>
          <a:xfrm>
            <a:off x="651510" y="4491990"/>
            <a:ext cx="78181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Real data: same pipeline — drop injected GT, synthetic darkening, demo checkpoint. Keep frozen val + tags.</a:t>
            </a:r>
            <a:endParaRPr sz="1100"/>
          </a:p>
        </p:txBody>
      </p:sp>
      <p:sp>
        <p:nvSpPr>
          <p:cNvPr id="444" name="Google Shape;444;p38"/>
          <p:cNvSpPr txBox="1"/>
          <p:nvPr/>
        </p:nvSpPr>
        <p:spPr>
          <a:xfrm>
            <a:off x="8366760" y="4834890"/>
            <a:ext cx="6172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