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572768"/>
            <a:ext cx="2377440" cy="3810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457200"/>
            <a:ext cx="685800" cy="685800"/>
          </a:xfrm>
          <a:prstGeom prst="ellipse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3840480" cy="105156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5806440"/>
            <a:ext cx="8351215" cy="105156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8-team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720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874519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Ключевые точки</a:t>
            </a:r>
            <a:br/>
            <a:r>
              <a:t>в Datapipe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98A82"/>
                </a:solidFill>
              </a:defRPr>
            </a:pPr>
            <a:r>
              <a:t>От разметки в CVAT до обучения модели</a:t>
            </a:r>
            <a:br/>
            <a:r>
              <a:t>в одном интерфейсе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5720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C9B5"/>
                </a:solidFill>
              </a:defRPr>
            </a:pPr>
            <a:r>
              <a:t>разметка · подготовка · обучение · метрики</a:t>
            </a:r>
          </a:p>
        </p:txBody>
      </p:sp>
      <p:pic>
        <p:nvPicPr>
          <p:cNvPr id="10" name="Picture 9" descr="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097280"/>
            <a:ext cx="6492240" cy="33588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0074" y="4328077"/>
            <a:ext cx="1741932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0074" y="4401229"/>
            <a:ext cx="64008" cy="18288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4666" y="4392085"/>
            <a:ext cx="152247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Разметка в CVAT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167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t>Учебный стенд Korovas · Epoch8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Маршрут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Что происходит с данными на каждом этапе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599867" cy="4023360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91440" cy="402336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21426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6B5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834640"/>
            <a:ext cx="214266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CVAT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611880"/>
            <a:ext cx="214266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7C7"/>
                </a:solidFill>
              </a:defRPr>
            </a:pPr>
            <a:r>
              <a:t>Где лежит размеченный материал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5395" y="1874519"/>
            <a:ext cx="2599867" cy="4023360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5395" y="1874519"/>
            <a:ext cx="91440" cy="402336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1427" y="2194560"/>
            <a:ext cx="21426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0C99A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1427" y="2834640"/>
            <a:ext cx="214266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Аннотация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1427" y="3611880"/>
            <a:ext cx="214266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7C7"/>
                </a:solidFill>
              </a:defRPr>
            </a:pPr>
            <a:r>
              <a:t>Забираем разметку и собираем датасет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874519"/>
            <a:ext cx="2599867" cy="4023360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6431" y="1874519"/>
            <a:ext cx="91440" cy="402336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2194560"/>
            <a:ext cx="21426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24EF2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2834640"/>
            <a:ext cx="214266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Datapipe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611880"/>
            <a:ext cx="214266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7C7"/>
                </a:solidFill>
              </a:defRPr>
            </a:pPr>
            <a:r>
              <a:t>Смотрим данные, запуски и статусы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467" y="1874519"/>
            <a:ext cx="2599867" cy="4023360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467" y="1874519"/>
            <a:ext cx="91440" cy="402336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499" y="2194560"/>
            <a:ext cx="21426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7F24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499" y="2834640"/>
            <a:ext cx="214266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3611880"/>
            <a:ext cx="214266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7C7"/>
                </a:solidFill>
              </a:defRPr>
            </a:pPr>
            <a:r>
              <a:t>Заморозка, train, метрики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CVAT: источник разметки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Проекты с кадрами коров, боксами и ключевыми точками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8404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249424"/>
            <a:ext cx="39776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Проекты с пакетами кадров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27832"/>
            <a:ext cx="38404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236976"/>
            <a:ext cx="39776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Задачи и задания на разметку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215384"/>
            <a:ext cx="38404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224528"/>
            <a:ext cx="39776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На кадре: корова, бокс, точки</a:t>
            </a:r>
          </a:p>
        </p:txBody>
      </p:sp>
      <p:pic>
        <p:nvPicPr>
          <p:cNvPr id="11" name="Picture 10" descr="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6720840" cy="3218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8" y="4873544"/>
            <a:ext cx="1655064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928" y="4946696"/>
            <a:ext cx="64008" cy="18288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937552"/>
            <a:ext cx="143560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Проекты в CVAT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Как выглядит разметка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Бокс коровы и ключевые точки по схеме разметки</a:t>
            </a:r>
          </a:p>
        </p:txBody>
      </p:sp>
      <p:pic>
        <p:nvPicPr>
          <p:cNvPr id="5" name="Picture 4" descr="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7452360" cy="38555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58668" y="5510603"/>
            <a:ext cx="252374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58668" y="5583755"/>
            <a:ext cx="64008" cy="18288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3260" y="5574611"/>
            <a:ext cx="23042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Рабочее место разметчика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783080"/>
            <a:ext cx="333756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783080"/>
            <a:ext cx="91440" cy="43434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01168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На кадре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347472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660904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3161D"/>
                </a:solidFill>
              </a:defRPr>
            </a:pPr>
            <a:r>
              <a:t>Бокс коровы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3291840"/>
            <a:ext cx="347472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300984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3161D"/>
                </a:solidFill>
              </a:defRPr>
            </a:pPr>
            <a:r>
              <a:t>Ключевые точки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931920"/>
            <a:ext cx="347472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941064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3161D"/>
                </a:solidFill>
              </a:defRPr>
            </a:pPr>
            <a:r>
              <a:t>Готово к пайплайну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8463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Холка, маклок,</a:t>
            </a:r>
            <a:br/>
            <a:r>
              <a:t>седловидный бугор</a:t>
            </a:r>
            <a:br/>
            <a:r>
              <a:t>и другие точки схемы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Разметка попадает в пайплайн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Стадия аннотации забирает готовые задания из CVAT</a:t>
            </a:r>
          </a:p>
        </p:txBody>
      </p:sp>
      <p:pic>
        <p:nvPicPr>
          <p:cNvPr id="5" name="Picture 4" descr="02-graph-an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0" y="1783080"/>
            <a:ext cx="7830354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3371" y="5998464"/>
            <a:ext cx="3044952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3371" y="6071616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7963" y="6062472"/>
            <a:ext cx="28254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Запуск аннотации в Datapipe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Откуда берутся картинки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Кадры могут лежать в разных местах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8404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203704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В облачном хранилище (S3 / MinIO)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63824"/>
            <a:ext cx="38404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172968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Прямо в CVAT, как кадры задачи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33088"/>
            <a:ext cx="38404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142232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Локально на диске, если уже скачали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673"/>
                </a:solidFill>
              </a:defRPr>
            </a:pPr>
            <a:r>
              <a:t>Пайплайн сам понимает источник и подтягивает кадры туда, где они нужны.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6812280" cy="42919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-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6720840" cy="42005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77456" y="5855589"/>
            <a:ext cx="2350008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77456" y="5928741"/>
            <a:ext cx="64008" cy="18288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5919597"/>
            <a:ext cx="2130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Картинки в Datapipe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Уже размеченные кадры: боксы и ключевые 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10029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EB7C7"/>
                </a:solidFill>
              </a:defRPr>
            </a:pPr>
            <a:r>
              <a:t>В рабочем контуре разметка уже есть. Пайплайн берёт готовые аннотации как эталон.</a:t>
            </a:r>
          </a:p>
        </p:txBody>
      </p:sp>
      <p:pic>
        <p:nvPicPr>
          <p:cNvPr id="6" name="Picture 5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12580"/>
            <a:ext cx="3533546" cy="26501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43913" y="5334723"/>
            <a:ext cx="1234440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3913" y="5407875"/>
            <a:ext cx="64008" cy="18288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8505" y="5398731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Эталон</a:t>
            </a:r>
          </a:p>
        </p:txBody>
      </p:sp>
      <p:pic>
        <p:nvPicPr>
          <p:cNvPr id="10" name="Picture 9" descr="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74" y="2812580"/>
            <a:ext cx="3533546" cy="26501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78627" y="5334723"/>
            <a:ext cx="1234440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78627" y="5407875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3219" y="5398731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Эталон</a:t>
            </a:r>
          </a:p>
        </p:txBody>
      </p:sp>
      <p:pic>
        <p:nvPicPr>
          <p:cNvPr id="14" name="Picture 13" descr="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788" y="2812580"/>
            <a:ext cx="3533546" cy="265015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213341" y="5334723"/>
            <a:ext cx="1234440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13341" y="5407875"/>
            <a:ext cx="64008" cy="18288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7933" y="5398731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Эталон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Сплит и теги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Как делим данные и помечаем группы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373471" cy="3977639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91440" cy="3977639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4195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Сплит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641951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EB7C7"/>
                </a:solidFill>
              </a:defRPr>
            </a:pPr>
            <a:r>
              <a:t>Делим кадры на обучение, проверку и тест.</a:t>
            </a:r>
            <a:br/>
            <a:br/>
            <a:r>
              <a:t>Модель учится на одном наборе, а качество смотрим на другом.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74519"/>
            <a:ext cx="5373471" cy="3977639"/>
          </a:xfrm>
          <a:prstGeom prst="roundRect">
            <a:avLst/>
          </a:prstGeom>
          <a:solidFill>
            <a:srgbClr val="131A2A"/>
          </a:solidFill>
          <a:ln w="10160">
            <a:solidFill>
              <a:srgbClr val="2D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3863" y="1874519"/>
            <a:ext cx="91440" cy="3977639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5343" y="2240280"/>
            <a:ext cx="464195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Теги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5343" y="2971800"/>
            <a:ext cx="4641951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EB7C7"/>
                </a:solidFill>
              </a:defRPr>
            </a:pPr>
            <a:r>
              <a:t>Помечаем группы кадров, например по проекту или сценарию.</a:t>
            </a:r>
            <a:br/>
            <a:br/>
            <a:r>
              <a:t>Потом можно смотреть метрики отдельно по каждой группе.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Datapipe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Весь путь: данные, запуски, обучение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38404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29514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Обзор пайплайна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19272"/>
            <a:ext cx="38404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328416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История запусков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352544"/>
            <a:ext cx="384048" cy="329184"/>
          </a:xfrm>
          <a:prstGeom prst="round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361688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Статусы и логи на месте</a:t>
            </a:r>
          </a:p>
        </p:txBody>
      </p:sp>
      <p:pic>
        <p:nvPicPr>
          <p:cNvPr id="11" name="Picture 10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6720840" cy="42005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07758" y="5855589"/>
            <a:ext cx="2089404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7758" y="5928741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2350" y="5919597"/>
            <a:ext cx="18699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Обзор в Datapipe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Заморозка датасета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Фиксируем снимок данных перед обучением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38404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295144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Сохраняем состав кадров и разметки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19272"/>
            <a:ext cx="38404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328416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Модель учится на понятной версии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352544"/>
            <a:ext cx="38404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361688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3161D"/>
                </a:solidFill>
              </a:defRPr>
            </a:pPr>
            <a:r>
              <a:t>Можно вернуться к тому же снимку позже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737360"/>
            <a:ext cx="6812280" cy="42919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-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6720840" cy="42005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07758" y="5855589"/>
            <a:ext cx="208940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7758" y="5928741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2350" y="5919597"/>
            <a:ext cx="18699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Замороженные наборы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Запуск обучения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Из Datapipe UI: запрос на train и список запусков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38404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295144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Выбираем замороженный набор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19272"/>
            <a:ext cx="38404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328416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Запускаем обучение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352544"/>
            <a:ext cx="38404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361688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Следим за статусом в запусках</a:t>
            </a:r>
          </a:p>
        </p:txBody>
      </p:sp>
      <p:pic>
        <p:nvPicPr>
          <p:cNvPr id="11" name="Picture 10" descr="03-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6720840" cy="42005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5240" y="5855589"/>
            <a:ext cx="1234440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5928741"/>
            <a:ext cx="64008" cy="18288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5919597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Запуски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Ход обучения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Эпохи и метрики видны прямо в карточке запуска</a:t>
            </a:r>
          </a:p>
        </p:txBody>
      </p:sp>
      <p:pic>
        <p:nvPicPr>
          <p:cNvPr id="5" name="Picture 4" descr="04-run-train-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0" y="1783080"/>
            <a:ext cx="7830354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16805" y="5998464"/>
            <a:ext cx="2958084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16805" y="6071616"/>
            <a:ext cx="64008" cy="18288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1397" y="6062472"/>
            <a:ext cx="273862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Запуск обучения в Datapipe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Что видит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Примеры батчей и контроль разметки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2287"/>
            <a:ext cx="3624986" cy="36249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tch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88007"/>
            <a:ext cx="3533546" cy="3533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43913" y="5593537"/>
            <a:ext cx="123444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3913" y="5666689"/>
            <a:ext cx="64008" cy="18288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8505" y="5657545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Батч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3354" y="2142287"/>
            <a:ext cx="3624986" cy="36249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tch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74" y="2188007"/>
            <a:ext cx="3533546" cy="35335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78627" y="5593537"/>
            <a:ext cx="123444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78627" y="5666689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3219" y="5657545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Батч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8068" y="2142287"/>
            <a:ext cx="3624986" cy="36249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be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788" y="2188007"/>
            <a:ext cx="3533546" cy="35335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213341" y="5593537"/>
            <a:ext cx="123444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13341" y="5666689"/>
            <a:ext cx="64008" cy="18288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7933" y="5657545"/>
            <a:ext cx="10149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Разметка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Метрики после обучения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Качество модели в одной таблице</a:t>
            </a:r>
          </a:p>
        </p:txBody>
      </p:sp>
      <p:pic>
        <p:nvPicPr>
          <p:cNvPr id="5" name="Picture 4" descr="08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871" y="1783080"/>
            <a:ext cx="7913953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64277" y="5998464"/>
            <a:ext cx="2263140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64277" y="6071616"/>
            <a:ext cx="64008" cy="18288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8869" y="6062472"/>
            <a:ext cx="20436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Метрики в Datapipe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874519"/>
            <a:ext cx="2194560" cy="3810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48840"/>
            <a:ext cx="110029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Разметка → данные →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46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98A82"/>
                </a:solidFill>
              </a:defRPr>
            </a:pPr>
            <a:r>
              <a:t>CVAT хранит разметку. Datapipe UI ведёт подготовку и обучение</a:t>
            </a:r>
            <a:br/>
            <a:r>
              <a:t>с понятной историей запусков и метрик.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709160"/>
            <a:ext cx="2054291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CVAT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1531" y="4709160"/>
            <a:ext cx="2054291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аннотация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8702" y="4709160"/>
            <a:ext cx="2054291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заморозка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5873" y="4709160"/>
            <a:ext cx="2054291" cy="329184"/>
          </a:xfrm>
          <a:prstGeom prst="round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обучение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3044" y="4709160"/>
            <a:ext cx="2054291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метрики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Datapipe UI · ключевые точки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