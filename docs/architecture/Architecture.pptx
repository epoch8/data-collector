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0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806440"/>
            <a:ext cx="3840480" cy="1051560"/>
          </a:xfrm>
          <a:prstGeom prst="rect">
            <a:avLst/>
          </a:prstGeom>
          <a:solidFill>
            <a:srgbClr val="3D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0" y="5806440"/>
            <a:ext cx="8351215" cy="1051560"/>
          </a:xfrm>
          <a:prstGeom prst="rect">
            <a:avLst/>
          </a:prstGeom>
          <a:solidFill>
            <a:srgbClr val="E8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8-team-log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1480"/>
            <a:ext cx="914400" cy="914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508760"/>
            <a:ext cx="2194560" cy="38100"/>
          </a:xfrm>
          <a:prstGeom prst="rect">
            <a:avLst/>
          </a:prstGeom>
          <a:solidFill>
            <a:srgbClr val="E8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6400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Архитектура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918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98A82"/>
                </a:solidFill>
              </a:defRPr>
            </a:pPr>
            <a:r>
              <a:t>Data Collector · стек · поток данных · пайплайны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0"/>
            <a:ext cx="1737360" cy="64008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Flutter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4434840"/>
            <a:ext cx="228600" cy="0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60320" y="4114800"/>
            <a:ext cx="1737360" cy="64008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Django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0" y="4434840"/>
            <a:ext cx="228600" cy="0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26280" y="4114800"/>
            <a:ext cx="1737360" cy="64008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Хранилище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4434840"/>
            <a:ext cx="228600" cy="0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92240" y="4114800"/>
            <a:ext cx="1737360" cy="64008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Datapipe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0" y="4434840"/>
            <a:ext cx="22860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58200" y="4114800"/>
            <a:ext cx="1737360" cy="64008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Визуализация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схемы по specs/ и datapipe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</a:defRPr>
            </a:pPr>
            <a:r>
              <a:t>Epoch8 ·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3796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</a:defRPr>
            </a:pPr>
            <a:r>
              <a:t>01/11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EAED"/>
                </a:solidFill>
              </a:defRPr>
            </a:pPr>
            <a:r>
              <a:t>Стек: 1 платформа · N проектов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11338560" cy="292608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64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B8DEF"/>
                </a:solidFill>
              </a:defRPr>
            </a:pPr>
            <a:r>
              <a:t>ПЛАТФОРМА  —  data-collector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</a:defRPr>
            </a:pPr>
            <a:r>
              <a:t>КЛИЕНТЫ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554480" cy="960120"/>
          </a:xfrm>
          <a:prstGeom prst="roundRect">
            <a:avLst/>
          </a:prstGeom>
          <a:solidFill>
            <a:srgbClr val="2A2438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Flutter</a:t>
            </a:r>
          </a:p>
          <a:p>
            <a:pPr algn="ctr">
              <a:spcBef>
                <a:spcPts val="300"/>
              </a:spcBef>
              <a:defRPr sz="900">
                <a:solidFill>
                  <a:srgbClr val="9CA3AF"/>
                </a:solidFill>
              </a:defRPr>
            </a:pPr>
            <a:r>
              <a:t>мобилка</a:t>
            </a:r>
            <a:br/>
            <a:r>
              <a:t>API /v1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600200"/>
            <a:ext cx="1554480" cy="960120"/>
          </a:xfrm>
          <a:prstGeom prst="roundRect">
            <a:avLst/>
          </a:prstGeom>
          <a:solidFill>
            <a:srgbClr val="3D3420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Staff</a:t>
            </a:r>
          </a:p>
          <a:p>
            <a:pPr algn="ctr">
              <a:spcBef>
                <a:spcPts val="300"/>
              </a:spcBef>
              <a:defRPr sz="900">
                <a:solidFill>
                  <a:srgbClr val="9CA3AF"/>
                </a:solidFill>
              </a:defRPr>
            </a:pPr>
            <a:r>
              <a:t>админ</a:t>
            </a:r>
            <a:br/>
            <a:r>
              <a:t>проекты, юзеры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3246120" cy="868680"/>
          </a:xfrm>
          <a:prstGeom prst="roundRect">
            <a:avLst/>
          </a:prstGeom>
          <a:solidFill>
            <a:srgbClr val="1A2E2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Client-admin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пакеты и визуализация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32588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</a:defRPr>
            </a:pPr>
            <a:r>
              <a:t>СЕРВЕР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00200"/>
            <a:ext cx="3657600" cy="19659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django_server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мобильный API  /v1</a:t>
            </a:r>
            <a:br/>
            <a:r>
              <a:t>админка  /ui</a:t>
            </a:r>
            <a:br/>
            <a:r>
              <a:t>конфиг, медиа, плагины viz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00200"/>
            <a:ext cx="3200400" cy="868680"/>
          </a:xfrm>
          <a:prstGeom prst="roundRect">
            <a:avLst/>
          </a:prstGeom>
          <a:solidFill>
            <a:srgbClr val="3D3020"/>
          </a:solidFill>
          <a:ln w="19050">
            <a:solidFill>
              <a:srgbClr val="F9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Firebase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вход и токен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651760"/>
            <a:ext cx="3200400" cy="914400"/>
          </a:xfrm>
          <a:prstGeom prst="roundRect">
            <a:avLst/>
          </a:prstGeom>
          <a:solidFill>
            <a:srgbClr val="1A3329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Каталог Django</a:t>
            </a:r>
          </a:p>
          <a:p>
            <a:pPr algn="ctr">
              <a:spcBef>
                <a:spcPts val="300"/>
              </a:spcBef>
              <a:defRPr sz="900">
                <a:solidFill>
                  <a:srgbClr val="9CA3AF"/>
                </a:solidFill>
              </a:defRPr>
            </a:pPr>
            <a:r>
              <a:t>проекты, юзеры, ключи Git</a:t>
            </a:r>
            <a:br/>
            <a:r>
              <a:t>пакетов здесь нет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114800"/>
            <a:ext cx="11338560" cy="214884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064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</a:defRPr>
            </a:pPr>
            <a:r>
              <a:t>ПРОЕКТ  —  ×N  (у каждого своё)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572000"/>
            <a:ext cx="2057400" cy="13716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Git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сценарий сбора</a:t>
            </a:r>
            <a:br/>
            <a:r>
              <a:t>config · viz ·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4572000"/>
            <a:ext cx="2057400" cy="13716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Кэш Git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копия репо</a:t>
            </a:r>
            <a:br/>
            <a:r>
              <a:t>на сервере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4572000"/>
            <a:ext cx="2057400" cy="13716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БД проекта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PostgreSQL</a:t>
            </a:r>
            <a:br/>
            <a:r>
              <a:t>пакеты и keypoints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4572000"/>
            <a:ext cx="2057400" cy="13716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Файлы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S3 / GCS</a:t>
            </a:r>
            <a:br/>
            <a:r>
              <a:t>фото пакетов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4572000"/>
            <a:ext cx="2057400" cy="13716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… проект N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свой Git · БД · бакет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</a:defRPr>
            </a:pPr>
            <a:r>
              <a:t>Epoch8 ·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</a:defRPr>
            </a:pPr>
            <a:r>
              <a:t>02/11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EAED"/>
                </a:solidFill>
              </a:defRPr>
            </a:pPr>
            <a:r>
              <a:t>Как устроено изнутри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3200400" cy="502920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B7ED0"/>
                </a:solidFill>
              </a:defRPr>
            </a:pPr>
            <a:r>
              <a:t>МОБИЛКА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743200" cy="71323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Состояние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Riverpod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2743200" cy="71323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Локальная БД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Drift · пакеты на устройстве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08960"/>
            <a:ext cx="2743200" cy="71323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Сеть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Dio + токен Firebase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31920"/>
            <a:ext cx="2743200" cy="71323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Сборка пакета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манифест + фото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754880"/>
            <a:ext cx="2743200" cy="71323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Отправка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вкладка «Сервер»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01752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5B8DEF"/>
                </a:solidFill>
              </a:defRPr>
            </a:pPr>
            <a:r>
              <a:t>HTTPS</a:t>
            </a:r>
            <a:br/>
            <a:r>
              <a:t>/v1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0" y="3246120"/>
            <a:ext cx="1417320" cy="0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12080" y="1051560"/>
            <a:ext cx="6492240" cy="502920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32120" y="1152144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B8DEF"/>
                </a:solidFill>
              </a:defRPr>
            </a:pPr>
            <a:r>
              <a:rPr dirty="0"/>
              <a:t>СЕРВЕР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508760"/>
            <a:ext cx="5943600" cy="960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API и админка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приём пакетов · просмотр · viz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743200"/>
            <a:ext cx="2834640" cy="12344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Каталог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проекты и права</a:t>
            </a:r>
            <a:br/>
            <a:r>
              <a:t>(Postgres / SQLite)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743200"/>
            <a:ext cx="2834640" cy="12344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БД проекта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PostgreSQL</a:t>
            </a:r>
            <a:br/>
            <a:r>
              <a:t>сессии · keypoints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4160520"/>
            <a:ext cx="2834640" cy="12344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Объектное</a:t>
            </a:r>
            <a:br/>
            <a:r>
              <a:t>хранилище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фото в S3 / GCS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160520"/>
            <a:ext cx="2834640" cy="12344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Git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конфиг сценария</a:t>
            </a:r>
            <a:br/>
            <a:r>
              <a:t>и viz.json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</a:defRPr>
            </a:pPr>
            <a:r>
              <a:t>Epoch8 ·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</a:defRPr>
            </a:pPr>
            <a:r>
              <a:t>03/11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EAED"/>
                </a:solidFill>
              </a:defRPr>
            </a:pPr>
            <a:r>
              <a:t>От сценария до пакета на сервере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зачем каждый шаг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2697480" cy="31089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1.  Сценарий в Git</a:t>
            </a:r>
          </a:p>
          <a:p>
            <a:pPr algn="ctr"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что снимать:</a:t>
            </a:r>
            <a:br/>
            <a:r>
              <a:t>поля и шаги формы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2423160" cy="5943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Staff пишет</a:t>
            </a:r>
            <a:br/>
            <a:r>
              <a:t>config.json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2834640"/>
            <a:ext cx="228600" cy="0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83280" y="1280160"/>
            <a:ext cx="2697480" cy="31089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2.  Мобилка</a:t>
            </a:r>
            <a:br/>
            <a:r>
              <a:t>получает конфиг</a:t>
            </a:r>
          </a:p>
          <a:p>
            <a:pPr algn="ctr"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тот же сценарий</a:t>
            </a:r>
            <a:br/>
            <a:r>
              <a:t>на устройстве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4572000"/>
            <a:ext cx="2423160" cy="5943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GET /v1/…/config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834640"/>
            <a:ext cx="228600" cy="0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5080" y="1280160"/>
            <a:ext cx="2697480" cy="31089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3.  Оператор</a:t>
            </a:r>
            <a:br/>
            <a:r>
              <a:t>снимает пакет</a:t>
            </a:r>
          </a:p>
          <a:p>
            <a:pPr algn="ctr"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поля + фото</a:t>
            </a:r>
            <a:br/>
            <a:r>
              <a:t>локально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572000"/>
            <a:ext cx="2423160" cy="5943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submit → пакет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52560" y="2834640"/>
            <a:ext cx="228600" cy="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26880" y="1280160"/>
            <a:ext cx="2697480" cy="31089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4.  Загрузка</a:t>
            </a:r>
            <a:br/>
            <a:r>
              <a:t>на сервер</a:t>
            </a:r>
          </a:p>
          <a:p>
            <a:pPr algn="ctr"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пакет в БД</a:t>
            </a:r>
            <a:br/>
            <a:r>
              <a:t>проекта + S3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4572000"/>
            <a:ext cx="2423160" cy="5943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upload → commit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394960"/>
            <a:ext cx="11338560" cy="777240"/>
          </a:xfrm>
          <a:prstGeom prst="roundRect">
            <a:avLst/>
          </a:prstGeom>
          <a:solidFill>
            <a:srgbClr val="0F1419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Один сценарий в Git  →  тот же сценарий в мобилке  →  пакет той же формы в БД проекта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</a:defRPr>
            </a:pPr>
            <a:r>
              <a:t>Epoch8 ·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</a:defRPr>
            </a:pPr>
            <a:r>
              <a:t>04/11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EAED"/>
                </a:solidFill>
              </a:defRPr>
            </a:pPr>
            <a:r>
              <a:t>Протокол загрузки пакета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2468880" cy="2103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1</a:t>
            </a:r>
            <a:br/>
            <a:r>
              <a:t>Сессия</a:t>
            </a:r>
          </a:p>
          <a:p>
            <a:pPr algn="ctr"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открываем приём</a:t>
            </a:r>
            <a:br/>
            <a:r>
              <a:t>пакета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971800" y="2286000"/>
            <a:ext cx="274320" cy="0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383280" y="1234440"/>
            <a:ext cx="2468880" cy="2103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2</a:t>
            </a:r>
            <a:br/>
            <a:r>
              <a:t>Файлы</a:t>
            </a:r>
          </a:p>
          <a:p>
            <a:pPr algn="ctr"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каждое фото</a:t>
            </a:r>
            <a:br/>
            <a:r>
              <a:t>отдельным запросом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0" y="2286000"/>
            <a:ext cx="27432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63640" y="1234440"/>
            <a:ext cx="2468880" cy="2103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3</a:t>
            </a:r>
            <a:br/>
            <a:r>
              <a:t>Манифест</a:t>
            </a:r>
          </a:p>
          <a:p>
            <a:pPr algn="ctr"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JSON с полями</a:t>
            </a:r>
            <a:br/>
            <a:r>
              <a:t>и ссылками на фото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32520" y="2286000"/>
            <a:ext cx="274320" cy="0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0" y="1234440"/>
            <a:ext cx="2468880" cy="2103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4</a:t>
            </a:r>
            <a:br/>
            <a:r>
              <a:t>Commit</a:t>
            </a:r>
          </a:p>
          <a:p>
            <a:pPr algn="ctr"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пакет принят</a:t>
            </a:r>
            <a:br/>
            <a:r>
              <a:t>→ можно в datapipe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Фаза на сервере (таблица сессий)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86200"/>
            <a:ext cx="2697480" cy="6858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ждём файлы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886200"/>
            <a:ext cx="2697480" cy="6858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готово к commit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886200"/>
            <a:ext cx="2697480" cy="6858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принят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886200"/>
            <a:ext cx="2697480" cy="6858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ошибка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Статус на телефоне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20640"/>
            <a:ext cx="2560320" cy="329184"/>
          </a:xfrm>
          <a:prstGeom prst="round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90D16"/>
                </a:solidFill>
              </a:defRPr>
            </a:pPr>
            <a:r>
              <a:t>в очереди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5120640"/>
            <a:ext cx="2560320" cy="329184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отправляется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120640"/>
            <a:ext cx="2560320" cy="329184"/>
          </a:xfrm>
          <a:prstGeom prst="round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на сервере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5120640"/>
            <a:ext cx="2560320" cy="329184"/>
          </a:xfrm>
          <a:prstGeom prst="round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сбой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</a:defRPr>
            </a:pPr>
            <a:r>
              <a:t>Epoch8 ·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</a:defRPr>
            </a:pPr>
            <a:r>
              <a:t>05/11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EAED"/>
                </a:solidFill>
              </a:defRPr>
            </a:pPr>
            <a:r>
              <a:t>Где что лежит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четыре разных места — четыре разных смысла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11338560" cy="118872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44752"/>
            <a:ext cx="502920" cy="502920"/>
          </a:xfrm>
          <a:prstGeom prst="ellipse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801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8EAED"/>
                </a:solidFill>
              </a:defRPr>
            </a:pPr>
            <a:r>
              <a:t>Каталог платформы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916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DCC85"/>
                </a:solidFill>
              </a:defRPr>
            </a:pPr>
            <a:r>
              <a:t>Postgres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Список проектов, пользователи,</a:t>
            </a:r>
            <a:br/>
            <a:r>
              <a:t>права, ключи 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1389888"/>
            <a:ext cx="2103120" cy="6400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пакетов нет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377440"/>
            <a:ext cx="11338560" cy="118872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94360" y="2724912"/>
            <a:ext cx="502920" cy="502920"/>
          </a:xfrm>
          <a:prstGeom prst="ellipse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81635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5603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8EAED"/>
                </a:solidFill>
              </a:defRPr>
            </a:pPr>
            <a:r>
              <a:t>БД проекта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9718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B7ED0"/>
                </a:solidFill>
              </a:defRPr>
            </a:pPr>
            <a: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5176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Сессии загрузки, учёт файлов,</a:t>
            </a:r>
            <a:br/>
            <a:r>
              <a:t>keypoints, инференс, ссылки CVAT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2670048"/>
            <a:ext cx="2103120" cy="6400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данные пакетов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57600"/>
            <a:ext cx="11338560" cy="118872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4360" y="4005072"/>
            <a:ext cx="502920" cy="50292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0965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8404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8EAED"/>
                </a:solidFill>
              </a:defRPr>
            </a:pPr>
            <a:r>
              <a:t>Файлы пакетов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2519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4A84B"/>
                </a:solidFill>
              </a:defRPr>
            </a:pPr>
            <a:r>
              <a:t>S3 / GCS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9319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Сами фото: packages/…/blobs/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3950208"/>
            <a:ext cx="2103120" cy="6400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байты картинок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937760"/>
            <a:ext cx="11338560" cy="118872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94360" y="5285232"/>
            <a:ext cx="502920" cy="50292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53766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1206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8EAED"/>
                </a:solidFill>
              </a:defRPr>
            </a:pPr>
            <a:r>
              <a:t>Конфиг проекта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532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8DEF"/>
                </a:solidFill>
              </a:defRPr>
            </a:pPr>
            <a:r>
              <a:t>Git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21208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Сценарий сбора, viz.json,</a:t>
            </a:r>
            <a:br/>
            <a:r>
              <a:t>pipeline.json, инструкции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5230368"/>
            <a:ext cx="2103120" cy="6400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что и как снимать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3796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</a:defRPr>
            </a:pPr>
            <a:r>
              <a:t>Epoch8 ·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3796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</a:defRPr>
            </a:pPr>
            <a:r>
              <a:t>06/11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EAED"/>
                </a:solidFill>
              </a:defRPr>
            </a:pPr>
            <a:r>
              <a:t>БД проекта: что в таблицах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PostgreSQL · SQLAlchemy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5577840" cy="502920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24712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B8DEF"/>
                </a:solidFill>
              </a:defRPr>
            </a:pPr>
            <a:r>
              <a:t>ПРИЁМ ПАКЕТОВ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120640" cy="123444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defRPr sz="1500" b="1">
                <a:solidFill>
                  <a:srgbClr val="E8EAED"/>
                </a:solidFill>
              </a:defRPr>
            </a:pPr>
            <a:r>
              <a:t>package_session</a:t>
            </a:r>
          </a:p>
          <a:p>
            <a:pPr algn="l"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сессия загрузки</a:t>
            </a:r>
            <a:br/>
            <a:r>
              <a:t>фаза: ждём файлы → принят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5120640" cy="123444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defRPr sz="1500" b="1">
                <a:solidFill>
                  <a:srgbClr val="E8EAED"/>
                </a:solidFill>
              </a:defRPr>
            </a:pPr>
            <a:r>
              <a:t>uploaded_blob</a:t>
            </a:r>
          </a:p>
          <a:p>
            <a:pPr algn="l"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учёт каждого фото</a:t>
            </a:r>
            <a:br/>
            <a:r>
              <a:t>путь в S3 / GCS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5120640" cy="123444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defRPr sz="1500" b="1">
                <a:solidFill>
                  <a:srgbClr val="E8EAED"/>
                </a:solidFill>
              </a:defRPr>
            </a:pPr>
            <a:r>
              <a:t>package_field_change</a:t>
            </a:r>
          </a:p>
          <a:p>
            <a:pPr algn="l"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история правок</a:t>
            </a:r>
            <a:br/>
            <a:r>
              <a:t>манифеста в админке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532120" cy="502920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124712"/>
            <a:ext cx="5257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DCC85"/>
                </a:solidFill>
              </a:defRPr>
            </a:pPr>
            <a:r>
              <a:t>PIPELINE / КОРОВЫ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554480"/>
            <a:ext cx="5074920" cy="10058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defRPr sz="1300" b="1">
                <a:solidFill>
                  <a:srgbClr val="E8EAED"/>
                </a:solidFill>
              </a:defRPr>
            </a:pPr>
            <a:r>
              <a:t>cow_keypoint_annotation</a:t>
            </a:r>
          </a:p>
          <a:p>
            <a:pPr algn="l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разметка keypoints (GT)</a:t>
            </a:r>
            <a:br/>
            <a:r>
              <a:t>из CVAT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651760"/>
            <a:ext cx="5074920" cy="10058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defRPr sz="1300" b="1">
                <a:solidFill>
                  <a:srgbClr val="E8EAED"/>
                </a:solidFill>
              </a:defRPr>
            </a:pPr>
            <a:r>
              <a:t>cow_inference_result</a:t>
            </a:r>
          </a:p>
          <a:p>
            <a:pPr algn="l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результат модели</a:t>
            </a:r>
            <a:br/>
            <a:r>
              <a:t>на фото пакета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749040"/>
            <a:ext cx="5074920" cy="10058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defRPr sz="1300" b="1">
                <a:solidFill>
                  <a:srgbClr val="E8EAED"/>
                </a:solidFill>
              </a:defRPr>
            </a:pPr>
            <a:r>
              <a:t>cvat_link</a:t>
            </a:r>
          </a:p>
          <a:p>
            <a:pPr algn="l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ссылка на задачу</a:t>
            </a:r>
            <a:br/>
            <a:r>
              <a:t>разметки в CVAT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4846320"/>
            <a:ext cx="5074920" cy="10058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defRPr sz="1300" b="1">
                <a:solidFill>
                  <a:srgbClr val="E8EAED"/>
                </a:solidFill>
              </a:defRPr>
            </a:pPr>
            <a:r>
              <a:t>depth_map</a:t>
            </a:r>
          </a:p>
          <a:p>
            <a:pPr algn="l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карта глубины</a:t>
            </a:r>
            <a:br/>
            <a:r>
              <a:t>(если есть)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</a:defRPr>
            </a:pPr>
            <a:r>
              <a:t>Epoch8 ·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3796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</a:defRPr>
            </a:pPr>
            <a:r>
              <a:t>07/11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EAED"/>
                </a:solidFill>
              </a:defRPr>
            </a:pPr>
            <a:r>
              <a:t>Кто куда заходит и что видит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97280"/>
            <a:ext cx="3703320" cy="493776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AED"/>
                </a:solidFill>
              </a:defRPr>
            </a:pPr>
            <a:r>
              <a:t>Суперадмин (Staff)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337560" cy="6400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Вход: логин Django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52928"/>
            <a:ext cx="109728" cy="109728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все проекты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93008"/>
            <a:ext cx="109728" cy="109728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юзеры и права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33088"/>
            <a:ext cx="109728" cy="109728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Git и хранилище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73168"/>
            <a:ext cx="109728" cy="109728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настройка платформы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097280"/>
            <a:ext cx="3703320" cy="493776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1280160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AED"/>
                </a:solidFill>
              </a:defRPr>
            </a:pPr>
            <a:r>
              <a:t>Админ проекта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874519"/>
            <a:ext cx="3337560" cy="6400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Вход: Firebase → /ui/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852928"/>
            <a:ext cx="109728" cy="109728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27432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только свои проекты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493008"/>
            <a:ext cx="109728" cy="109728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33832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список пакетов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4133088"/>
            <a:ext cx="109728" cy="109728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40233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визуализация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4773168"/>
            <a:ext cx="109728" cy="109728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466344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правки данных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1097280"/>
            <a:ext cx="3703320" cy="493776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1280160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AED"/>
                </a:solidFill>
              </a:defRPr>
            </a:pPr>
            <a:r>
              <a:t>Сборщик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1874519"/>
            <a:ext cx="3337560" cy="6400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Вход: Firebase → мобилка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2852928"/>
            <a:ext cx="109728" cy="109728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78240" y="27432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только выданные проекты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3493008"/>
            <a:ext cx="109728" cy="109728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40" y="33832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съёмка по сценарию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4133088"/>
            <a:ext cx="109728" cy="109728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0" y="40233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загрузка пакетов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4773168"/>
            <a:ext cx="109728" cy="109728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78240" y="466344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без чужих данных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3796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</a:defRPr>
            </a:pPr>
            <a:r>
              <a:t>Epoch8 ·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3796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</a:defRPr>
            </a:pPr>
            <a:r>
              <a:t>08/11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EAED"/>
                </a:solidFill>
              </a:defRPr>
            </a:pPr>
            <a:r>
              <a:t>Datapipe: keypoints коров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пакеты → CVAT → обучение → prod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77724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Два входа:  новые пакеты из БД проекта  ·  разметка из всех проектов CVAT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57400"/>
            <a:ext cx="2194560" cy="26517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0  Пакеты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из БД проекта:</a:t>
            </a:r>
            <a:br/>
            <a:r>
              <a:t>фото → Gradio →</a:t>
            </a:r>
            <a:br/>
            <a:r>
              <a:t>CVAT → обратно в БД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3383280"/>
            <a:ext cx="137160" cy="0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97480" y="2057400"/>
            <a:ext cx="2194560" cy="26517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1  Аннотация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все проекты CVAT:</a:t>
            </a:r>
            <a:br/>
            <a:r>
              <a:t>разметка → bbox →</a:t>
            </a:r>
            <a:br/>
            <a:r>
              <a:t>dataset train/val/test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92040" y="3383280"/>
            <a:ext cx="137160" cy="0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0" y="2057400"/>
            <a:ext cx="2194560" cy="26517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2  Обучение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заморозка датасета</a:t>
            </a:r>
            <a:br/>
            <a:r>
              <a:t>train keypoints</a:t>
            </a:r>
            <a:br/>
            <a:r>
              <a:t>выбор лучшей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60" y="3383280"/>
            <a:ext cx="137160" cy="0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2057400"/>
            <a:ext cx="2194560" cy="26517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3  FiftyOne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публикация GT</a:t>
            </a:r>
            <a:br/>
            <a:r>
              <a:t>и предсказаний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55480" y="3383280"/>
            <a:ext cx="137160" cy="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92640" y="2057400"/>
            <a:ext cx="2194560" cy="265176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4  Prod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боевая модель</a:t>
            </a:r>
            <a:br/>
            <a:r>
              <a:t>инференс → БД</a:t>
            </a:r>
            <a:br/>
            <a:r>
              <a:t>слой в админке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983480"/>
            <a:ext cx="557784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На каждый пакет</a:t>
            </a:r>
          </a:p>
          <a:p>
            <a:pPr algn="ctr"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стадия 0 · после commit / webhook CVAT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983480"/>
            <a:ext cx="557784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Цикл модели</a:t>
            </a:r>
          </a:p>
          <a:p>
            <a:pPr algn="ctr"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стадии 1 → 2 → 3 → 4 · ML-инженер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</a:defRPr>
            </a:pPr>
            <a:r>
              <a:t>Epoch8 ·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</a:defRPr>
            </a:pPr>
            <a:r>
              <a:t>09/11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EAED"/>
                </a:solidFill>
              </a:defRPr>
            </a:pPr>
            <a:r>
              <a:t>Стадия 0: пакет → CVAT → БД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что происходит с каждым completed-пакетом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148840" cy="237744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1</a:t>
            </a:r>
            <a:br/>
            <a:r>
              <a:t>Читаем пакеты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package_session</a:t>
            </a:r>
            <a:br/>
            <a:r>
              <a:t>uploaded_blob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14600" y="2468880"/>
            <a:ext cx="182880" cy="0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97480" y="1280160"/>
            <a:ext cx="2148840" cy="237744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2</a:t>
            </a:r>
            <a:br/>
            <a:r>
              <a:t>Качаем фото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из S3</a:t>
            </a:r>
            <a:br/>
            <a:r>
              <a:t>upload-packages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2468880"/>
            <a:ext cx="18288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0" y="1280160"/>
            <a:ext cx="2148840" cy="237744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3</a:t>
            </a:r>
            <a:br/>
            <a:r>
              <a:t>Инференс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Gradio →</a:t>
            </a:r>
            <a:br/>
            <a:r>
              <a:t>cow_inference_result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78040" y="2468880"/>
            <a:ext cx="182880" cy="0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60920" y="1280160"/>
            <a:ext cx="2148840" cy="237744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4</a:t>
            </a:r>
            <a:br/>
            <a:r>
              <a:t>CVAT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создаём задачу</a:t>
            </a:r>
            <a:br/>
            <a:r>
              <a:t>разметки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09760" y="2468880"/>
            <a:ext cx="182880" cy="0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92640" y="1280160"/>
            <a:ext cx="2148840" cy="237744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400" b="1">
                <a:solidFill>
                  <a:srgbClr val="E8EAED"/>
                </a:solidFill>
              </a:defRPr>
            </a:pPr>
            <a:r>
              <a:t>5</a:t>
            </a:r>
            <a:br/>
            <a:r>
              <a:t>Пишем назад</a:t>
            </a:r>
          </a:p>
          <a:p>
            <a:pPr algn="ctr"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cvat_link +</a:t>
            </a:r>
            <a:br/>
            <a:r>
              <a:t>keypoints GT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931920"/>
            <a:ext cx="5577840" cy="20116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defRPr sz="1500" b="1">
                <a:solidFill>
                  <a:srgbClr val="E8EAED"/>
                </a:solidFill>
              </a:defRPr>
            </a:pPr>
            <a:r>
              <a:t>Триггер</a:t>
            </a:r>
          </a:p>
          <a:p>
            <a:pPr algn="l">
              <a:spcBef>
                <a:spcPts val="300"/>
              </a:spcBef>
              <a:defRPr sz="1300">
                <a:solidFill>
                  <a:srgbClr val="9CA3AF"/>
                </a:solidFill>
              </a:defRPr>
            </a:pPr>
            <a:r>
              <a:t>commit пакета на сервере</a:t>
            </a:r>
            <a:br/>
            <a:r>
              <a:t>или webhook CVAT → Datapipe API</a:t>
            </a:r>
            <a:br/>
            <a:r>
              <a:t>(job в acceptance / completed)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577840" cy="20116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>
              <a:defRPr sz="1500" b="1">
                <a:solidFill>
                  <a:srgbClr val="E8EAED"/>
                </a:solidFill>
              </a:defRPr>
            </a:pPr>
            <a:r>
              <a:t>В админке видно</a:t>
            </a:r>
          </a:p>
          <a:p>
            <a:pPr algn="l">
              <a:spcBef>
                <a:spcPts val="300"/>
              </a:spcBef>
              <a:defRPr sz="1300">
                <a:solidFill>
                  <a:srgbClr val="9CA3AF"/>
                </a:solidFill>
              </a:defRPr>
            </a:pPr>
            <a:r>
              <a:t>слой инференса</a:t>
            </a:r>
            <a:br/>
            <a:r>
              <a:t>ссылка на CVAT</a:t>
            </a:r>
            <a:br/>
            <a:r>
              <a:t>keypoints после разметки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</a:defRPr>
            </a:pPr>
            <a:r>
              <a:t>Epoch8 ·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3796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</a:defRPr>
            </a:pPr>
            <a: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8EAED"/>
                </a:solidFill>
              </a:defRPr>
            </a:pPr>
            <a:r>
              <a:t>Где искать сбой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korovas-broken · по слою потока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834640" cy="493776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AED"/>
                </a:solidFill>
              </a:defRPr>
            </a:pPr>
            <a:r>
              <a:t>Загрузка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56032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нет всех фото</a:t>
            </a:r>
            <a:br/>
            <a:r>
              <a:t>→ догрузить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79"/>
            <a:ext cx="256032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обрыв сети</a:t>
            </a:r>
            <a:br/>
            <a:r>
              <a:t>→ повторить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34839"/>
            <a:ext cx="256032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нет доступа</a:t>
            </a:r>
            <a:br/>
            <a:r>
              <a:t>→ выдать проект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834640" cy="493776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28016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AED"/>
                </a:solidFill>
              </a:defRPr>
            </a:pPr>
            <a:r>
              <a:t>Хранилище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74519"/>
            <a:ext cx="256032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пакет в БД,</a:t>
            </a:r>
            <a:br/>
            <a:r>
              <a:t>файлов нет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154679"/>
            <a:ext cx="256032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неверный URI</a:t>
            </a:r>
            <a:br/>
            <a:r>
              <a:t>или креды S3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434839"/>
            <a:ext cx="256032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путать каталог</a:t>
            </a:r>
            <a:br/>
            <a:r>
              <a:t>и БД проекта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097280"/>
            <a:ext cx="2834640" cy="493776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28016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AED"/>
                </a:solidFill>
              </a:defRPr>
            </a:pPr>
            <a:r>
              <a:t>Datapipe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874519"/>
            <a:ext cx="256032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не стартовал</a:t>
            </a:r>
            <a:br/>
            <a:r>
              <a:t>после commit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154679"/>
            <a:ext cx="256032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не читает</a:t>
            </a:r>
            <a:br/>
            <a:r>
              <a:t>фото из S3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434839"/>
            <a:ext cx="256032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нет задачи</a:t>
            </a:r>
            <a:br/>
            <a:r>
              <a:t>в CVAT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097280"/>
            <a:ext cx="2834640" cy="4937760"/>
          </a:xfrm>
          <a:prstGeom prst="roundRect">
            <a:avLst/>
          </a:prstGeom>
          <a:solidFill>
            <a:srgbClr val="0F1419"/>
          </a:solidFill>
          <a:ln w="2540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128016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AED"/>
                </a:solidFill>
              </a:defRPr>
            </a:pPr>
            <a:r>
              <a:t>Визуализация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1874519"/>
            <a:ext cx="256032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пустой слой</a:t>
            </a:r>
            <a:br/>
            <a:r>
              <a:t>инференса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3154679"/>
            <a:ext cx="256032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сломан</a:t>
            </a:r>
            <a:br/>
            <a:r>
              <a:t>viz.json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4434839"/>
            <a:ext cx="2560320" cy="1143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E8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>
              <a:defRPr sz="1200" b="1">
                <a:solidFill>
                  <a:srgbClr val="E8EAED"/>
                </a:solidFill>
              </a:defRPr>
            </a:pPr>
            <a:r>
              <a:t>данные в БД,</a:t>
            </a:r>
            <a:br/>
            <a:r>
              <a:t>UI пустой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</a:defRPr>
            </a:pPr>
            <a:r>
              <a:t>Epoch8 ·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3796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</a:defRPr>
            </a:pPr>
            <a: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598</Words>
  <Application>Microsoft Office PowerPoint</Application>
  <PresentationFormat>Широкоэкранный</PresentationFormat>
  <Paragraphs>225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Сметанин Артём Алексеевич</cp:lastModifiedBy>
  <cp:revision>2</cp:revision>
  <dcterms:created xsi:type="dcterms:W3CDTF">2013-01-27T09:14:16Z</dcterms:created>
  <dcterms:modified xsi:type="dcterms:W3CDTF">2026-07-16T13:29:43Z</dcterms:modified>
  <cp:category/>
</cp:coreProperties>
</file>