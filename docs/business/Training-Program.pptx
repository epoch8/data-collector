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572768"/>
            <a:ext cx="2377440" cy="3810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927080" y="457200"/>
            <a:ext cx="685800" cy="685800"/>
          </a:xfrm>
          <a:prstGeom prst="ellipse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06440"/>
            <a:ext cx="3840480" cy="1051560"/>
          </a:xfrm>
          <a:prstGeom prst="rect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0" y="5806440"/>
            <a:ext cx="8351215" cy="105156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8-team-log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1874519"/>
            <a:ext cx="43891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</a:defRPr>
            </a:pPr>
            <a:r>
              <a:t>Передача</a:t>
            </a:r>
            <a:br/>
            <a:r>
              <a:t>сопровождения</a:t>
            </a:r>
            <a:br/>
            <a:r>
              <a:t>системы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4114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C98A82"/>
                </a:solidFill>
              </a:defRPr>
            </a:pPr>
            <a:r>
              <a:t>Программа обучения для full-stack и ML-инженера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46320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AC9B5"/>
                </a:solidFill>
              </a:defRPr>
            </a:pPr>
            <a:r>
              <a:t>Korovas · data-collector · datapipe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8580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7A828C"/>
                </a:solidFill>
              </a:defRPr>
            </a:pPr>
            <a:r>
              <a:t>data-collector · datapipe · CVAT · инференс · эксплуатация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4892040" y="1417320"/>
            <a:ext cx="1874519" cy="3429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45201" y="4663440"/>
            <a:ext cx="1568196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5201" y="4736592"/>
            <a:ext cx="64008" cy="18288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9793" y="4727448"/>
            <a:ext cx="13487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Съёмка в поле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9464040" y="1508760"/>
            <a:ext cx="2148840" cy="3246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518904" y="4572000"/>
            <a:ext cx="2039112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18904" y="4645152"/>
            <a:ext cx="64008" cy="182880"/>
          </a:xfrm>
          <a:prstGeom prst="rect">
            <a:avLst/>
          </a:prstGeom>
          <a:solidFill>
            <a:srgbClr val="E86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3496" y="4636008"/>
            <a:ext cx="1819656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Конфигурация проекта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143000"/>
            <a:ext cx="3063240" cy="370332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894576" y="4663440"/>
            <a:ext cx="2350008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94576" y="4736592"/>
            <a:ext cx="64008" cy="182880"/>
          </a:xfrm>
          <a:prstGeom prst="rect">
            <a:avLst/>
          </a:prstGeom>
          <a:solidFill>
            <a:srgbClr val="3DB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168" y="4727448"/>
            <a:ext cx="213055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Визуализация инференса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300 ч · 15 недель · 2 роли · учебный стенд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73952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555555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73952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555555"/>
                </a:solidFill>
              </a:defRPr>
            </a:pPr>
            <a:r>
              <a:t>01/07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Из чего состоит система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И почему обучение строится вокруг пути одного пакета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73152" cy="123444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data-collector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мобильная съёмка, загрузка пакетов, админка, визуализация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73152" cy="1234440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datapipe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пайплайны обработки, CVAT, инференс, метрики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74519"/>
            <a:ext cx="3383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874519"/>
            <a:ext cx="73152" cy="1234440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39111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слой Korovas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404871"/>
            <a:ext cx="3063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бонитировка КРС, правила съёмки, экспертная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" y="4325112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Съёмка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приложение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60319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779775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44367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7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Загрузка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7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пакет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294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87375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8342" y="4325112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834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Пайплайн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834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datapipe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748269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67725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32317" y="4325112"/>
            <a:ext cx="566928" cy="329184"/>
          </a:xfrm>
          <a:prstGeom prst="round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3161D"/>
                </a:solidFill>
              </a:defRPr>
            </a:pPr>
            <a: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7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Просмотр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17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визуализация и измерения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42244" y="4727448"/>
            <a:ext cx="182880" cy="0"/>
          </a:xfrm>
          <a:prstGeom prst="line">
            <a:avLst/>
          </a:prstGeom>
          <a:ln w="25400">
            <a:solidFill>
              <a:srgbClr val="131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061700" y="4160520"/>
            <a:ext cx="187451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26292" y="4325112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6292" y="4727448"/>
            <a:ext cx="154533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Протокол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6292" y="4983480"/>
            <a:ext cx="15453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0">
                <a:solidFill>
                  <a:srgbClr val="5F6673"/>
                </a:solidFill>
              </a:defRPr>
            </a:pPr>
            <a:r>
              <a:t>Монолит и внешние сервисы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02/07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Финальный результат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0B7C5"/>
                </a:solidFill>
              </a:defRPr>
            </a:pPr>
            <a:r>
              <a:t>Что должна уметь команда после 15 недель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78308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Провести пакет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1305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От съёмки коровы до визуализации инференса в админке.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8775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4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Диагностировать сбой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8211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Загрузка, хранилище, datapipe, CVAT, пустая визуализация.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3931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88620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Оценить качество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3367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Сравнить модель, GT и экспертную оценку по метрикам.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69087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640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B7F240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37760"/>
            <a:ext cx="3931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Перенести подход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28523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AEB7C7"/>
                </a:solidFill>
              </a:defRPr>
            </a:pPr>
            <a:r>
              <a:t>Повторить сценарий на смежной предметной области, например баранах.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742432"/>
            <a:ext cx="5029200" cy="1270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4892040" cy="42519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808976" y="5486400"/>
            <a:ext cx="2350008" cy="329184"/>
          </a:xfrm>
          <a:prstGeom prst="roundRect">
            <a:avLst/>
          </a:prstGeom>
          <a:solidFill>
            <a:srgbClr val="10141C"/>
          </a:solidFill>
          <a:ln w="10160">
            <a:solidFill>
              <a:srgbClr val="353D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08976" y="5559552"/>
            <a:ext cx="64008" cy="182880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3568" y="5550408"/>
            <a:ext cx="213055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Визуализация инференса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C8390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7C8390"/>
                </a:solidFill>
              </a:defRPr>
            </a:pPr>
            <a:r>
              <a:t>03/07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15 недель как три этапа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Внутри остаются 8 блоков roadmap, но маршрут для запуска проще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194560"/>
            <a:ext cx="530352" cy="530352"/>
          </a:xfrm>
          <a:prstGeom prst="ellipse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Войти в систему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Предметная область, инженерная база, архитектура, первый E2E на стенде.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2194560"/>
            <a:ext cx="530352" cy="530352"/>
          </a:xfrm>
          <a:prstGeom prst="ellipse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Разойтись по ролям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5–7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Full-stack работает с загрузкой и визуализацией, ML — с пайплайном, CVAT и метриками.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20240"/>
            <a:ext cx="342900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21040" y="2194560"/>
            <a:ext cx="530352" cy="530352"/>
          </a:xfrm>
          <a:prstGeom prst="ellipse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304288"/>
            <a:ext cx="53035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3161D"/>
                </a:solidFill>
              </a:defRPr>
            </a:pPr>
            <a:r>
              <a:t>Принять сопровождение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2044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5F6673"/>
                </a:solidFill>
              </a:defRPr>
            </a:pPr>
            <a:r>
              <a:t>нед. 8–15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069080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5F6673"/>
                </a:solidFill>
              </a:defRPr>
            </a:pPr>
            <a:r>
              <a:t>Инциденты, production-практика, аттестация, перенос на новую предметку.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04/07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Способы передачи знаний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За счёт чего команда погружается в проект и учится сопровождать систему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210312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Короткие видео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дают контекст и вводный разбор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0288" y="210312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Семинары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показываем рабочий процесс на стенде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92024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93608" y="210312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208483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Практические задания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42316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участник повторяет сценарий на своих руках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6968" y="3611880"/>
            <a:ext cx="566928" cy="329184"/>
          </a:xfrm>
          <a:prstGeom prst="round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Разборы инцидентов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учимся находить причину сбоя по логам и данным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3611880"/>
            <a:ext cx="566928" cy="329184"/>
          </a:xfrm>
          <a:prstGeom prst="round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Шаблоны и инструкции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чек-листы, runbook, структура техотчёта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429000"/>
            <a:ext cx="33832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93608" y="3611880"/>
            <a:ext cx="566928" cy="329184"/>
          </a:xfrm>
          <a:prstGeom prst="round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59359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3161D"/>
                </a:solidFill>
              </a:defRPr>
            </a:pPr>
            <a:r>
              <a:t>Ревью результата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93192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F6673"/>
                </a:solidFill>
              </a:defRPr>
            </a:pPr>
            <a:r>
              <a:t>обратная связь и приёмка выполненного задания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3035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224EF2"/>
                </a:solidFill>
              </a:defRPr>
            </a:pPr>
            <a:r>
              <a:t>Форматы чередуются: сначала короткое объяснение, затем демонстрация, практика и проверка результата.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05/07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13161D"/>
                </a:solidFill>
              </a:defRPr>
            </a:pPr>
            <a:r>
              <a:t>Практическая база и специфика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353312"/>
            <a:ext cx="1645920" cy="6350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508760"/>
            <a:ext cx="9326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5F6673"/>
                </a:solidFill>
              </a:defRPr>
            </a:pPr>
            <a:r>
              <a:t>Готовим демо-примеры, локальные стенды и поломанные кейсы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73152" cy="786384"/>
          </a:xfrm>
          <a:prstGeom prst="rect">
            <a:avLst/>
          </a:prstGeom>
          <a:solidFill>
            <a:srgbClr val="20C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9339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0C99A"/>
                </a:solidFill>
              </a:defRPr>
            </a:pPr>
            <a:r>
              <a:t>korovas-datapipe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59152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формирование выборок, оценка метрик, анализ ошибок и работа с пайплайнами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724912"/>
            <a:ext cx="73152" cy="786384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korovas-datacollector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мобильное приложение, админка, загрузка пакетов и связь с datapipe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21024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21024"/>
            <a:ext cx="73152" cy="786384"/>
          </a:xfrm>
          <a:prstGeom prst="rect">
            <a:avLst/>
          </a:prstGeom>
          <a:solidFill>
            <a:srgbClr val="F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7856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F6B57"/>
                </a:solidFill>
              </a:defRPr>
            </a:pPr>
            <a:r>
              <a:t>korovas-broken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51376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набор намеренно сломанных кейсов: загрузка, datapipe, визуализация, хранилище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17136"/>
            <a:ext cx="525780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517136"/>
            <a:ext cx="73152" cy="786384"/>
          </a:xfrm>
          <a:prstGeom prst="rect">
            <a:avLst/>
          </a:prstGeom>
          <a:solidFill>
            <a:srgbClr val="B7F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68172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B7F240"/>
                </a:solidFill>
              </a:defRPr>
            </a:pPr>
            <a:r>
              <a:t>локальные стенды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047488"/>
            <a:ext cx="49377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конфигураций для локального развёртывания БД, S3 и других сервисов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1640"/>
            <a:ext cx="5349240" cy="41605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019288" y="5669280"/>
            <a:ext cx="1655064" cy="3291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DA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9288" y="5742432"/>
            <a:ext cx="64008" cy="182880"/>
          </a:xfrm>
          <a:prstGeom prst="rect">
            <a:avLst/>
          </a:prstGeom>
          <a:solidFill>
            <a:srgbClr val="224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5733288"/>
            <a:ext cx="143560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13161D"/>
                </a:solidFill>
              </a:defRPr>
            </a:pPr>
            <a:r>
              <a:t>Список пакетов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06/07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474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Финальный roadmap подготовки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0020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Собрать учебные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62763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korovas-training, korovas-broken, примеры для CVAT и инференса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205740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58568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258568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конфигурации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286000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шаблоны для локального развёртывания БД, S3, data-collector и datapipe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2715768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16936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16936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стартовые материалы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944368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микровидео, инструкции, чек-листы, шаблоны техотчётов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8760" y="3374136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75304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7530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Описать практикумы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602736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E2E, загрузка, визуализация, пайплайн, CVAT, метрики, инциденты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08760" y="4032504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33672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33672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Подготовить задания по ролям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61104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full-stack и ML-инженер, критерии ревью и приёмки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690872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594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24EF2"/>
                </a:solidFill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892040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3161D"/>
                </a:solidFill>
              </a:defRPr>
            </a:pPr>
            <a:r>
              <a:t>Запустить неделю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919472"/>
            <a:ext cx="6126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F6673"/>
                </a:solidFill>
              </a:defRPr>
            </a:pPr>
            <a:r>
              <a:t>демо полного сценария на коровах и первый разбор пути пакета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5349240"/>
            <a:ext cx="9784080" cy="12700"/>
          </a:xfrm>
          <a:prstGeom prst="rect">
            <a:avLst/>
          </a:prstGeom>
          <a:solidFill>
            <a:srgbClr val="DDD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492240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B6B8B2"/>
                </a:solidFill>
              </a:defRPr>
            </a:pPr>
            <a:r>
              <a:t>Epoch8 · обучение Korovas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9224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B6B8B2"/>
                </a:solidFill>
              </a:defRPr>
            </a:pPr>
            <a:r>
              <a:t>07/07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