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54" d="100"/>
          <a:sy n="154" d="100"/>
        </p:scale>
        <p:origin x="524" y="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224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166360"/>
            <a:ext cx="12191695" cy="1691640"/>
          </a:xfrm>
          <a:prstGeom prst="rect">
            <a:avLst/>
          </a:prstGeom>
          <a:solidFill>
            <a:srgbClr val="B7F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B7F240"/>
                </a:solidFill>
              </a:defRPr>
            </a:pPr>
            <a:r>
              <a:t>EPOCH8 / KOROVAS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365760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Передача</a:t>
            </a:r>
            <a:br/>
            <a:r>
              <a:t>сопровождения</a:t>
            </a:r>
            <a:br/>
            <a:r>
              <a:t>системы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069080"/>
            <a:ext cx="35661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D8DEFF"/>
                </a:solidFill>
              </a:defRPr>
            </a:pPr>
            <a:r>
              <a:t>Программа обучения для full-stack и ML-инженера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74920" y="822960"/>
            <a:ext cx="6035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B7C0D0"/>
                </a:solidFill>
              </a:defRPr>
            </a:pPr>
            <a:r>
              <a:t>data-collector · datapipe · CVAT · инференс · эксплуатация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66360" y="1600200"/>
            <a:ext cx="1737360" cy="2971800"/>
          </a:xfrm>
          <a:prstGeom prst="roundRect">
            <a:avLst/>
          </a:prstGeom>
          <a:solidFill>
            <a:srgbClr val="131A2A"/>
          </a:solidFill>
          <a:ln w="10160">
            <a:solidFill>
              <a:srgbClr val="DD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7546" y="1600200"/>
            <a:ext cx="1334988" cy="2971800"/>
          </a:xfrm>
          <a:prstGeom prst="rect">
            <a:avLst/>
          </a:prstGeom>
          <a:ln w="10160">
            <a:solidFill>
              <a:srgbClr val="DDDACF"/>
            </a:solidFill>
          </a:ln>
        </p:spPr>
      </p:pic>
      <p:sp>
        <p:nvSpPr>
          <p:cNvPr id="10" name="Rounded Rectangle 9"/>
          <p:cNvSpPr/>
          <p:nvPr/>
        </p:nvSpPr>
        <p:spPr>
          <a:xfrm>
            <a:off x="7178040" y="1600200"/>
            <a:ext cx="1920240" cy="2971800"/>
          </a:xfrm>
          <a:prstGeom prst="roundRect">
            <a:avLst/>
          </a:prstGeom>
          <a:solidFill>
            <a:srgbClr val="131A2A"/>
          </a:solidFill>
          <a:ln w="10160">
            <a:solidFill>
              <a:srgbClr val="DD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8040" y="2660442"/>
            <a:ext cx="1920240" cy="851316"/>
          </a:xfrm>
          <a:prstGeom prst="rect">
            <a:avLst/>
          </a:prstGeom>
          <a:ln w="10160">
            <a:solidFill>
              <a:srgbClr val="DDDACF"/>
            </a:solidFill>
          </a:ln>
        </p:spPr>
      </p:pic>
      <p:sp>
        <p:nvSpPr>
          <p:cNvPr id="12" name="Rounded Rectangle 11"/>
          <p:cNvSpPr/>
          <p:nvPr/>
        </p:nvSpPr>
        <p:spPr>
          <a:xfrm>
            <a:off x="9372600" y="1600200"/>
            <a:ext cx="1920240" cy="2971800"/>
          </a:xfrm>
          <a:prstGeom prst="roundRect">
            <a:avLst/>
          </a:prstGeom>
          <a:solidFill>
            <a:srgbClr val="131A2A"/>
          </a:solidFill>
          <a:ln w="10160">
            <a:solidFill>
              <a:srgbClr val="DD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72600" y="2131332"/>
            <a:ext cx="1920240" cy="1909536"/>
          </a:xfrm>
          <a:prstGeom prst="rect">
            <a:avLst/>
          </a:prstGeom>
          <a:ln w="10160">
            <a:solidFill>
              <a:srgbClr val="DDDACF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640080" y="5650992"/>
            <a:ext cx="5029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800" b="1">
                <a:solidFill>
                  <a:srgbClr val="13161D"/>
                </a:solidFill>
              </a:defRPr>
            </a:pPr>
            <a:r>
              <a:t>300 ч · 15 недель · 2 роли · учебный стенд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492240"/>
            <a:ext cx="4114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7C8390"/>
                </a:solidFill>
              </a:defRPr>
            </a:pPr>
            <a:r>
              <a:t>Epoch8 · обучение Korovas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09960" y="6492240"/>
            <a:ext cx="6400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7C8390"/>
                </a:solidFill>
              </a:defRPr>
            </a:pPr>
            <a:r>
              <a:t>01/07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502920"/>
            <a:ext cx="93268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13161D"/>
                </a:solidFill>
              </a:defRPr>
            </a:pPr>
            <a:r>
              <a:t>Из чего состоит система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353312"/>
            <a:ext cx="1645920" cy="63500"/>
          </a:xfrm>
          <a:prstGeom prst="rect">
            <a:avLst/>
          </a:prstGeom>
          <a:solidFill>
            <a:srgbClr val="224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1508760"/>
            <a:ext cx="9326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5F6673"/>
                </a:solidFill>
              </a:defRPr>
            </a:pPr>
            <a:r>
              <a:t>И почему обучение строится вокруг пути одного пакета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74519"/>
            <a:ext cx="3383280" cy="1234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85800" y="1874519"/>
            <a:ext cx="73152" cy="1234440"/>
          </a:xfrm>
          <a:prstGeom prst="rect">
            <a:avLst/>
          </a:prstGeom>
          <a:solidFill>
            <a:srgbClr val="224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86968" y="2039111"/>
            <a:ext cx="3063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224EF2"/>
                </a:solidFill>
              </a:defRPr>
            </a:pPr>
            <a:r>
              <a:rPr dirty="0"/>
              <a:t>data-collector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404871"/>
            <a:ext cx="30632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5F6673"/>
                </a:solidFill>
              </a:defRPr>
            </a:pPr>
            <a:r>
              <a:t>мобильная съёмка, загрузка пакетов, админка, визуализация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874519"/>
            <a:ext cx="3383280" cy="1234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89120" y="1874519"/>
            <a:ext cx="73152" cy="1234440"/>
          </a:xfrm>
          <a:prstGeom prst="rect">
            <a:avLst/>
          </a:prstGeom>
          <a:solidFill>
            <a:srgbClr val="20C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90288" y="2039111"/>
            <a:ext cx="3063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20C99A"/>
                </a:solidFill>
              </a:defRPr>
            </a:pPr>
            <a:r>
              <a:t>datapipe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0288" y="2404871"/>
            <a:ext cx="30632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5F6673"/>
                </a:solidFill>
              </a:defRPr>
            </a:pPr>
            <a:r>
              <a:t>пайплайны обработки, CVAT, инференс, метрики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1874519"/>
            <a:ext cx="3383280" cy="1234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092440" y="1874519"/>
            <a:ext cx="73152" cy="1234440"/>
          </a:xfrm>
          <a:prstGeom prst="rect">
            <a:avLst/>
          </a:prstGeom>
          <a:solidFill>
            <a:srgbClr val="FF6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93608" y="2039111"/>
            <a:ext cx="3063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FF6B57"/>
                </a:solidFill>
              </a:defRPr>
            </a:pPr>
            <a:r>
              <a:t>слой Korovas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3608" y="2404871"/>
            <a:ext cx="30632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5F6673"/>
                </a:solidFill>
              </a:defRPr>
            </a:pPr>
            <a:r>
              <a:t>бонитировка КРС, правила съёмки, экспертная оценка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4160520"/>
            <a:ext cx="2057400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850392" y="4325112"/>
            <a:ext cx="566928" cy="329184"/>
          </a:xfrm>
          <a:prstGeom prst="roundRect">
            <a:avLst/>
          </a:prstGeom>
          <a:solidFill>
            <a:srgbClr val="224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" y="4727448"/>
            <a:ext cx="1728216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13161D"/>
                </a:solidFill>
              </a:defRPr>
            </a:pPr>
            <a:r>
              <a:t>Съёмка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" y="4983480"/>
            <a:ext cx="172821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00" b="0">
                <a:solidFill>
                  <a:srgbClr val="5F6673"/>
                </a:solidFill>
              </a:defRPr>
            </a:pPr>
            <a:r>
              <a:rPr dirty="0" err="1"/>
              <a:t>приложение</a:t>
            </a:r>
            <a:endParaRPr dirty="0"/>
          </a:p>
        </p:txBody>
      </p:sp>
      <p:cxnSp>
        <p:nvCxnSpPr>
          <p:cNvPr id="21" name="Connector 20"/>
          <p:cNvCxnSpPr/>
          <p:nvPr/>
        </p:nvCxnSpPr>
        <p:spPr>
          <a:xfrm>
            <a:off x="2743200" y="4727448"/>
            <a:ext cx="301752" cy="0"/>
          </a:xfrm>
          <a:prstGeom prst="line">
            <a:avLst/>
          </a:prstGeom>
          <a:ln w="25400">
            <a:solidFill>
              <a:srgbClr val="131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3090672" y="4160520"/>
            <a:ext cx="2057400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3255264" y="4325112"/>
            <a:ext cx="566928" cy="329184"/>
          </a:xfrm>
          <a:prstGeom prst="roundRect">
            <a:avLst/>
          </a:prstGeom>
          <a:solidFill>
            <a:srgbClr val="FF6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55264" y="4727448"/>
            <a:ext cx="1728216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13161D"/>
                </a:solidFill>
              </a:defRPr>
            </a:pPr>
            <a:r>
              <a:t>Загрузка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55264" y="4983480"/>
            <a:ext cx="172821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00" b="0">
                <a:solidFill>
                  <a:srgbClr val="5F6673"/>
                </a:solidFill>
              </a:defRPr>
            </a:pPr>
            <a:r>
              <a:t>пакет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148072" y="4727448"/>
            <a:ext cx="301752" cy="0"/>
          </a:xfrm>
          <a:prstGeom prst="line">
            <a:avLst/>
          </a:prstGeom>
          <a:ln w="25400">
            <a:solidFill>
              <a:srgbClr val="131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5495544" y="4160520"/>
            <a:ext cx="2057400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5660136" y="4325112"/>
            <a:ext cx="566928" cy="329184"/>
          </a:xfrm>
          <a:prstGeom prst="roundRect">
            <a:avLst/>
          </a:prstGeom>
          <a:solidFill>
            <a:srgbClr val="20C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0136" y="4727448"/>
            <a:ext cx="1728216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13161D"/>
                </a:solidFill>
              </a:defRPr>
            </a:pPr>
            <a:r>
              <a:t>Пайплайн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0136" y="4983480"/>
            <a:ext cx="172821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00" b="0">
                <a:solidFill>
                  <a:srgbClr val="5F6673"/>
                </a:solidFill>
              </a:defRPr>
            </a:pPr>
            <a:r>
              <a:t>datapipe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552944" y="4727448"/>
            <a:ext cx="301752" cy="0"/>
          </a:xfrm>
          <a:prstGeom prst="line">
            <a:avLst/>
          </a:prstGeom>
          <a:ln w="25400">
            <a:solidFill>
              <a:srgbClr val="131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7900416" y="4160520"/>
            <a:ext cx="2057400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8065008" y="4325112"/>
            <a:ext cx="566928" cy="329184"/>
          </a:xfrm>
          <a:prstGeom prst="roundRect">
            <a:avLst/>
          </a:prstGeom>
          <a:solidFill>
            <a:srgbClr val="B7F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13161D"/>
                </a:solidFill>
              </a:defRPr>
            </a:pPr>
            <a: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65008" y="4727448"/>
            <a:ext cx="1728216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13161D"/>
                </a:solidFill>
              </a:defRPr>
            </a:pPr>
            <a:r>
              <a:t>Просмотр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65008" y="4983480"/>
            <a:ext cx="172821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00" b="0">
                <a:solidFill>
                  <a:srgbClr val="5F6673"/>
                </a:solidFill>
              </a:defRPr>
            </a:pPr>
            <a:r>
              <a:t>визуализация и измерения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957816" y="4727448"/>
            <a:ext cx="301752" cy="0"/>
          </a:xfrm>
          <a:prstGeom prst="line">
            <a:avLst/>
          </a:prstGeom>
          <a:ln w="25400">
            <a:solidFill>
              <a:srgbClr val="131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10305288" y="4160520"/>
            <a:ext cx="2057400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10469880" y="4325112"/>
            <a:ext cx="566928" cy="329184"/>
          </a:xfrm>
          <a:prstGeom prst="roundRect">
            <a:avLst/>
          </a:prstGeom>
          <a:solidFill>
            <a:srgbClr val="FF6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05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69880" y="4727448"/>
            <a:ext cx="1728216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13161D"/>
                </a:solidFill>
              </a:defRPr>
            </a:pPr>
            <a:r>
              <a:t>Протокол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69880" y="4983480"/>
            <a:ext cx="172821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00" b="0">
                <a:solidFill>
                  <a:srgbClr val="5F6673"/>
                </a:solidFill>
              </a:defRPr>
            </a:pPr>
            <a:r>
              <a:t>Монолит и внешние сервисы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" y="6492240"/>
            <a:ext cx="4114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B6B8B2"/>
                </a:solidFill>
              </a:defRPr>
            </a:pPr>
            <a:r>
              <a:t>Epoch8 · обучение Korovas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109960" y="6492240"/>
            <a:ext cx="6400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B6B8B2"/>
                </a:solidFill>
              </a:defRPr>
            </a:pPr>
            <a:r>
              <a:t>02/07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502920"/>
            <a:ext cx="93268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</a:defRPr>
            </a:pPr>
            <a:r>
              <a:t>Финальный результат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353312"/>
            <a:ext cx="1645920" cy="63500"/>
          </a:xfrm>
          <a:prstGeom prst="rect">
            <a:avLst/>
          </a:prstGeom>
          <a:solidFill>
            <a:srgbClr val="B7F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1508760"/>
            <a:ext cx="9326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B0B7C5"/>
                </a:solidFill>
              </a:defRPr>
            </a:pPr>
            <a:r>
              <a:t>Что должна уметь команда после 15 недель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6400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800" b="1">
                <a:solidFill>
                  <a:srgbClr val="B7F240"/>
                </a:solidFill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8760" y="1783080"/>
            <a:ext cx="3931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Провести пакет end-to-end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2130552"/>
            <a:ext cx="5029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AEB7C7"/>
                </a:solidFill>
              </a:defRPr>
            </a:pPr>
            <a:r>
              <a:t>От съёмки коровы до визуализации инференса в админке.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587752"/>
            <a:ext cx="5029200" cy="12700"/>
          </a:xfrm>
          <a:prstGeom prst="rect">
            <a:avLst/>
          </a:prstGeom>
          <a:solidFill>
            <a:srgbClr val="2B34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" y="2834640"/>
            <a:ext cx="6400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800" b="1">
                <a:solidFill>
                  <a:srgbClr val="B7F240"/>
                </a:solidFill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2834640"/>
            <a:ext cx="3931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Диагностировать сбой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182112"/>
            <a:ext cx="5029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AEB7C7"/>
                </a:solidFill>
              </a:defRPr>
            </a:pPr>
            <a:r>
              <a:t>Загрузка, хранилище, datapipe, CVAT, пустая визуализация.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3639312"/>
            <a:ext cx="5029200" cy="12700"/>
          </a:xfrm>
          <a:prstGeom prst="rect">
            <a:avLst/>
          </a:prstGeom>
          <a:solidFill>
            <a:srgbClr val="2B34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1520" y="3886200"/>
            <a:ext cx="6400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800" b="1">
                <a:solidFill>
                  <a:srgbClr val="B7F240"/>
                </a:solidFill>
              </a:defRPr>
            </a:pPr>
            <a: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3886200"/>
            <a:ext cx="3931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Оценить качество ML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4233672"/>
            <a:ext cx="5029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AEB7C7"/>
                </a:solidFill>
              </a:defRPr>
            </a:pPr>
            <a:r>
              <a:t>Сравнить модель, GT и экспертную оценку по метрикам.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4690872"/>
            <a:ext cx="5029200" cy="12700"/>
          </a:xfrm>
          <a:prstGeom prst="rect">
            <a:avLst/>
          </a:prstGeom>
          <a:solidFill>
            <a:srgbClr val="2B34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31520" y="4937760"/>
            <a:ext cx="6400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800" b="1">
                <a:solidFill>
                  <a:srgbClr val="B7F240"/>
                </a:solidFill>
              </a:defRPr>
            </a:pPr>
            <a: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4937760"/>
            <a:ext cx="3931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Перенести подход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5285232"/>
            <a:ext cx="5029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AEB7C7"/>
                </a:solidFill>
              </a:defRPr>
            </a:pPr>
            <a:r>
              <a:t>Повторить сценарий на смежной предметной области, например баранах.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5742432"/>
            <a:ext cx="5029200" cy="12700"/>
          </a:xfrm>
          <a:prstGeom prst="rect">
            <a:avLst/>
          </a:prstGeom>
          <a:solidFill>
            <a:srgbClr val="2B34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6720840" y="1508760"/>
            <a:ext cx="4572000" cy="4069080"/>
          </a:xfrm>
          <a:prstGeom prst="roundRect">
            <a:avLst/>
          </a:prstGeom>
          <a:solidFill>
            <a:srgbClr val="131A2A"/>
          </a:solidFill>
          <a:ln w="10160">
            <a:solidFill>
              <a:srgbClr val="DD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 21" descr="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2222911"/>
            <a:ext cx="4572000" cy="2640777"/>
          </a:xfrm>
          <a:prstGeom prst="rect">
            <a:avLst/>
          </a:prstGeom>
          <a:ln w="10160">
            <a:solidFill>
              <a:srgbClr val="DDDACF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594360" y="6492240"/>
            <a:ext cx="4114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7C8390"/>
                </a:solidFill>
              </a:defRPr>
            </a:pPr>
            <a:r>
              <a:t>Epoch8 · обучение Korovas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09960" y="6492240"/>
            <a:ext cx="6400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7C8390"/>
                </a:solidFill>
              </a:defRPr>
            </a:pPr>
            <a:r>
              <a:t>03/07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502920"/>
            <a:ext cx="93268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13161D"/>
                </a:solidFill>
              </a:defRPr>
            </a:pPr>
            <a:r>
              <a:t>15 недель как три этапа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353312"/>
            <a:ext cx="1645920" cy="63500"/>
          </a:xfrm>
          <a:prstGeom prst="rect">
            <a:avLst/>
          </a:prstGeom>
          <a:solidFill>
            <a:srgbClr val="224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1508760"/>
            <a:ext cx="9326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5F6673"/>
                </a:solidFill>
              </a:defRPr>
            </a:pPr>
            <a:r>
              <a:t>Внутри остаются 8 блоков roadmap, но маршрут для запуска проще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20240"/>
            <a:ext cx="3429000" cy="34747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914400" y="2194560"/>
            <a:ext cx="530352" cy="530352"/>
          </a:xfrm>
          <a:prstGeom prst="ellipse">
            <a:avLst/>
          </a:prstGeom>
          <a:solidFill>
            <a:srgbClr val="224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2304288"/>
            <a:ext cx="530352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880360"/>
            <a:ext cx="2834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200" b="1">
                <a:solidFill>
                  <a:srgbClr val="13161D"/>
                </a:solidFill>
              </a:defRPr>
            </a:pPr>
            <a:r>
              <a:t>Войти в систему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520440"/>
            <a:ext cx="2834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5F6673"/>
                </a:solidFill>
              </a:defRPr>
            </a:pPr>
            <a:r>
              <a:t>нед. 1–4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069080"/>
            <a:ext cx="2880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5F6673"/>
                </a:solidFill>
              </a:defRPr>
            </a:pPr>
            <a:r>
              <a:t>Предметная область, инженерная база, архитектура, первый E2E на стенде.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920240"/>
            <a:ext cx="3429000" cy="34747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4617720" y="2194560"/>
            <a:ext cx="530352" cy="530352"/>
          </a:xfrm>
          <a:prstGeom prst="ellipse">
            <a:avLst/>
          </a:prstGeom>
          <a:solidFill>
            <a:srgbClr val="20C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17720" y="2304288"/>
            <a:ext cx="530352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II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2880360"/>
            <a:ext cx="2834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200" b="1">
                <a:solidFill>
                  <a:srgbClr val="13161D"/>
                </a:solidFill>
              </a:defRPr>
            </a:pPr>
            <a:r>
              <a:t>Разойтись по ролям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3520440"/>
            <a:ext cx="2834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5F6673"/>
                </a:solidFill>
              </a:defRPr>
            </a:pPr>
            <a:r>
              <a:t>нед. 5–7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4069080"/>
            <a:ext cx="2880360" cy="6001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5F6673"/>
                </a:solidFill>
              </a:defRPr>
            </a:pPr>
            <a:r>
              <a:rPr dirty="0"/>
              <a:t>Full-stack </a:t>
            </a:r>
            <a:r>
              <a:rPr dirty="0" err="1"/>
              <a:t>работает</a:t>
            </a:r>
            <a:r>
              <a:rPr dirty="0"/>
              <a:t> с </a:t>
            </a:r>
            <a:r>
              <a:rPr dirty="0" err="1"/>
              <a:t>загрузкой</a:t>
            </a:r>
            <a:r>
              <a:rPr lang="en-US" dirty="0"/>
              <a:t>,</a:t>
            </a:r>
            <a:r>
              <a:rPr dirty="0"/>
              <a:t> </a:t>
            </a:r>
            <a:r>
              <a:rPr dirty="0" err="1"/>
              <a:t>визуализацией</a:t>
            </a:r>
            <a:r>
              <a:rPr dirty="0"/>
              <a:t>,</a:t>
            </a:r>
            <a:r>
              <a:rPr lang="en-US" dirty="0"/>
              <a:t> </a:t>
            </a:r>
            <a:r>
              <a:rPr lang="ru-RU" dirty="0" err="1"/>
              <a:t>инфрастуктурой</a:t>
            </a:r>
            <a:r>
              <a:rPr dirty="0"/>
              <a:t> ML — с </a:t>
            </a:r>
            <a:r>
              <a:rPr dirty="0" err="1"/>
              <a:t>пайплайном</a:t>
            </a:r>
            <a:r>
              <a:rPr dirty="0"/>
              <a:t>, CVAT и </a:t>
            </a:r>
            <a:r>
              <a:rPr dirty="0" err="1"/>
              <a:t>метриками</a:t>
            </a:r>
            <a:r>
              <a:rPr dirty="0"/>
              <a:t>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1920240"/>
            <a:ext cx="3429000" cy="34747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8321040" y="2194560"/>
            <a:ext cx="530352" cy="530352"/>
          </a:xfrm>
          <a:prstGeom prst="ellipse">
            <a:avLst/>
          </a:prstGeom>
          <a:solidFill>
            <a:srgbClr val="FF6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21040" y="2304288"/>
            <a:ext cx="530352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III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2880360"/>
            <a:ext cx="2834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200" b="1">
                <a:solidFill>
                  <a:srgbClr val="13161D"/>
                </a:solidFill>
              </a:defRPr>
            </a:pPr>
            <a:r>
              <a:t>Принять сопровождение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3520440"/>
            <a:ext cx="2834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5F6673"/>
                </a:solidFill>
              </a:defRPr>
            </a:pPr>
            <a:r>
              <a:t>нед. 8–15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4069080"/>
            <a:ext cx="2880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5F6673"/>
                </a:solidFill>
              </a:defRPr>
            </a:pPr>
            <a:r>
              <a:t>Инциденты, production-практика, аттестация, перенос на новую предметку.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6492240"/>
            <a:ext cx="4114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B6B8B2"/>
                </a:solidFill>
              </a:defRPr>
            </a:pPr>
            <a:r>
              <a:t>Epoch8 · обучение Korovas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09960" y="6492240"/>
            <a:ext cx="6400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B6B8B2"/>
                </a:solidFill>
              </a:defRPr>
            </a:pPr>
            <a:r>
              <a:t>04/07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502920"/>
            <a:ext cx="93268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13161D"/>
                </a:solidFill>
              </a:defRPr>
            </a:pPr>
            <a:r>
              <a:t>Из чего состоит учебный процесс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353312"/>
            <a:ext cx="1645920" cy="63500"/>
          </a:xfrm>
          <a:prstGeom prst="rect">
            <a:avLst/>
          </a:prstGeom>
          <a:solidFill>
            <a:srgbClr val="224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1508760"/>
            <a:ext cx="9326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5F6673"/>
                </a:solidFill>
              </a:defRPr>
            </a:pPr>
            <a:r>
              <a:t>Один модуль повторяет понятный цикл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20240"/>
            <a:ext cx="3383280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86968" y="2103120"/>
            <a:ext cx="566928" cy="329184"/>
          </a:xfrm>
          <a:prstGeom prst="roundRect">
            <a:avLst/>
          </a:prstGeom>
          <a:solidFill>
            <a:srgbClr val="224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2084832"/>
            <a:ext cx="2148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13161D"/>
                </a:solidFill>
              </a:defRPr>
            </a:pPr>
            <a:r>
              <a:t>Контекст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2423160"/>
            <a:ext cx="2148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F6673"/>
                </a:solidFill>
              </a:defRPr>
            </a:pPr>
            <a:r>
              <a:t>короткое видео или вводный разбор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920240"/>
            <a:ext cx="3383280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4590288" y="2103120"/>
            <a:ext cx="566928" cy="329184"/>
          </a:xfrm>
          <a:prstGeom prst="roundRect">
            <a:avLst/>
          </a:prstGeom>
          <a:solidFill>
            <a:srgbClr val="20C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2084832"/>
            <a:ext cx="2148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13161D"/>
                </a:solidFill>
              </a:defRPr>
            </a:pPr>
            <a:r>
              <a:t>Демо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0" y="2423160"/>
            <a:ext cx="2148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F6673"/>
                </a:solidFill>
              </a:defRPr>
            </a:pPr>
            <a:r>
              <a:rPr dirty="0" err="1"/>
              <a:t>показываем</a:t>
            </a:r>
            <a:r>
              <a:rPr dirty="0"/>
              <a:t> </a:t>
            </a:r>
            <a:r>
              <a:rPr dirty="0" err="1"/>
              <a:t>рабочий</a:t>
            </a:r>
            <a:r>
              <a:rPr dirty="0"/>
              <a:t> </a:t>
            </a:r>
            <a:r>
              <a:rPr dirty="0" err="1"/>
              <a:t>сценарий</a:t>
            </a:r>
            <a:r>
              <a:rPr dirty="0"/>
              <a:t> </a:t>
            </a:r>
            <a:r>
              <a:rPr dirty="0" err="1"/>
              <a:t>на</a:t>
            </a:r>
            <a:r>
              <a:rPr dirty="0"/>
              <a:t> </a:t>
            </a:r>
            <a:r>
              <a:rPr dirty="0" err="1"/>
              <a:t>стенде</a:t>
            </a:r>
            <a:endParaRPr dirty="0"/>
          </a:p>
        </p:txBody>
      </p:sp>
      <p:sp>
        <p:nvSpPr>
          <p:cNvPr id="13" name="Rounded Rectangle 12"/>
          <p:cNvSpPr/>
          <p:nvPr/>
        </p:nvSpPr>
        <p:spPr>
          <a:xfrm>
            <a:off x="8092440" y="1920240"/>
            <a:ext cx="3383280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293608" y="2103120"/>
            <a:ext cx="566928" cy="329184"/>
          </a:xfrm>
          <a:prstGeom prst="roundRect">
            <a:avLst/>
          </a:prstGeom>
          <a:solidFill>
            <a:srgbClr val="FF6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06840" y="2084832"/>
            <a:ext cx="2148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13161D"/>
                </a:solidFill>
              </a:defRPr>
            </a:pPr>
            <a:r>
              <a:t>Практика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06840" y="2423160"/>
            <a:ext cx="2148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F6673"/>
                </a:solidFill>
              </a:defRPr>
            </a:pPr>
            <a:r>
              <a:t>участник повторяет сценарий сам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429000"/>
            <a:ext cx="3383280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886968" y="3611880"/>
            <a:ext cx="566928" cy="329184"/>
          </a:xfrm>
          <a:prstGeom prst="roundRect">
            <a:avLst/>
          </a:prstGeom>
          <a:solidFill>
            <a:srgbClr val="224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3593592"/>
            <a:ext cx="2148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13161D"/>
                </a:solidFill>
              </a:defRPr>
            </a:pPr>
            <a:r>
              <a:t>Поломка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0200" y="3931920"/>
            <a:ext cx="2148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F6673"/>
                </a:solidFill>
              </a:defRPr>
            </a:pPr>
            <a:r>
              <a:t>разбор заранее подготовленного сбоя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89120" y="3429000"/>
            <a:ext cx="3383280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4590288" y="3611880"/>
            <a:ext cx="566928" cy="329184"/>
          </a:xfrm>
          <a:prstGeom prst="roundRect">
            <a:avLst/>
          </a:prstGeom>
          <a:solidFill>
            <a:srgbClr val="20C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0" y="3593592"/>
            <a:ext cx="2148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13161D"/>
                </a:solidFill>
              </a:defRPr>
            </a:pPr>
            <a:r>
              <a:t>Артефакт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0" y="3931920"/>
            <a:ext cx="2148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F6673"/>
                </a:solidFill>
              </a:defRPr>
            </a:pPr>
            <a:r>
              <a:t>PR, отчёт, ноутбук или runbook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92440" y="3429000"/>
            <a:ext cx="3383280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8293608" y="3611880"/>
            <a:ext cx="566928" cy="329184"/>
          </a:xfrm>
          <a:prstGeom prst="roundRect">
            <a:avLst/>
          </a:prstGeom>
          <a:solidFill>
            <a:srgbClr val="FF6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06840" y="3593592"/>
            <a:ext cx="2148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13161D"/>
                </a:solidFill>
              </a:defRPr>
            </a:pPr>
            <a:r>
              <a:t>Ревью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06840" y="3931920"/>
            <a:ext cx="2148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F6673"/>
                </a:solidFill>
              </a:defRPr>
            </a:pPr>
            <a:r>
              <a:t>обратная связь и приёмка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530352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1">
                <a:solidFill>
                  <a:srgbClr val="224EF2"/>
                </a:solidFill>
              </a:defRPr>
            </a:pPr>
            <a:r>
              <a:t>Так участник не просто слушает материал, а каждый раз проходит мини-цикл сопровождения.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6492240"/>
            <a:ext cx="4114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B6B8B2"/>
                </a:solidFill>
              </a:defRPr>
            </a:pPr>
            <a:r>
              <a:t>Epoch8 · обучение Korovas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09960" y="6492240"/>
            <a:ext cx="6400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B6B8B2"/>
                </a:solidFill>
              </a:defRPr>
            </a:pPr>
            <a:r>
              <a:t>05/07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502920"/>
            <a:ext cx="93268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13161D"/>
                </a:solidFill>
              </a:defRPr>
            </a:pPr>
            <a:r>
              <a:t>Практическая база и специфика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353312"/>
            <a:ext cx="1645920" cy="63500"/>
          </a:xfrm>
          <a:prstGeom prst="rect">
            <a:avLst/>
          </a:prstGeom>
          <a:solidFill>
            <a:srgbClr val="224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1508760"/>
            <a:ext cx="9326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5F6673"/>
                </a:solidFill>
              </a:defRPr>
            </a:pPr>
            <a:r>
              <a:t>Готовим демо-примеры, локальные стенды и поломанные кейсы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5257800" cy="78638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73152" cy="786384"/>
          </a:xfrm>
          <a:prstGeom prst="rect">
            <a:avLst/>
          </a:prstGeom>
          <a:solidFill>
            <a:srgbClr val="20C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8" y="1993392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20C99A"/>
                </a:solidFill>
              </a:defRPr>
            </a:pPr>
            <a:r>
              <a:t>korovas-training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359152"/>
            <a:ext cx="4937760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5F6673"/>
                </a:solidFill>
              </a:defRPr>
            </a:pPr>
            <a:r>
              <a:t>обучение через datapipe: формирование выборок, оценка метрик и анализ ошибок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724912"/>
            <a:ext cx="5257800" cy="78638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40080" y="2724912"/>
            <a:ext cx="73152" cy="786384"/>
          </a:xfrm>
          <a:prstGeom prst="rect">
            <a:avLst/>
          </a:prstGeom>
          <a:solidFill>
            <a:srgbClr val="FF6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1248" y="2889504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FF6B57"/>
                </a:solidFill>
              </a:defRPr>
            </a:pPr>
            <a:r>
              <a:t>korovas-broken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3255264"/>
            <a:ext cx="4937760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5F6673"/>
                </a:solidFill>
              </a:defRPr>
            </a:pPr>
            <a:r>
              <a:t>набор намеренно сломанных кейсов: загрузка, datapipe, визуализация, хранилище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621024"/>
            <a:ext cx="5257800" cy="78638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40080" y="3621024"/>
            <a:ext cx="73152" cy="786384"/>
          </a:xfrm>
          <a:prstGeom prst="rect">
            <a:avLst/>
          </a:prstGeom>
          <a:solidFill>
            <a:srgbClr val="224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41248" y="3785616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224EF2"/>
                </a:solidFill>
              </a:defRPr>
            </a:pPr>
            <a:r>
              <a:t>ноутбуки и отчёты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4151376"/>
            <a:ext cx="4937760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5F6673"/>
                </a:solidFill>
              </a:defRPr>
            </a:pPr>
            <a:r>
              <a:t>демо-примеры для метрик, сравнения модели и эксперта, анализа ошибок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517136"/>
            <a:ext cx="5257800" cy="78638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40080" y="4517136"/>
            <a:ext cx="73152" cy="786384"/>
          </a:xfrm>
          <a:prstGeom prst="rect">
            <a:avLst/>
          </a:prstGeom>
          <a:solidFill>
            <a:srgbClr val="B7F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41248" y="4681728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B7F240"/>
                </a:solidFill>
              </a:defRPr>
            </a:pPr>
            <a:r>
              <a:t>локальные стенды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5047488"/>
            <a:ext cx="4937760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5F6673"/>
                </a:solidFill>
              </a:defRPr>
            </a:pPr>
            <a:r>
              <a:t>шаблоны конфигураций для локального развёртывания БД, S3 и других сервисов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1783080"/>
            <a:ext cx="5166360" cy="40690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 21" descr="packege_list_slide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2504856"/>
            <a:ext cx="5166360" cy="2625527"/>
          </a:xfrm>
          <a:prstGeom prst="rect">
            <a:avLst/>
          </a:prstGeom>
          <a:ln w="10160">
            <a:solidFill>
              <a:srgbClr val="DDDACF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594360" y="6492240"/>
            <a:ext cx="4114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B6B8B2"/>
                </a:solidFill>
              </a:defRPr>
            </a:pPr>
            <a:r>
              <a:t>Epoch8 · обучение Korovas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09960" y="6492240"/>
            <a:ext cx="6400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B6B8B2"/>
                </a:solidFill>
              </a:defRPr>
            </a:pPr>
            <a:r>
              <a:t>06/07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47472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Финальный roadmap подготовки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00200"/>
            <a:ext cx="594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224EF2"/>
                </a:solidFill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1600200"/>
            <a:ext cx="3474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13161D"/>
                </a:solidFill>
              </a:defRPr>
            </a:pPr>
            <a:r>
              <a:t>Собрать учебные данные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66360" y="1627632"/>
            <a:ext cx="61264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5F6673"/>
                </a:solidFill>
              </a:defRPr>
            </a:pPr>
            <a:r>
              <a:t>korovas-training, korovas-broken, примеры для CVAT и инференса</a:t>
            </a:r>
          </a:p>
        </p:txBody>
      </p:sp>
      <p:sp>
        <p:nvSpPr>
          <p:cNvPr id="7" name="Rectangle 6"/>
          <p:cNvSpPr/>
          <p:nvPr/>
        </p:nvSpPr>
        <p:spPr>
          <a:xfrm>
            <a:off x="1508760" y="2057400"/>
            <a:ext cx="9784080" cy="12700"/>
          </a:xfrm>
          <a:prstGeom prst="rect">
            <a:avLst/>
          </a:prstGeom>
          <a:solidFill>
            <a:srgbClr val="DDDA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2258568"/>
            <a:ext cx="594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224EF2"/>
                </a:solidFill>
              </a:defRPr>
            </a:pPr>
            <a: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2258568"/>
            <a:ext cx="3474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13161D"/>
                </a:solidFill>
              </a:defRPr>
            </a:pPr>
            <a:r>
              <a:t>Подготовить конфигурации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66360" y="2286000"/>
            <a:ext cx="61264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5F6673"/>
                </a:solidFill>
              </a:defRPr>
            </a:pPr>
            <a:r>
              <a:t>шаблоны для локального развёртывания БД, S3, data-collector и datapipe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08760" y="2715768"/>
            <a:ext cx="9784080" cy="12700"/>
          </a:xfrm>
          <a:prstGeom prst="rect">
            <a:avLst/>
          </a:prstGeom>
          <a:solidFill>
            <a:srgbClr val="DDDA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2916936"/>
            <a:ext cx="594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224EF2"/>
                </a:solidFill>
              </a:defRPr>
            </a:pPr>
            <a: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2916936"/>
            <a:ext cx="3474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13161D"/>
                </a:solidFill>
              </a:defRPr>
            </a:pPr>
            <a:r>
              <a:t>Подготовить стартовые материалы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66360" y="2944368"/>
            <a:ext cx="61264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5F6673"/>
                </a:solidFill>
              </a:defRPr>
            </a:pPr>
            <a:r>
              <a:t>микровидео, инструкции, чек-листы, шаблоны техотчётов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508760" y="3374136"/>
            <a:ext cx="9784080" cy="12700"/>
          </a:xfrm>
          <a:prstGeom prst="rect">
            <a:avLst/>
          </a:prstGeom>
          <a:solidFill>
            <a:srgbClr val="DDDA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2960" y="3575304"/>
            <a:ext cx="594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224EF2"/>
                </a:solidFill>
              </a:defRPr>
            </a:pPr>
            <a: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3575304"/>
            <a:ext cx="3474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13161D"/>
                </a:solidFill>
              </a:defRPr>
            </a:pPr>
            <a:r>
              <a:t>Описать практикумы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66360" y="3602736"/>
            <a:ext cx="61264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5F6673"/>
                </a:solidFill>
              </a:defRPr>
            </a:pPr>
            <a:r>
              <a:t>E2E, загрузка, визуализация, пайплайн, CVAT, метрики, инциденты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508760" y="4032504"/>
            <a:ext cx="9784080" cy="12700"/>
          </a:xfrm>
          <a:prstGeom prst="rect">
            <a:avLst/>
          </a:prstGeom>
          <a:solidFill>
            <a:srgbClr val="DDDA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2960" y="4233672"/>
            <a:ext cx="594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224EF2"/>
                </a:solidFill>
              </a:defRPr>
            </a:pPr>
            <a: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4233672"/>
            <a:ext cx="3474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13161D"/>
                </a:solidFill>
              </a:defRPr>
            </a:pPr>
            <a:r>
              <a:t>Подготовить задания по ролям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66360" y="4261104"/>
            <a:ext cx="61264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5F6673"/>
                </a:solidFill>
              </a:defRPr>
            </a:pPr>
            <a:r>
              <a:t>full-stack и ML-инженер, критерии ревью и приёмки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508760" y="4690872"/>
            <a:ext cx="9784080" cy="12700"/>
          </a:xfrm>
          <a:prstGeom prst="rect">
            <a:avLst/>
          </a:prstGeom>
          <a:solidFill>
            <a:srgbClr val="DDDA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2960" y="4892040"/>
            <a:ext cx="594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224EF2"/>
                </a:solidFill>
              </a:defRPr>
            </a:pPr>
            <a: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08760" y="4892040"/>
            <a:ext cx="3474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13161D"/>
                </a:solidFill>
              </a:defRPr>
            </a:pPr>
            <a:r>
              <a:t>Запустить неделю 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66360" y="4919472"/>
            <a:ext cx="61264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5F6673"/>
                </a:solidFill>
              </a:defRPr>
            </a:pPr>
            <a:r>
              <a:t>демо полного сценария на коровах и первый разбор пути пакета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508760" y="5349240"/>
            <a:ext cx="9784080" cy="12700"/>
          </a:xfrm>
          <a:prstGeom prst="rect">
            <a:avLst/>
          </a:prstGeom>
          <a:solidFill>
            <a:srgbClr val="DDDA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94360" y="6492240"/>
            <a:ext cx="4114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B6B8B2"/>
                </a:solidFill>
              </a:defRPr>
            </a:pPr>
            <a:r>
              <a:t>Epoch8 · обучение Korovas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09960" y="6492240"/>
            <a:ext cx="6400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B6B8B2"/>
                </a:solidFill>
              </a:defRPr>
            </a:pPr>
            <a:r>
              <a:t>07/07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482</Words>
  <Application>Microsoft Office PowerPoint</Application>
  <PresentationFormat>Широкоэкранный</PresentationFormat>
  <Paragraphs>120</Paragraphs>
  <Slides>7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/>
  <cp:keywords/>
  <dc:description>generated using python-pptx</dc:description>
  <cp:lastModifiedBy>Сметанин Артём Алексеевич</cp:lastModifiedBy>
  <cp:revision>2</cp:revision>
  <dcterms:created xsi:type="dcterms:W3CDTF">2013-01-27T09:14:16Z</dcterms:created>
  <dcterms:modified xsi:type="dcterms:W3CDTF">2026-07-06T14:28:03Z</dcterms:modified>
  <cp:category/>
</cp:coreProperties>
</file>